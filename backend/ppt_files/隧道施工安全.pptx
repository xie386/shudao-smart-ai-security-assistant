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 type="screen16x9"/>
  <p:notesSz cx="6858000" cy="9144000"/>
  <p:embeddedFontLst>
    <p:embeddedFont>
      <p:font charset="-122" panose="020B0200000000000000" pitchFamily="34" typeface="Noto Sans SC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jpe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Relationship Id="rId5" Target="../media/image3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2091017" y="1160398"/>
            <a:ext cx="7783830" cy="2841729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true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隧道施工安全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eyJfdGVtcGxhdGVEYXRhIjp7ImNvbnRlbnRUeXBlIjoiJHRpdGxlIiwibGluZUNvdW50IjoiMiIsIndvcmRDb3VudCI6IjgifSwidGFnIjoiJHRpdGxlIn0=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450648" y="4517204"/>
            <a:ext cx="2235156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eyJfdGVtcGxhdGVEYXRhIjp7ImNvbnRlbnRUeXBlIjoiJERhdGUiLCJsaW5lQ291bnQiOiIxIiwid29yZENvdW50IjoiNyJ9LCJ0YWciOiJub0VkaXQifQ==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eyJtZCI6Iumap+mBk+aWveW3peWuieWFqCIsInRwbGlkIjoiMTAyMzIyIiwidHBsTmFtZSI6InRpdGxlXzEwMjMyMiIsImVkaXRlZCI6ImZhbHNlIn0=</bd:templateData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0154" r="58103" t="3081" b="1871"/>
          <a:stretch>
            <a:fillRect/>
          </a:stretch>
        </p:blipFill>
        <p:spPr>
          <a:xfrm rot="5400000" flipV="true">
            <a:off x="2667001" y="-2667000"/>
            <a:ext cx="6857999" cy="1219199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97854" y="1420503"/>
            <a:ext cx="6026631" cy="481805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rmAutofit/>
          </a:bodyPr>
          <a:lstStyle/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一、隧道施工安全形势与风险特点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二、开挖与支护作业安全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三、通风防尘与有害气体防治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四、施工用电与机械设备安全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五、结语与安全寄语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eyJfdGVtcGxhdGVEYXRhIjp7ImNvbnRlbnRUeXBlIjoiJHRpdGxlIiwibGluZUNvdW50IjoiOSIsIndvcmRDb3VudCI6IjE4In0sInRhZyI6IiRjYXRhIn0=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759765" y="2892742"/>
            <a:ext cx="2375062" cy="10725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47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5LiA44CB6Zqn6YGT5pa95bel5a6J5YWo5b2i5Yq/5LiO6aOO6Zmp54m554K5XG7kuozjgIHlvIDmjJbkuI7mlK/miqTkvZzkuJrlronlhahcbuS4ieOAgemAmumjjumYsuWwmOS4juacieWus+awlOS9k+mYsuayu1xu5Zub44CB5pa95bel55So55S15LiO5py65qKw6K6+5aSH5a6J5YWoXG7kupTjgIHnu5Por63kuI7lronlhajlr4Tor60iLCJ0cGxpZCI6IjEwMjMyMiIsInRwbE5hbWUiOiJjYXRhbG9ndWVfMTAyMzIyIiwiZWRpdGVkIjoiZmFsc2UifQ==</bd:templateData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一、隧道施工安全形势与风险特点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eyJtZCI6IiMjIOS4gOOAgemap+mBk+aWveW3peWuieWFqOW9ouWKv+S4jumjjumZqeeJueeCuSIsInRwbGlkIjoiMTAyMzIyIiwidHBsTmFtZSI6ImgydGl0bGVfMTAyMzIyIiwiZWRpdGVkIjoiZmFsc2UifQ==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空间受限、环境复杂，作业风险高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27721" r="27721"/>
          <a:stretch>
            <a:fillRect/>
          </a:stretch>
        </p:blipFill>
        <p:spPr>
          <a:xfrm rot="0" flipH="false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7298" b="7298"/>
          <a:stretch>
            <a:fillRect/>
          </a:stretch>
        </p:blipFill>
        <p:spPr>
          <a:xfrm rot="0" flipH="false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地质条件多变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隧道施工常面临岩溶、断层、软弱夹层等复杂地质，围岩稳定性差易引发塌方，需动态调整支护参数以应对突发地质变化。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交叉作业密集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开挖、支护、运输等工序同步进行，机械与人员动线交织，需严格划分作业区域并设置安全警示标识。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通风照明受限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狭长封闭空间内空气流通不畅，有害气体积聚风险高，同时照明不足易导致误操作，需配备强制通风系统和防爆照明设备。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puumXtOWPl+mZkOOAgeeOr+Wig+Wkjeadgu+8jOS9nOS4mumjjumZqemrmFxuIyMjIOWcsOi0qOadoeS7tuWkmuWPmFxu6Zqn6YGT5pa95bel5bi46Z2i5Li05bKp5rq244CB5pat5bGC44CB6L2v5byx5aS55bGC562J5aSN5p2C5Zyw6LSo77yM5Zu05bKp56iz5a6a5oCn5beu5piT5byV5Y+R5aGM5pa577yM6ZyA5Yqo5oCB6LCD5pW05pSv5oqk5Y+C5pWw5Lul5bqU5a+556qB5Y+R5Zyw6LSo5Y+Y5YyW44CCXG4jIyMg6YCa6aOO54Wn5piO5Y+X6ZmQXG7ni63plb/lsIHpl63nqbrpl7TlhoXnqbrmsJTmtYHpgJrkuI3nlYXvvIzmnInlrrPmsJTkvZPnp6/ogZrpo47pmanpq5jvvIzlkIzml7bnhafmmI7kuI3otrPmmJPlr7zoh7Tor6/mk43kvZzvvIzpnIDphY3lpIflvLrliLbpgJrpo47ns7vnu5/lkozpmLLniIbnhafmmI7orr7lpIfjgIJcbiMjIyDkuqTlj4nkvZzkuJrlr4bpm4ZcbuW8gOaMluOAgeaUr+aKpOOAgei/kOi+k+etieW3peW6j+WQjOatpei/m+ihjO+8jOacuuaisOS4juS6uuWRmOWKqOe6v+S6pOe7h++8jOmcgOS4peagvOWIkuWIhuS9nOS4muWMuuWfn+W5tuiuvue9ruWuieWFqOitpuekuuagh+ivhuOAgiIsInRwbGlkIjoiMTAyMzIyIiwidHBsTmFtZSI6Imxpc3QzXzIwMjUwNzAxMDIiLCJlZGl0ZWQiOiJmYWxzZSJ9</bd:templateData>
    </p:ext>
  </p:extLs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34909" y="1907184"/>
            <a:ext cx="3648075" cy="47775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坍塌事故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034635" y="1906360"/>
            <a:ext cx="3648075" cy="47940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涌水突泥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34909" y="2402205"/>
            <a:ext cx="3648075" cy="143773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多因超前支护不足或围岩应力释放失控导致，典型表现为掌子面失稳、拱顶掉块，需加强超前地质预报和初期支护质量控制。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eyJfdGVtcGxhdGVEYXRhIjp7ImNvbnRlbnRUeXBlIjoiJGl0ZW0xX2MiLCJsaW5lQ291bnQiOiI0Iiwid29yZENvdW50IjoiMTYifSwidGFnIjoiJGl0ZW0xX2MifQ==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034635" y="2402205"/>
            <a:ext cx="3648075" cy="138980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富水地层中高压地下水冲破隔水层，可能瞬间淹没设备，需采用帷幕注浆或降水井提前疏干，并配备应急排水系统。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eyJfdGVtcGxhdGVEYXRhIjp7ImNvbnRlbnRUeXBlIjoiJGl0ZW0yX2MiLCJsaW5lQ291bnQiOiI0Iiwid29yZENvdW50IjoiMTYifSwidGFnIjoiJGl0ZW0yX2MifQ==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主要事故类型：坍塌、涌水、瓦斯爆炸、机械伤害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534909" y="4442458"/>
            <a:ext cx="3648075" cy="47775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瓦斯爆炸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534909" y="4964243"/>
            <a:ext cx="3648075" cy="1422216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含煤地层或有机物分解产生的甲烷遇明火引发爆炸，需实施24小时瓦斯监测并禁用非防爆电器。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eyJfdGVtcGxhdGVEYXRhIjp7ImNvbnRlbnRUeXBlIjoiJGl0ZW0zX2MiLCJsaW5lQ291bnQiOiI0Iiwid29yZENvdW50IjoiMTYifSwidGFnIjoiJGl0ZW0zX2MifQ==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8034635" y="4441633"/>
            <a:ext cx="3648075" cy="47940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机械伤害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8034635" y="4964243"/>
            <a:ext cx="3648075" cy="1422216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盾构机、凿岩台车等重型设备运转时易发生挤压碰撞，需规范操作流程并设置紧急制动装置。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eyJfdGVtcGxhdGVEYXRhIjp7ImNvbnRlbnRUeXBlIjoiJGl0ZW00X2MiLCJsaW5lQ291bnQiOiI0Iiwid29yZENvdW50IjoiMTYifSwidGFnIjoiJGl0ZW00X2MifQ==</bd:templateData>
          </p:ext>
        </p:extLst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5566" r="5566"/>
          <a:stretch>
            <a:fillRect/>
          </a:stretch>
        </p:blipFill>
        <p:spPr>
          <a:xfrm rot="0">
            <a:off x="4471754" y="1456718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4471754" y="4003244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eyJfdGVtcGxhdGVEYXRhIjp7ImNvbnRlbnRUeXBlIjoiJGltZzEiLCJuZWVkUmVwbGFjZSI6dHJ1ZSwidHlwZSI6ImltYWdlIn0sInRhZyI6IiRpbWcxIn0=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u+imgeS6i+aVheexu+Wei++8muWdjeWhjOOAgea2jOawtOOAgeeTpuaWr+eIhueCuOOAgeacuuaisOS8pOWus1xuIyMjIOWdjeWhjOS6i+aVhVxu5aSa5Zug6LaF5YmN5pSv5oqk5LiN6Laz5oiW5Zu05bKp5bqU5Yqb6YeK5pS+5aSx5o6n5a+86Ie077yM5YW45Z6L6KGo546w5Li65o6M5a2Q6Z2i5aSx56iz44CB5oux6aG25o6J5Z2X77yM6ZyA5Yqg5by66LaF5YmN5Zyw6LSo6aKE5oql5ZKM5Yid5pyf5pSv5oqk6LSo6YeP5o6n5Yi244CCXG4jIyMg5raM5rC056qB5rOlXG7lr4zmsLTlnLDlsYLkuK3pq5jljovlnLDkuIvmsLTlhrLnoLTpmpTmsLTlsYLvvIzlj6/og73nnqzpl7Tmt7nmsqHorr7lpIfvvIzpnIDph4fnlKjluLfluZXms6jmtYbmiJbpmY3msLTkupXmj5DliY3nlo/lubLvvIzlubbphY3lpIflupTmgKXmjpLmsLTns7vnu5/jgIJcbiMjIyDnk6bmlq/niIbngrhcbuWQq+eFpOWcsOWxguaIluacieacuueJqeWIhuino+S6p+eUn+eahOeUsueDt+mBh+aYjueBq+W8leWPkeeIhueCuO+8jOmcgOWunuaWvTI05bCP5pe255Om5pav55uR5rWL5bm256aB55So6Z2e6Ziy54iG55S15Zmo44CCXG4jIyMg5py65qKw5Lyk5a6zXG7nm77mnoTmnLrjgIHlh7/lsqnlj7DovabnrYnph43lnovorr7lpIfov5Dovazml7bmmJPlj5HnlJ/mjKTljovnorDmkp7vvIzpnIDop4TojIPmk43kvZzmtYHnqIvlubborr7nva7ntKfmgKXliLbliqjoo4Xnva7jgIIiLCJ0cGxpZCI6IjEwMjMyMiIsInRwbE5hbWUiOiJsaXN0NF91bmkzMiIsImVkaXRlZCI6ImZhbHNlIn0=</bd:templateData>
    </p:ext>
  </p:extLs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>
            <a:off x="1932775" y="2705388"/>
            <a:ext cx="8347303" cy="7202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事故多发环节：开挖、支护、衬砌、通风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0" r="0" t="18280" b="18280"/>
          <a:stretch>
            <a:fillRect/>
          </a:stretch>
        </p:blipFill>
        <p:spPr>
          <a:xfrm rot="0" flipH="false">
            <a:off x="4932833" y="1657350"/>
            <a:ext cx="2178836" cy="2072379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692545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开挖阶段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eyJfdGVtcGxhdGVEYXRhIjp7ImNvbnRlbnRUeXBlIjoiJGl0ZW0xX3RpdGxlIiwibGluZUNvdW50IjoiMSIsIndvcmRDb3VudCI6IjUifSwidGFnIjoiJGl0ZW0xX3RpdGxlIn0=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291584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钢拱架安装偏差或喷射混凝土厚度不足会降低支护效果，需采用三维扫描技术实时校验支护质量。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eyJfdGVtcGxhdGVEYXRhIjp7ImNvbnRlbnRUeXBlIjoiJGl0ZW0yX2MiLCJsaW5lQ291bnQiOiI2Iiwid29yZENvdW50IjoiOSJ9LCJ0YWciOiIkaXRlbTJfYyJ9</bd:templateData>
          </p:ext>
        </p:extLst>
      </p:sp>
      <p:grpSp>
        <p:nvGrpSpPr>
          <p:cNvPr name="Group 7" id="7"/>
          <p:cNvGrpSpPr/>
          <p:nvPr/>
        </p:nvGrpSpPr>
        <p:grpSpPr>
          <a:xfrm rot="0">
            <a:off x="1155269" y="2318932"/>
            <a:ext cx="749215" cy="749215"/>
            <a:chOff x="1155269" y="2318932"/>
            <a:chExt cx="749215" cy="749215"/>
          </a:xfrm>
        </p:grpSpPr>
        <p:sp>
          <p:nvSpPr>
            <p:cNvPr name="AutoShape 8" id="8"/>
            <p:cNvSpPr/>
            <p:nvPr/>
          </p:nvSpPr>
          <p:spPr>
            <a:xfrm rot="0">
              <a:off x="1155269" y="2318932"/>
              <a:ext cx="749215" cy="74921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Freeform 9" id="9"/>
            <p:cNvSpPr/>
            <p:nvPr/>
          </p:nvSpPr>
          <p:spPr>
            <a:xfrm rot="0">
              <a:off x="1363126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name="AutoShape 10" id="10"/>
          <p:cNvSpPr/>
          <p:nvPr/>
        </p:nvSpPr>
        <p:spPr>
          <a:xfrm rot="0">
            <a:off x="3027614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支护作业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eyJfdGVtcGxhdGVEYXRhIjp7ImNvbnRlbnRUeXBlIjoiJGl0ZW0yX3RpdGxlIiwibGluZUNvdW50IjoiMSIsIndvcmRDb3VudCI6IjUifSwidGFnIjoiJGl0ZW0yX3RpdGxlIn0=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7419285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衬砌施工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eyJfdGVtcGxhdGVEYXRhIjp7ImNvbnRlbnRUeXBlIjoiJGl0ZW0zX3RpdGxlIiwibGluZUNvdW50IjoiMSIsIndvcmRDb3VudCI6IjUifSwidGFnIjoiJGl0ZW0zX3RpdGxlIn0=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9817354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通风管理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eyJfdGVtcGxhdGVEYXRhIjp7ImNvbnRlbnRUeXBlIjoiJGl0ZW00X3RpdGxlIiwibGluZUNvdW50IjoiMSIsIndvcmRDb3VudCI6IjUifSwidGFnIjoiJGl0ZW00X3RpdGxlIn0=</bd:templateData>
          </p:ext>
        </p:extLst>
      </p:sp>
      <p:grpSp>
        <p:nvGrpSpPr>
          <p:cNvPr name="Group 13" id="13"/>
          <p:cNvGrpSpPr/>
          <p:nvPr/>
        </p:nvGrpSpPr>
        <p:grpSpPr>
          <a:xfrm rot="0">
            <a:off x="3471288" y="2318932"/>
            <a:ext cx="749215" cy="749215"/>
            <a:chOff x="3471288" y="2318932"/>
            <a:chExt cx="749215" cy="749215"/>
          </a:xfrm>
        </p:grpSpPr>
        <p:sp>
          <p:nvSpPr>
            <p:cNvPr name="AutoShape 14" id="14"/>
            <p:cNvSpPr/>
            <p:nvPr/>
          </p:nvSpPr>
          <p:spPr>
            <a:xfrm rot="0">
              <a:off x="3471288" y="2318932"/>
              <a:ext cx="749215" cy="749215"/>
            </a:xfrm>
            <a:prstGeom prst="ellipse">
              <a:avLst/>
            </a:prstGeom>
            <a:solidFill>
              <a:schemeClr val="accent2">
                <a:alpha val="100000"/>
                <a:lumMod val="50000"/>
              </a:schemeClr>
            </a:solidFill>
            <a:ln/>
          </p:spPr>
        </p:sp>
        <p:sp>
          <p:nvSpPr>
            <p:cNvPr name="Freeform 15" id="15"/>
            <p:cNvSpPr/>
            <p:nvPr/>
          </p:nvSpPr>
          <p:spPr>
            <a:xfrm rot="0">
              <a:off x="3679145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name="Group 16" id="16"/>
          <p:cNvGrpSpPr/>
          <p:nvPr/>
        </p:nvGrpSpPr>
        <p:grpSpPr>
          <a:xfrm rot="0">
            <a:off x="7882008" y="2318932"/>
            <a:ext cx="749215" cy="749215"/>
            <a:chOff x="7882008" y="2318932"/>
            <a:chExt cx="749215" cy="749215"/>
          </a:xfrm>
        </p:grpSpPr>
        <p:sp>
          <p:nvSpPr>
            <p:cNvPr name="AutoShape 17" id="17"/>
            <p:cNvSpPr/>
            <p:nvPr/>
          </p:nvSpPr>
          <p:spPr>
            <a:xfrm rot="0">
              <a:off x="7882008" y="2318932"/>
              <a:ext cx="749215" cy="749215"/>
            </a:xfrm>
            <a:prstGeom prst="ellipse">
              <a:avLst/>
            </a:prstGeom>
            <a:solidFill>
              <a:schemeClr val="accent3">
                <a:alpha val="100000"/>
                <a:lumMod val="75000"/>
              </a:schemeClr>
            </a:solidFill>
            <a:ln/>
          </p:spPr>
        </p:sp>
        <p:sp>
          <p:nvSpPr>
            <p:cNvPr name="Freeform 18" id="18"/>
            <p:cNvSpPr/>
            <p:nvPr/>
          </p:nvSpPr>
          <p:spPr>
            <a:xfrm rot="0">
              <a:off x="8089866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0078" y="2318932"/>
            <a:ext cx="749215" cy="749215"/>
            <a:chOff x="10280078" y="2318932"/>
            <a:chExt cx="749215" cy="749215"/>
          </a:xfrm>
        </p:grpSpPr>
        <p:sp>
          <p:nvSpPr>
            <p:cNvPr name="AutoShape 20" id="20"/>
            <p:cNvSpPr/>
            <p:nvPr/>
          </p:nvSpPr>
          <p:spPr>
            <a:xfrm rot="0">
              <a:off x="10280078" y="2318932"/>
              <a:ext cx="749215" cy="749215"/>
            </a:xfrm>
            <a:prstGeom prst="ellipse">
              <a:avLst/>
            </a:prstGeom>
            <a:solidFill>
              <a:schemeClr val="accent4">
                <a:alpha val="100000"/>
              </a:schemeClr>
            </a:solidFill>
            <a:ln/>
          </p:spPr>
        </p:sp>
        <p:sp>
          <p:nvSpPr>
            <p:cNvPr name="Freeform 21" id="21"/>
            <p:cNvSpPr/>
            <p:nvPr/>
          </p:nvSpPr>
          <p:spPr>
            <a:xfrm rot="0">
              <a:off x="10487935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name="TextBox 22" id="22"/>
          <p:cNvSpPr txBox="true"/>
          <p:nvPr/>
        </p:nvSpPr>
        <p:spPr>
          <a:xfrm rot="0">
            <a:off x="580777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爆破参数不当或机械开挖超挖易引发围岩松动，需严格控制循环进尺并采用光面爆破技术减少扰动。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eyJfdGVtcGxhdGVEYXRhIjp7ImNvbnRlbnRUeXBlIjoiJGl0ZW0xX2MiLCJsaW5lQ291bnQiOiI2Iiwid29yZENvdW50IjoiOSJ9LCJ0YWciOiIkaXRlbTFfYyJ9</bd:templateData>
          </p:ext>
        </p:extLst>
      </p:sp>
      <p:sp>
        <p:nvSpPr>
          <p:cNvPr name="TextBox 23" id="23"/>
          <p:cNvSpPr txBox="true"/>
          <p:nvPr/>
        </p:nvSpPr>
        <p:spPr>
          <a:xfrm rot="0">
            <a:off x="730751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二衬背后空洞或防水板破损将导致结构渗漏，需采用预埋注浆管进行回填注浆并实施雷达检测。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eyJfdGVtcGxhdGVEYXRhIjp7ImNvbnRlbnRUeXBlIjoiJGl0ZW0zX2MiLCJsaW5lQ291bnQiOiI2Iiwid29yZENvdW50IjoiOSJ9LCJ0YWciOiIkaXRlbTNfYyJ9</bd:templateData>
          </p:ext>
        </p:extLst>
      </p:sp>
      <p:sp>
        <p:nvSpPr>
          <p:cNvPr name="TextBox 24" id="24"/>
          <p:cNvSpPr txBox="true"/>
          <p:nvPr/>
        </p:nvSpPr>
        <p:spPr>
          <a:xfrm rot="0">
            <a:off x="970558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风管布置不合理可能形成通风死角，需定期测定风速及有害气体浓度，优化风筒悬挂位置。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eyJfdGVtcGxhdGVEYXRhIjp7ImNvbnRlbnRUeXBlIjoiJGl0ZW00X2MiLCJsaW5lQ291bnQiOiI2Iiwid29yZENvdW50IjoiOSJ9LCJ0YWciOiIkaXRlbTRfYyJ9</bd:templateData>
          </p:ext>
        </p:extLst>
      </p:sp>
      <p:sp>
        <p:nvSpPr>
          <p:cNvPr name="AutoShape 25" id="25"/>
          <p:cNvSpPr/>
          <p:nvPr/>
        </p:nvSpPr>
        <p:spPr>
          <a:xfrm rot="0">
            <a:off x="1921495" y="2686338"/>
            <a:ext cx="8425779" cy="19050"/>
          </a:xfrm>
          <a:prstGeom prst="rect">
            <a:avLst/>
          </a:prstGeom>
          <a:noFill/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WkmuWPkeeOr+iKgu+8muW8gOaMluOAgeaUr+aKpOOAgeihrOegjOOAgemAmumjjlxuIyMjIOW8gOaMlumYtuautVxu54iG56C05Y+C5pWw5LiN5b2T5oiW5py65qKw5byA5oyW6LaF5oyW5piT5byV5Y+R5Zu05bKp5p2+5Yqo77yM6ZyA5Lil5qC85o6n5Yi25b6q546v6L+b5bC65bm26YeH55So5YWJ6Z2i54iG56C05oqA5pyv5YeP5bCR5omw5Yqo44CCXG4jIyMg5pSv5oqk5L2c5LiaXG7pkqLmi7Hmnrblronoo4XlgY/lt67miJbllrflsITmt7flh53lnJ/ljprluqbkuI3otrPkvJrpmY3kvY7mlK/miqTmlYjmnpzvvIzpnIDph4fnlKjkuInnu7Tmiavmj4/mioDmnK/lrp7ml7bmoKHpqozmlK/miqTotKjph4/jgIJcbiMjIyDooaznoIzmlr3lt6VcbuS6jOihrOiDjOWQjuepuua0nuaIlumYsuawtOadv+egtOaNn+WwhuWvvOiHtOe7k+aehOa4l+a8j++8jOmcgOmHh+eUqOmihOWfi+azqOa1hueuoei/m+ihjOWbnuWhq+azqOa1huW5tuWunuaWvembt+i+vuajgOa1i+OAglxuIyMjIOmAmumjjueuoeeQhlxu6aOO566h5biD572u5LiN5ZCI55CG5Y+v6IO95b2i5oiQ6YCa6aOO5q276KeS77yM6ZyA5a6a5pyf5rWL5a6a6aOO6YCf5Y+K5pyJ5a6z5rCU5L2T5rWT5bqm77yM5LyY5YyW6aOO562S5oKs5oyC5L2N572u44CCIiwidHBsaWQiOiIxMDIzMjIiLCJ0cGxOYW1lIjoibGlzdDRfMjAyNTA2MjYwNyIsImVkaXRlZCI6ImZhbHNlIn0=</bd:templateData>
    </p:ext>
  </p:extLs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>
            <a:off x="1814025" y="5579096"/>
            <a:ext cx="697687" cy="2137774"/>
          </a:xfrm>
          <a:prstGeom prst="rect">
            <a:avLst/>
          </a:pr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安全管理核心：预防为主，全员参与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-2700000">
            <a:off x="2019321" y="3882644"/>
            <a:ext cx="626997" cy="2627071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-8100000">
            <a:off x="1594778" y="2750495"/>
            <a:ext cx="628708" cy="2147183"/>
          </a:xfrm>
          <a:prstGeom prst="rect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-2700000">
            <a:off x="1260408" y="1258835"/>
            <a:ext cx="1304099" cy="2608199"/>
          </a:xfrm>
          <a:prstGeom prst="upArrow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7" id="7"/>
          <p:cNvSpPr/>
          <p:nvPr/>
        </p:nvSpPr>
        <p:spPr>
          <a:xfrm rot="0">
            <a:off x="4150917" y="3294657"/>
            <a:ext cx="331639" cy="331639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h="304800" w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h="304800" w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8" id="8"/>
          <p:cNvSpPr/>
          <p:nvPr/>
        </p:nvSpPr>
        <p:spPr>
          <a:xfrm rot="0">
            <a:off x="4150917" y="4583219"/>
            <a:ext cx="371698" cy="371698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9" id="9"/>
          <p:cNvSpPr/>
          <p:nvPr/>
        </p:nvSpPr>
        <p:spPr>
          <a:xfrm rot="0">
            <a:off x="4150917" y="1915644"/>
            <a:ext cx="331639" cy="331639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644102" y="3550938"/>
            <a:ext cx="6379601" cy="897818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明确各级人员安全职责，从项目经理到一线工人均需接受安全培训并通过考核，形成“人人管安全”的文化。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eyJfdGVtcGxhdGVEYXRhIjp7ImNvbnRlbnRUeXBlIjoiJGl0ZW0yX2MiLCJsaW5lQ291bnQiOiIzIiwid29yZENvdW50IjoiMzUifSwidGFnIjoiJGl0ZW0yX2MifQ==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644102" y="2190975"/>
            <a:ext cx="6379601" cy="98058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建立动态风险评估机制，定期开展地质超前预报和隐患排查，确保施工前识别潜在危险源。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eyJfdGVtcGxhdGVEYXRhIjp7ImNvbnRlbnRUeXBlIjoiJGl0ZW0xX2MiLCJsaW5lQ291bnQiOiIzIiwid29yZENvdW50IjoiMzQifSwidGFnIjoiJGl0ZW0xX2MifQ==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44102" y="4879559"/>
            <a:ext cx="6379601" cy="90216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定期组织坍塌、透水等专项应急演练，提升团队协同处置能力，确保突发事件响应及时有效。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eyJfdGVtcGxhdGVEYXRhIjp7ImNvbnRlbnRUeXBlIjoiJGl0ZW0zX2MiLCJsaW5lQ291bnQiOiIzIiwid29yZENvdW50IjoiMzUifSwidGFnIjoiJGl0ZW0zX2MifQ==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755597" y="1792546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风险预控体系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4755597" y="3171559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全员安全责任制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4755597" y="4515430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应急演练常态化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euoeeQhuaguOW/g++8mumihOmYsuS4uuS4u++8jOWFqOWRmOWPguS4jlxuIyMjIOmjjumZqemihOaOp+S9k+ezu1xu5bu656uL5Yqo5oCB6aOO6Zmp6K+E5Lyw5py65Yi277yM5a6a5pyf5byA5bGV5Zyw6LSo6LaF5YmN6aKE5oql5ZKM6ZqQ5oKj5o6S5p+l77yM56Gu5L+d5pa95bel5YmN6K+G5Yir5r2c5Zyo5Y2x6Zmp5rqQ44CCICBcbiMjIyDlhajlkZjlronlhajotKPku7vliLZcbuaYjuehruWQhOe6p+S6uuWRmOWuieWFqOiBjOi0o++8jOS7jumhueebrue7j+eQhuWIsOS4gOe6v+W3peS6uuWdh+mcgOaOpeWPl+WuieWFqOWfueiureW5tumAmui/h+iAg+aguO+8jOW9ouaIkOKAnOS6uuS6uueuoeWuieWFqOKAneeahOaWh+WMluOAgiAgXG4jIyMg5bqU5oCl5ryU57uD5bi45oCB5YyWXG7lrprmnJ/nu4Tnu4flnY3loYzjgIHpgI/msLTnrYnkuJPpobnlupTmgKXmvJTnu4PvvIzmj5DljYflm6LpmJ/ljY/lkIzlpITnva7og73lipvvvIznoa7kv53nqoHlj5Hkuovku7blk43lupTlj4rml7bmnInmlYjjgIIiLCJ0cGxpZCI6IjEwMjMyMiIsInRwbE5hbWUiOiJsaXN0M18yMDI1MDcwMzE4IiwiZWRpdGVkIjoiZmFsc2UifQ==</bd:templateData>
    </p:ext>
  </p:extLs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二、开挖与支护作业安全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eyJtZCI6IiMjIOS6jOOAgeW8gOaMluS4juaUr+aKpOS9nOS4muWuieWFqCIsInRwbGlkIjoiMTAyMzIyIiwidHBsTmFtZSI6ImgydGl0bGVfMTAyMzIyIiwiZWRpdGVkIjoiZmFsc2UifQ==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6525" r="16525" t="0" b="0"/>
          <a:stretch>
            <a:fillRect/>
          </a:stretch>
        </p:blipFill>
        <p:spPr>
          <a:xfrm rot="0"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742971" y="2306715"/>
            <a:ext cx="3314231" cy="64799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火工品全流程监管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8059848" y="1716027"/>
            <a:ext cx="3794740" cy="1968111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爆破前需设置三级警戒区（200m/100m/50m），安排专人清场并检查盲炮；采用声光报警、旗语等多重信号系统，确保所有人员撤离至安全距离后方可起爆。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eyJfdGVtcGxhdGVEYXRhIjp7ImNvbnRlbnRUeXBlIjoiJGl0ZW0yX2MiLCJsaW5lQ291bnQiOiI2Iiwid29yZENvdW50IjoiMTkifSwidGFnIjoiJGl0ZW0yX2MifQ==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059848" y="1097369"/>
            <a:ext cx="3314231" cy="62295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96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标准化爆破警戒程序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8059848" y="4019931"/>
            <a:ext cx="3314231" cy="547835"/>
          </a:xfrm>
          <a:prstGeom prst="rect">
            <a:avLst/>
          </a:prstGeom>
          <a:ln/>
        </p:spPr>
        <p:txBody>
          <a:bodyPr anchor="b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爆破后安全检查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8059848" y="4565142"/>
            <a:ext cx="3794740" cy="1995832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爆破后必须通风15分钟以上，由爆破员、安全员共同检查工作面，确认无盲炮、顶板稳定后，方可解除警戒并记录爆破效果。发现哑炮时应按"原孔平行钻孔"原则处理，严禁直接掏挖。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eyJfdGVtcGxhdGVEYXRhIjp7ImNvbnRlbnRUeXBlIjoiJGl0ZW0zX2MiLCJsaW5lQ291bnQiOiI2Iiwid29yZENvdW50IjoiMTkifSwidGFnIjoiJGl0ZW0zX2MifQ==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01071" y="2954711"/>
            <a:ext cx="3656131" cy="2115960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从采购、运输到储存、领用、使用及退库实行闭环管理，严格执行"双人双锁、账物相符"制度，确保爆破器材不流失、不误用。炸药与雷管必须分库存放，运输时采用专用防爆车辆并保持安全间距。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eyJfdGVtcGxhdGVEYXRhIjp7ImNvbnRlbnRUeXBlIjoiJGl0ZW0xX2MiLCJsaW5lQ291bnQiOiI3Iiwid29yZENvdW50IjoiMTgifSwidGFnIjoiJGl0ZW0xX2MifQ==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钻爆作业严控火工品管理与警戒程序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Su+eIhuS9nOS4muS4peaOp+eBq+W3peWTgeeuoeeQhuS4juitpuaIkueoi+W6j1xuIyMjIOeBq+W3peWTgeWFqOa1geeoi+ebkeeuoVxu5LuO6YeH6LSt44CB6L+Q6L6T5Yiw5YKo5a2Y44CB6aKG55So44CB5L2/55So5Y+K6YCA5bqT5a6e6KGM6Zet546v566h55CG77yM5Lil5qC85omn6KGMXCLlj4zkurrlj4zplIHjgIHotKbniannm7jnrKZcIuWItuW6pu+8jOehruS/neeIhuegtOWZqOadkOS4jea1geWkseOAgeS4jeivr+eUqOOAgueCuOiNr+S4jumbt+euoeW/hemhu+WIhuW6k+WtmOaUvu+8jOi/kOi+k+aXtumHh+eUqOS4k+eUqOmYsueIhui9pui+huW5tuS/neaMgeWuieWFqOmXtOi3neOAglxuIyMjIOagh+WHhuWMlueIhuegtOitpuaIkueoi+W6j1xu54iG56C05YmN6ZyA6K6+572u5LiJ57qn6K2m5oiS5Yy677yIMjAwbS8xMDBtLzUwbe+8ie+8jOWuieaOkuS4k+S6uua4heWcuuW5tuajgOafpeebsueCru+8m+mHh+eUqOWjsOWFieaKpeitpuOAgeaXl+ivreetieWkmumHjeS/oeWPt+ezu+e7n++8jOehruS/neaJgOacieS6uuWRmOaSpOemu+iHs+WuieWFqOi3neemu+WQjuaWueWPr+i1t+eIhuOAglxuIyMjIOeIhuegtOWQjuWuieWFqOajgOafpVxu54iG56C05ZCO5b+F6aG76YCa6aOOMTXliIbpkp/ku6XkuIrvvIznlLHniIbnoLTlkZjjgIHlronlhajlkZjlhbHlkIzmo4Dmn6Xlt6XkvZzpnaLvvIznoa7orqTml6Dnm7Lngq7jgIHpobbmnb/nqLPlrprlkI7vvIzmlrnlj6/op6PpmaTorabmiJLlubborrDlvZXniIbnoLTmlYjmnpzjgILlj5HnjrDlk5Hngq7ml7blupTmjIlcIuWOn+WtlOW5s+ihjOmSu+WtlFwi5Y6f5YiZ5aSE55CG77yM5Lil56aB55u05o6l5o6P5oyW44CCIiwidHBsaWQiOiIxMDIzMjIiLCJ0cGxOYW1lIjoibGlzdDNfSW1nMTYiLCJlZGl0ZWQiOiJmYWxzZSJ9</bd:templateData>
    </p:ext>
  </p:extLst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125" y="2110894"/>
            <a:ext cx="3696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采用"定人、定机、定参数"管理，确保锚杆长度、间距、角度符合设计，注浆饱满度达90%以上。Ⅳ级围岩段应在爆破后2小时内完成初喷，12小时内完成系统锚杆安装。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eyJfdGVtcGxhdGVEYXRhIjp7ImNvbnRlbnRUeXBlIjoiJGl0ZW0xX2MiLCJsaW5lQ291bnQiOiI1Iiwid29yZENvdW50IjoiMTcifSwidGFnIjoiJGl0ZW0xX2MifQ==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07698" y="1650147"/>
            <a:ext cx="3679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锚杆施工质量控制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63125" y="4426629"/>
            <a:ext cx="3724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采用湿喷工艺，分层喷射厚度不超过10cm，终凝后强度检测频率每20延米一组。喷射前需埋设厚度标志筋，喷射后采用探针检测平均厚度不小于设计值。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eyJfdGVtcGxhdGVEYXRhIjp7ImNvbnRlbnRUeXBlIjoiJGl0ZW0zX2MiLCJsaW5lQ291bnQiOiI1Iiwid29yZENvdW50IjoiMTcifSwidGFnIjoiJGl0ZW0zX2MifQ==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579698" y="3965882"/>
            <a:ext cx="3707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喷射混凝土工艺控制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7913397" y="2110894"/>
            <a:ext cx="3636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拱架基脚必须落在坚实基岩上，间距误差不超过±5cm，连接钢板螺栓紧固率100%。每榀拱架安装后需采用"三点挂线法"检测垂直度，偏差超过2%必须调整。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eyJfdGVtcGxhdGVEYXRhIjp7ImNvbnRlbnRUeXBlIjoiJGl0ZW0yX2MiLCJsaW5lQ291bnQiOiI1Iiwid29yZENvdW50IjoiMTcifSwidGFnIjoiJGl0ZW0yX2MifQ==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913397" y="1650147"/>
            <a:ext cx="3653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钢拱架标准化架设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7913397" y="4426629"/>
            <a:ext cx="3608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建立"班组自检、技术复检、监理终检"三级验收制度，重点检查支护结构与围岩密贴度、钢筋网搭接长度（≥30cm）等关键指标，留存影像验收资料。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eyJfdGVtcGxhdGVEYXRhIjp7ImNvbnRlbnRUeXBlIjoiJGl0ZW00X2MiLCJsaW5lQ291bnQiOiI1Iiwid29yZENvdW50IjoiMTYifSwidGFnIjoiJGl0ZW00X2MifQ==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7913397" y="3965882"/>
            <a:ext cx="3625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支护结构联合验收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初期支护及时到位，规范锚喷与钢拱架架设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11" id="11"/>
          <p:cNvSpPr/>
          <p:nvPr/>
        </p:nvSpPr>
        <p:spPr>
          <a:xfrm rot="0">
            <a:off x="5298153" y="3104315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2" id="12"/>
          <p:cNvSpPr/>
          <p:nvPr/>
        </p:nvSpPr>
        <p:spPr>
          <a:xfrm rot="0">
            <a:off x="4434792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3" id="13"/>
          <p:cNvSpPr/>
          <p:nvPr/>
        </p:nvSpPr>
        <p:spPr>
          <a:xfrm rot="0">
            <a:off x="6159720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4" id="14"/>
          <p:cNvSpPr/>
          <p:nvPr/>
        </p:nvSpPr>
        <p:spPr>
          <a:xfrm rot="0">
            <a:off x="6159720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5" id="15"/>
          <p:cNvSpPr/>
          <p:nvPr/>
        </p:nvSpPr>
        <p:spPr>
          <a:xfrm rot="0">
            <a:off x="4434792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4808721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6533649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4808721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6533649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5811147" y="3680132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9753600" w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rgbClr val="FFFFF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Ineacn+aUr+aKpOWPiuaXtuWIsOS9je+8jOinhOiMg+mUmuWWt+S4jumSouaLseaetuaetuiuvlxuIyMjIOmUmuadhuaWveW3pei0qOmHj+aOp+WItlxu6YeH55SoXCLlrprkurrjgIHlrprmnLrjgIHlrprlj4LmlbBcIueuoeeQhu+8jOehruS/nemUmuadhumVv+W6puOAgemXtOi3neOAgeinkuW6puespuWQiOiuvuiuoe+8jOazqOa1humlsea7oeW6pui+vjkwJeS7peS4iuOAguKFo+e6p+WbtOWyqeauteW6lOWcqOeIhuegtOWQjjLlsI/ml7blhoXlrozmiJDliJ3llrfvvIwxMuWwj+aXtuWGheWujOaIkOezu+e7n+mUmuadhuWuieijheOAglxuIyMjIOmSouaLseaetuagh+WHhuWMluaetuiuvlxu5oux5p625Z+66ISa5b+F6aG76JC95Zyo5Z2a5a6e5Z+65bKp5LiK77yM6Ze06Led6K+v5beu5LiN6LaF6L+HwrE1Y23vvIzov57mjqXpkqLmnb/onrrmoJPntKflm7rnjocxMDAl44CC5q+P5qaA5oux5p625a6J6KOF5ZCO6ZyA6YeH55SoXCLkuInngrnmjILnur/ms5VcIuajgOa1i+WeguebtOW6pu+8jOWBj+W3rui2hei/hzIl5b+F6aG76LCD5pW044CCXG4jIyMg5Za35bCE5re35Yed5Zyf5bel6Im65o6n5Yi2XG7ph4fnlKjmub/llrflt6XoibrvvIzliIblsYLllrflsITljprluqbkuI3otoXov4cxMGNt77yM57uI5Yed5ZCO5by65bqm5qOA5rWL6aKR546H5q+PMjDlu7bnsbPkuIDnu4TjgILllrflsITliY3pnIDln4vorr7ljprluqbmoIflv5fnrYvvvIzllrflsITlkI7ph4fnlKjmjqLpkojmo4DmtYvlubPlnYfljprluqbkuI3lsI/kuo7orr7orqHlgLzjgIJcbiMjIyDmlK/miqTnu5PmnoTogZTlkIjpqozmlLZcbuW7uueri1wi54+t57uE6Ieq5qOA44CB5oqA5pyv5aSN5qOA44CB55uR55CG57uI5qOAXCLkuInnuqfpqozmlLbliLbluqbvvIzph43ngrnmo4Dmn6XmlK/miqTnu5PmnoTkuI7lm7Tlsqnlr4botLTluqbjgIHpkqLnrYvnvZHmkK3mjqXplb/luqbvvIjiiaUzMGNt77yJ562J5YWz6ZSu5oyH5qCH77yM55WZ5a2Y5b2x5YOP6aqM5pS26LWE5paZ44CCIiwidHBsaWQiOiIxMDIzMjIiLCJ0cGxOYW1lIjoibGlzdDRfa20yNDAzMTIwMyIsImVkaXRlZCI6ImZhbHNlIn0=</bd:templateData>
    </p:ext>
  </p:extLst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强化监控量测与超前地质预报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grpSp>
        <p:nvGrpSpPr>
          <p:cNvPr name="Group 3" id="3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name="AutoShape 4" id="4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AutoShape 5" id="5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AutoShape 6" id="6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name="Connector 7" id="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3857" r="3857"/>
          <a:stretch>
            <a:fillRect/>
          </a:stretch>
        </p:blipFill>
        <p:spPr>
          <a:xfrm rot="0">
            <a:off x="7956089" y="1232979"/>
            <a:ext cx="3367088" cy="242286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>
            <a:off x="7956089" y="3856585"/>
            <a:ext cx="3367088" cy="242286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TextBox 10" id="10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自动化监测系统布设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4762018"/>
            <a:ext cx="4414526" cy="62484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量测数据闭环管理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3025846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地质雷达超前探测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1815305"/>
            <a:ext cx="6136741" cy="1203960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在断层带、浅埋段等高风险区域安装收敛计、应力计、测斜仪等设备，数据采集频率在开挖面通过后3天内每天2次，7天后每天1次直至稳定。累计位移超过预警值（通常为允许值70%）时启动应急预案。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eyJfdGVtcGxhdGVEYXRhIjp7ImNvbnRlbnRUeXBlIjoiJGl0ZW0xX2MiLCJsaW5lQ291bnQiOiIzIiwid29yZENvdW50IjoiMzAifSwidGFnIjoiJGl0ZW0xX2MifQ==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3554425"/>
            <a:ext cx="6124470" cy="1152525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每循环开挖前采用TSP203或地质雷达进行30m超前预报，探孔布设间距在断层破碎带加密至5m。发现富水区或软弱夹层时，立即调整开挖方案并采用帷幕注浆等预加固措施。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eyJfdGVtcGxhdGVEYXRhIjp7ImNvbnRlbnRUeXBlIjoiJGl0ZW0yX2MiLCJsaW5lQ291bnQiOiIzIiwid29yZENvdW50IjoiMzAifSwidGFnIjoiJGl0ZW0yX2MifQ==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5293419"/>
            <a:ext cx="6112200" cy="1152525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建立"采集-分析-反馈-调整"机制，每日由专业工程师分析收敛速率、拱顶下沉等数据，当变形速率连续3天超过2mm/d时，必须暂停开挖并采取补强支护措施。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eyJfdGVtcGxhdGVEYXRhIjp7ImNvbnRlbnRUeXBlIjoiJGl0ZW0zX2MiLCJsaW5lQ291bnQiOiIzIiwid29yZENvdW50IjoiMzAifSwidGFnIjoiJGl0ZW0zX2MifQ==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8uuWMluebkeaOp+mHj+a1i+S4jui2heWJjeWcsOi0qOmihOaKpVxuIyMjIOiHquWKqOWMluebkea1i+ezu+e7n+W4g+iuvlxu5Zyo5pat5bGC5bim44CB5rWF5Z+L5q61562J6auY6aOO6Zmp5Yy65Z+f5a6J6KOF5pS25pWb6K6h44CB5bqU5Yqb6K6h44CB5rWL5pac5Luq562J6K6+5aSH77yM5pWw5o2u6YeH6ZuG6aKR546H5Zyo5byA5oyW6Z2i6YCa6L+H5ZCOM+WkqeWGheavj+WkqTLmrKHvvIw35aSp5ZCO5q+P5aSpMeasoeebtOiHs+eos+WumuOAgue0r+iuoeS9jeenu+i2hei/h+mihOitpuWAvO+8iOmAmuW4uOS4uuWFgeiuuOWAvDcwJe+8ieaXtuWQr+WKqOW6lOaApemihOahiOOAglxuIyMjIOWcsOi0qOmbt+i+vui2heWJjeaOoua1i1xu5q+P5b6q546v5byA5oyW5YmN6YeH55SoVFNQMjAz5oiW5Zyw6LSo6Zu36L6+6L+b6KGMMzBt6LaF5YmN6aKE5oql77yM5o6i5a2U5biD6K6+6Ze06Led5Zyo5pat5bGC56C056KO5bim5Yqg5a+G6IezNW3jgILlj5HnjrDlr4zmsLTljLrmiJbova/lvLHlpLnlsYLml7bvvIznq4vljbPosIPmlbTlvIDmjJbmlrnmoYjlubbph4fnlKjluLfluZXms6jmtYbnrYnpooTliqDlm7rmjqrmlr3jgIJcbiMjIyDph4/mtYvmlbDmja7pl63njq/nrqHnkIZcbuW7uueri1wi6YeH6ZuGLeWIhuaekC3lj43ppogt6LCD5pW0XCLmnLrliLbvvIzmr4/ml6XnlLHkuJPkuJrlt6XnqIvluIjliIbmnpDmlLbmlZvpgJ/njofjgIHmi7HpobbkuIvmsonnrYnmlbDmja7vvIzlvZPlj5jlvaLpgJ/njofov57nu60z5aSp6LaF6L+HMm1tL2Tml7bvvIzlv4XpobvmmoLlgZzlvIDmjJblubbph4flj5booaXlvLrmlK/miqTmjqrmlr3jgIIiLCJ0cGxpZCI6IjEwMjMyMiIsInRwbE5hbWUiOiJsaXN0M19zYW1lU3R5bGUycGljMiIsImVkaXRlZCI6ImZhbHNlIn0=</bd:templateData>
    </p:ext>
  </p:extLst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分步开挖、及时封闭，预防坍塌事故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6675" r="16675"/>
          <a:stretch>
            <a:fillRect/>
          </a:stretch>
        </p:blipFill>
        <p:spPr>
          <a:xfrm rot="0"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Freeform 4" id="4"/>
          <p:cNvSpPr/>
          <p:nvPr/>
        </p:nvSpPr>
        <p:spPr>
          <a:xfrm rot="0">
            <a:off x="4509171" y="1790522"/>
            <a:ext cx="583851" cy="3533966"/>
          </a:xfrm>
          <a:custGeom>
            <a:avLst/>
            <a:gdLst/>
            <a:ahLst/>
            <a:cxnLst/>
            <a:rect r="r" b="b" t="t" l="l"/>
            <a:pathLst>
              <a:path h="3533966" w="583851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5347614" y="506720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应急抢险物资储备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452715" y="5573201"/>
            <a:ext cx="5194466" cy="96479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在洞口设置应急物资库，常备型钢支撑、快速水泥、沙袋等抢险物资，并定期检查维护。发生局部坍塌时，应先喷射混凝土封闭暴露面，再采用小导管注浆加固。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347614" y="3298365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临时支撑拆除时序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452715" y="3804364"/>
            <a:ext cx="5194466" cy="106127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仰拱闭合前严禁拆除临时支撑，拆除时应遵循"先支后拆、对称拆除"原则，每次拆除长度不超过2榀拱架间距，拆除后立即施作永久支护。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eyJfdGVtcGxhdGVEYXRhIjp7ImNvbnRlbnRUeXBlIjoiJGl0ZW0yX2MiLCJsaW5lQ291bnQiOiI0Iiwid29yZENvdW50IjoiMjgifSwidGFnIjoiJGl0ZW0yX2MifQ==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5347614" y="155656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CD/CRD工法控制要点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452715" y="2062560"/>
            <a:ext cx="5194466" cy="105794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采用分步开挖时，中隔壁台阶长度不超过5m，相邻导洞开挖面错距≥15m。每个分部开挖后8小时内完成该段支护，仰拱与掌子面距离在Ⅳ级围岩中不超过30m。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IhuatpeW8gOaMluOAgeWPiuaXtuWwgemXre+8jOmihOmYsuWdjeWhjOS6i+aVhVxuIyMjIENEL0NSROW3peazleaOp+WItuimgeeCuVxu6YeH55So5YiG5q2l5byA5oyW5pe277yM5Lit6ZqU5aOB5Y+w6Zi26ZW/5bqm5LiN6LaF6L+HNW3vvIznm7jpgrvlr7zmtJ7lvIDmjJbpnaLplJnot53iiaUxNW3jgILmr4/kuKrliIbpg6jlvIDmjJblkI445bCP5pe25YaF5a6M5oiQ6K+l5q615pSv5oqk77yM5Luw5oux5LiO5o6M5a2Q6Z2i6Led56a75Zyo4oWj57qn5Zu05bKp5Lit5LiN6LaF6L+HMzBt44CCXG4jIyMg5Li05pe25pSv5pKR5ouG6Zmk5pe25bqPXG7ku7Dmi7Hpl63lkIjliY3kuKXnpoHmi4bpmaTkuLTml7bmlK/mkpHvvIzmi4bpmaTml7blupTpgbXlvqpcIuWFiOaUr+WQjuaLhuOAgeWvueensOaLhumZpFwi5Y6f5YiZ77yM5q+P5qyh5ouG6Zmk6ZW/5bqm5LiN6LaF6L+HMuamgOaLseaetumXtOi3ne+8jOaLhumZpOWQjueri+WNs+aWveS9nOawuOS5heaUr+aKpOOAglxuIyMjIOW6lOaApeaKoumZqeeJqei1hOWCqOWkh1xu5Zyo5rSe5Y+j6K6+572u5bqU5oCl54mp6LWE5bqT77yM5bi45aSH5Z6L6ZKi5pSv5pKR44CB5b+r6YCf5rC05rOl44CB5rKZ6KKL562J5oqi6Zmp54mp6LWE77yM5bm25a6a5pyf5qOA5p+l57u05oqk44CC5Y+R55Sf5bGA6YOo5Z2N5aGM5pe277yM5bqU5YWI5Za35bCE5re35Yed5Zyf5bCB6Zet5pq06Zyy6Z2i77yM5YaN6YeH55So5bCP5a+8566h5rOo5rWG5Yqg5Zu644CCIiwidHBsaWQiOiIxMDIzMjIiLCJ0cGxOYW1lIjoibGlzdDNfMjAyNTA2MjYwOSIsImVkaXRlZCI6ImZhbHNlIn0=</bd:templateData>
    </p:ext>
  </p:extLs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三、通风防尘与有害气体防治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eyJtZCI6IiMjIOS4ieOAgemAmumjjumYsuWwmOS4juacieWus+awlOS9k+mYsuayuyIsInRwbGlkIjoiMTAyMzIyIiwidHBsTmFtZSI6ImgydGl0bGVfMTAyMzIyIiwiZWRpdGVkIjoiZmFsc2UifQ==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通风系统按需供风，定期维护设备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145518" y="1368625"/>
            <a:ext cx="9900511" cy="4391356"/>
          </a:xfrm>
          <a:prstGeom prst="roundRect">
            <a:avLst>
              <a:gd fmla="val 6364" name="adj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861021" y="1599594"/>
            <a:ext cx="2967836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应急备用系统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861021" y="2092152"/>
            <a:ext cx="2967836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配备双电源或备用通风机组，确保主通风系统故障时能立即切换，维持隧道内空气流通，防止有害气体积聚。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eyJfdGVtcGxhdGVEYXRhIjp7ImNvbnRlbnRUeXBlIjoiJGl0ZW0zX2MiLCJsaW5lQ291bnQiOiI1Iiwid29yZENvdW50IjoiMTUifSwidGFnIjoiJGl0ZW0zX2MifQ==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8089903" y="3872142"/>
            <a:ext cx="2510071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AutoShape 10" id="10"/>
          <p:cNvSpPr/>
          <p:nvPr/>
        </p:nvSpPr>
        <p:spPr>
          <a:xfrm rot="0"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619178" y="1616124"/>
            <a:ext cx="2913571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设备维护与检查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19178" y="2108682"/>
            <a:ext cx="2913571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定期对通风机、风管及连接部件进行维护，重点检查风机轴承润滑状态、风管破损漏风情况，并清理积尘以保证通风效率。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eyJfdGVtcGxhdGVEYXRhIjp7ImNvbnRlbnRUeXBlIjoiJGl0ZW0yX2MiLCJsaW5lQ291bnQiOiI1Iiwid29yZENvdW50IjoiMTUifSwidGFnIjoiJGl0ZW0yX2MifQ==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8229" b="8229"/>
          <a:stretch>
            <a:fillRect/>
          </a:stretch>
        </p:blipFill>
        <p:spPr>
          <a:xfrm rot="0" flipH="false">
            <a:off x="4806514" y="3896014"/>
            <a:ext cx="2726235" cy="148465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15" id="15"/>
          <p:cNvSpPr/>
          <p:nvPr/>
        </p:nvSpPr>
        <p:spPr>
          <a:xfrm rot="0"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7" id="17"/>
          <p:cNvSpPr/>
          <p:nvPr/>
        </p:nvSpPr>
        <p:spPr>
          <a:xfrm rot="0">
            <a:off x="5972877" y="5366195"/>
            <a:ext cx="393511" cy="39351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9165292" y="5094559"/>
            <a:ext cx="359293" cy="35929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h="304800" w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h="304800" w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378393" y="1632654"/>
            <a:ext cx="2955042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风量计算与分配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1471799" y="2125212"/>
            <a:ext cx="2768229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通风系统需根据隧道断面面积、作业人数及施工阶段精确计算风量，确保每人每分钟供给新鲜空气不低于3m³，同时合理分配风管布局以避免通风死角。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eyJfdGVtcGxhdGVEYXRhIjp7ImNvbnRlbnRUeXBlIjoiJGl0ZW0xX2MiLCJsaW5lQ291bnQiOiI1Iiwid29yZENvdW50IjoiMTQifSwidGFnIjoiJGl0ZW0xX2MifQ==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11315" b="11315"/>
          <a:stretch>
            <a:fillRect/>
          </a:stretch>
        </p:blipFill>
        <p:spPr>
          <a:xfrm rot="0" flipH="false">
            <a:off x="1617020" y="3905202"/>
            <a:ext cx="2458663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23" id="23"/>
          <p:cNvSpPr/>
          <p:nvPr/>
        </p:nvSpPr>
        <p:spPr>
          <a:xfrm rot="0"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5" id="25"/>
          <p:cNvSpPr/>
          <p:nvPr/>
        </p:nvSpPr>
        <p:spPr>
          <a:xfrm rot="0">
            <a:off x="2582871" y="5053309"/>
            <a:ext cx="526963" cy="52696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Amumjjuezu+e7n+aMiemcgOS+m+mjju+8jOWumuacn+e7tOaKpOiuvuWkh1xuIyMjIOmjjumHj+iuoeeul+S4juWIhumFjVxu6YCa6aOO57O757uf6ZyA5qC55o2u6Zqn6YGT5pat6Z2i6Z2i56ev44CB5L2c5Lia5Lq65pWw5Y+K5pa95bel6Zi25q6157K+56Gu6K6h566X6aOO6YeP77yM56Gu5L+d5q+P5Lq65q+P5YiG6ZKf5L6b57uZ5paw6bKc56m65rCU5LiN5L2O5LqOM23Cs++8jOWQjOaXtuWQiOeQhuWIhumFjemjjueuoeW4g+WxgOS7pemBv+WFjemAmumjjuatu+inkuOAglxuIyMjIOiuvuWkh+e7tOaKpOS4juajgOafpVxu5a6a5pyf5a+56YCa6aOO5py644CB6aOO566h5Y+K6L+e5o6l6YOo5Lu26L+b6KGM57u05oqk77yM6YeN54K55qOA5p+l6aOO5py66L205om/5ram5ruR54q25oCB44CB6aOO566h56C05o2f5ryP6aOO5oOF5Ya177yM5bm25riF55CG56ev5bCY5Lul5L+d6K+B6YCa6aOO5pWI546H44CCXG4jIyMg5bqU5oCl5aSH55So57O757ufXG7phY3lpIflj4znlLXmupDmiJblpIfnlKjpgJrpo47mnLrnu4TvvIznoa7kv53kuLvpgJrpo47ns7vnu5/mlYXpmpzml7bog73nq4vljbPliIfmjaLvvIznu7TmjIHpmqfpgZPlhoXnqbrmsJTmtYHpgJrvvIzpmLLmraLmnInlrrPmsJTkvZPnp6/ogZrjgIIiLCJ0cGxpZCI6IjEwMjMyMiIsInRwbE5hbWUiOiJsaXN0M18yMDI1MDcwMTA3IiwiZWRpdGVkIjoiZmFsc2UifQ==</bd:templateData>
    </p:ext>
  </p:extLs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489734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650433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4489734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50433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8293144" y="1482730"/>
            <a:ext cx="3422379" cy="4563172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sp>
        <p:nvSpPr>
          <p:cNvPr name="TextBox 7" id="7"/>
          <p:cNvSpPr txBox="true"/>
          <p:nvPr/>
        </p:nvSpPr>
        <p:spPr>
          <a:xfrm rot="0">
            <a:off x="570176" y="2177640"/>
            <a:ext cx="3433799" cy="1765443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采用中心供水或旁侧供水方式，将压力水通过凿岩机注入钻孔，湿润岩粉形成泥浆排出，除尘效率可达90%以上，严禁干式凿岩作业。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409477" y="2177640"/>
            <a:ext cx="3433799" cy="1765443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在爆破后及出渣阶段，采用高压喷雾装置对渣堆分层洒水，并在隧道顶部设置旋转喷雾器，使水雾覆盖全断面以吸附悬浮粉尘。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570176" y="4795955"/>
            <a:ext cx="3433799" cy="1648894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凿岩、喷浆等高风险作业人员必须佩戴KN95级防尘口罩，并配备防噪耳塞、护目镜等，定期更换滤芯以确保防护效果。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407114" y="4795955"/>
            <a:ext cx="3438525" cy="1648894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结合机械通风与湿式作业，建立粉尘浓度监测点，每班记录数据，超标时立即停工整改并强化降尘措施。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湿式凿岩、喷雾降尘，佩戴防尘口罩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38067" y="1502085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湿式凿岩技术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4677367" y="1502085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分层喷雾降尘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38067" y="4105052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个人防护装备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677367" y="4105052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综合防尘管理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5v+W8j+WHv+WyqeOAgeWWt+mbvumZjeWwmO+8jOS9qeaItOmYsuWwmOWPo+e9qVxuIyMjIOa5v+W8j+WHv+WyqeaKgOacr1xu6YeH55So5Lit5b+D5L6b5rC05oiW5peB5L6n5L6b5rC05pa55byP77yM5bCG5Y6L5Yqb5rC06YCa6L+H5Ye/5bKp5py65rOo5YWl6ZK75a2U77yM5rm/5ram5bKp57KJ5b2i5oiQ5rOl5rWG5o6S5Ye677yM6Zmk5bCY5pWI546H5Y+v6L6+OTAl5Lul5LiK77yM5Lil56aB5bmy5byP5Ye/5bKp5L2c5Lia44CCXG4jIyMg5YiG5bGC5Za36Zu+6ZmN5bCYXG7lnKjniIbnoLTlkI7lj4rlh7rmuKPpmLbmrrXvvIzph4fnlKjpq5jljovllrfpm77oo4Xnva7lr7nmuKPloIbliIblsYLmtJLmsLTvvIzlubblnKjpmqfpgZPpobbpg6jorr7nva7ml4vovazllrfpm77lmajvvIzkvb/msLTpm77opobnm5blhajmlq3pnaLku6XlkLjpmYTmgqzmta7nsonlsJjjgIJcbiMjIyDkuKrkurrpmLLmiqToo4XlpIdcbuWHv+WyqeOAgeWWt+a1huetiemrmOmjjumZqeS9nOS4muS6uuWRmOW/hemhu+S9qeaItEtOOTXnuqfpmLLlsJjlj6PnvanvvIzlubbphY3lpIfpmLLlmarogLPloZ7jgIHmiqTnm67plZznrYnvvIzlrprmnJ/mm7TmjaLmu6Toiq/ku6Xnoa7kv53pmLLmiqTmlYjmnpzjgIJcbiMjIyDnu7zlkIjpmLLlsJjnrqHnkIZcbue7k+WQiOacuuaisOmAmumjjuS4jua5v+W8j+S9nOS4mu+8jOW7uueri+eyieWwmOa1k+W6puebkea1i+eCue+8jOavj+ePreiusOW9leaVsOaNru+8jOi2heagh+aXtueri+WNs+WBnOW3peaVtOaUueW5tuW8uuWMlumZjeWwmOaOquaWveOAgiIsInRwbGlkIjoiMTAyMzIyIiwidHBsTmFtZSI6Imxpc3Q0X0ltZzEiLCJlZGl0ZWQiOiJmYWxzZSJ9</bd:templateData>
    </p:ext>
  </p:extLst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915035" y="4715149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4918415" y="3060483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4" id="4"/>
          <p:cNvSpPr/>
          <p:nvPr/>
        </p:nvSpPr>
        <p:spPr>
          <a:xfrm rot="0">
            <a:off x="3999788" y="1823026"/>
            <a:ext cx="891411" cy="3949143"/>
          </a:xfrm>
          <a:custGeom>
            <a:avLst/>
            <a:gdLst/>
            <a:ahLst/>
            <a:cxnLst/>
            <a:rect r="r" b="b" t="t" l="l"/>
            <a:pathLst>
              <a:path h="3949143" w="891411">
                <a:moveTo>
                  <a:pt x="891411" y="0"/>
                </a:moveTo>
                <a:quadBezTo>
                  <a:pt x="445706" y="0"/>
                  <a:pt x="445706" y="394914"/>
                </a:quadBezTo>
                <a:lnTo>
                  <a:pt x="445706" y="1579657"/>
                </a:lnTo>
                <a:quadBezTo>
                  <a:pt x="445706" y="1974572"/>
                  <a:pt x="0" y="1974572"/>
                </a:quadBezTo>
                <a:quadBezTo>
                  <a:pt x="445706" y="1974572"/>
                  <a:pt x="445706" y="2369486"/>
                </a:quadBezTo>
                <a:lnTo>
                  <a:pt x="445706" y="3554229"/>
                </a:lnTo>
                <a:quadBezTo>
                  <a:pt x="445706" y="3949143"/>
                  <a:pt x="891411" y="3949143"/>
                </a:quadBezTo>
              </a:path>
            </a:pathLst>
          </a:custGeom>
          <a:noFill/>
          <a:ln w="127000">
            <a:gradFill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62000">
                  <a:schemeClr val="accent1">
                    <a:alpha val="20000"/>
                  </a:schemeClr>
                </a:gs>
                <a:gs pos="100000">
                  <a:schemeClr val="accent1">
                    <a:alpha val="20000"/>
                    <a:lumMod val="40000"/>
                    <a:lumOff val="60000"/>
                  </a:schemeClr>
                </a:gs>
              </a:gsLst>
              <a:lin ang="108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实时监测瓦斯等有害气体，自动报警断电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29525" y="2300544"/>
            <a:ext cx="2994106" cy="2994106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1015825" y="2486844"/>
            <a:ext cx="2621506" cy="2621506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147718" y="2618737"/>
            <a:ext cx="2357721" cy="2357721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9" id="9"/>
          <p:cNvSpPr/>
          <p:nvPr/>
        </p:nvSpPr>
        <p:spPr>
          <a:xfrm rot="0">
            <a:off x="4929622" y="1421605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5163786" y="1545356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多参数气体检测仪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135211" y="2009338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在掘进工作面、回风巷等关键位置布设传感器，实时监测CO、CH₄、NO₂等气体浓度，数据同步传输至监控中心。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eyJfdGVtcGxhdGVEYXRhIjp7ImNvbnRlbnRUeXBlIjoiJGl0ZW0xX2MiLCJsaW5lQ291bnQiOiIyIiwid29yZENvdW50IjoiMzMifSwidGFnIjoiJGl0ZW0xX2MifQ==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124004" y="3648216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当瓦斯浓度超过1%或CO浓度达30mg/m³时，系统自动触发声光报警并切断作业区域电源，强制人员撤离至安全区。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eyJfdGVtcGxhdGVEYXRhIjp7ImNvbnRlbnRUeXBlIjoiJGl0ZW0yX2MiLCJsaW5lQ291bnQiOiIyIiwid29yZENvdW50IjoiMzMifSwidGFnIjoiJGl0ZW0yX2MifQ==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120625" y="5302882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报警解除后需由专业人员携带便携式检测仪进入现场复测，确认气体浓度降至安全阈值（如CO≤24ppm）后方可恢复作业。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eyJfdGVtcGxhdGVEYXRhIjp7ImNvbnRlbnRUeXBlIjoiJGl0ZW0zX2MiLCJsaW5lQ291bnQiOiIyIiwid29yZENvdW50IjoiMzMifSwidGFnIjoiJGl0ZW0zX2MifQ==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105409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1067430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108076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7" id="17"/>
          <p:cNvSpPr/>
          <p:nvPr/>
        </p:nvSpPr>
        <p:spPr>
          <a:xfrm rot="0">
            <a:off x="105409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8" id="18"/>
          <p:cNvSpPr/>
          <p:nvPr/>
        </p:nvSpPr>
        <p:spPr>
          <a:xfrm rot="0">
            <a:off x="1067430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08076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0" id="20"/>
          <p:cNvSpPr/>
          <p:nvPr/>
        </p:nvSpPr>
        <p:spPr>
          <a:xfrm rot="0">
            <a:off x="105882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072164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2" id="22"/>
          <p:cNvSpPr/>
          <p:nvPr/>
        </p:nvSpPr>
        <p:spPr>
          <a:xfrm rot="0">
            <a:off x="108549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3" id="23"/>
          <p:cNvSpPr/>
          <p:nvPr/>
        </p:nvSpPr>
        <p:spPr>
          <a:xfrm rot="0">
            <a:off x="5163786" y="3184234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联动断电保护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5163786" y="4862072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人工复检流程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nuaXtuebkea1i+eTpuaWr+etieacieWus+awlOS9k++8jOiHquWKqOaKpeitpuaWreeUtVxuIyMjIOWkmuWPguaVsOawlOS9k+ajgOa1i+S7qlxu5Zyo5o6Y6L+b5bel5L2c6Z2i44CB5Zue6aOO5be3562J5YWz6ZSu5L2N572u5biD6K6+5Lyg5oSf5Zmo77yM5a6e5pe255uR5rWLQ0/jgIFDSOKChOOAgU5P4oKC562J5rCU5L2T5rWT5bqm77yM5pWw5o2u5ZCM5q2l5Lyg6L6T6Iez55uR5o6n5Lit5b+D44CCXG4jIyMg6IGU5Yqo5pat55S15L+d5oqkXG7lvZPnk6bmlq/mtZPluqbotoXov4cxJeaIlkNP5rWT5bqm6L6+MzBtZy9twrPml7bvvIzns7vnu5/oh6rliqjop6blj5Hlo7DlhYnmiqXorablubbliIfmlq3kvZzkuJrljLrln5/nlLXmupDvvIzlvLrliLbkurrlkZjmkqTnprvoh7PlronlhajljLrjgIJcbiMjIyDkurrlt6XlpI3mo4DmtYHnqItcbuaKpeitpuino+mZpOWQjumcgOeUseS4k+S4muS6uuWRmOaQuuW4puS+v+aQuuW8j+ajgOa1i+S7qui/m+WFpeeOsOWcuuWkjea1i++8jOehruiupOawlOS9k+a1k+W6pumZjeiHs+WuieWFqOmYiOWAvO+8iOWmgkNP4omkMjRwcG3vvInlkI7mlrnlj6/mgaLlpI3kvZzkuJrjgIIiLCJ0cGxpZCI6IjEwMjMyMiIsInRwbE5hbWUiOiJsaXN0M18yMDI1MDcwMTA2IiwiZWRpdGVkIjoiZmFsc2UifQ==</bd:templateData>
    </p:ext>
  </p:extLst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杜绝火源，使用防爆电气设备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6" id="6"/>
          <p:cNvSpPr/>
          <p:nvPr/>
        </p:nvSpPr>
        <p:spPr>
          <a:xfrm rot="0">
            <a:off x="751830" y="3591361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7" id="7"/>
          <p:cNvSpPr/>
          <p:nvPr/>
        </p:nvSpPr>
        <p:spPr>
          <a:xfrm rot="0">
            <a:off x="4307248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8" id="8"/>
          <p:cNvSpPr/>
          <p:nvPr/>
        </p:nvSpPr>
        <p:spPr>
          <a:xfrm rot="0">
            <a:off x="7884299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29106" b="29106"/>
          <a:stretch>
            <a:fillRect/>
          </a:stretch>
        </p:blipFill>
        <p:spPr>
          <a:xfrm rot="0" flipH="false"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3210" b="3210"/>
          <a:stretch>
            <a:fillRect/>
          </a:stretch>
        </p:blipFill>
        <p:spPr>
          <a:xfrm rot="0" flipH="false"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12" id="12"/>
          <p:cNvSpPr txBox="true"/>
          <p:nvPr/>
        </p:nvSpPr>
        <p:spPr>
          <a:xfrm rot="0">
            <a:off x="1074382" y="4420514"/>
            <a:ext cx="2914491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严禁明火作业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924823" y="4971031"/>
            <a:ext cx="3213608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隧道内禁止吸烟、焊接等明火作业，防止可燃气体或粉尘遇火源引发爆炸事故。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4612719" y="1571876"/>
            <a:ext cx="2954298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采用防爆电气设备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eyJfdGVtcGxhdGVEYXRhIjp7ImNvbnRlbnRUeXBlIjoiJGl0ZW0yX3RpdGxlIiwibGluZUNvdW50IjoiNCIsIndvcmRDb3VudCI6IjE1In0sInRhZyI6IiRpdGVtMl90aXRsZSJ9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467838" y="2070075"/>
            <a:ext cx="3244061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所有电气设备必须符合防爆标准，包括照明灯具、开关、电缆等，确保在易燃环境中安全运行。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8146416" y="4420514"/>
            <a:ext cx="2954412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定期检查电气线路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8021552" y="4971031"/>
            <a:ext cx="3204140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对隧道内的电气线路进行定期检查和维护，防止线路老化、短路或漏电引发火灾。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2334095" y="3665624"/>
            <a:ext cx="412521" cy="41252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9" id="19"/>
          <p:cNvSpPr/>
          <p:nvPr/>
        </p:nvSpPr>
        <p:spPr>
          <a:xfrm rot="0">
            <a:off x="5927547" y="3703953"/>
            <a:ext cx="336452" cy="336452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9494081" y="3693435"/>
            <a:ext cx="357486" cy="357486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dnOe7neeBq+a6kO+8jOS9v+eUqOmYsueIhueUteawlOiuvuWkh1xuIyMjIOS4peemgeaYjueBq+S9nOS4mlxu6Zqn6YGT5YaF56aB5q2i5ZC454Of44CB54SK5o6l562J5piO54Gr5L2c5Lia77yM6Ziy5q2i5Y+v54eD5rCU5L2T5oiW57KJ5bCY6YGH54Gr5rqQ5byV5Y+R54iG54K45LqL5pWF44CCXG4jIyMg6YeH55So6Ziy54iG55S15rCU6K6+5aSHXG7miYDmnInnlLXmsJTorr7lpIflv4XpobvnrKblkIjpmLLniIbmoIflh4bvvIzljIXmi6znhafmmI7nga/lhbfjgIHlvIDlhbPjgIHnlLXnvIbnrYnvvIznoa7kv53lnKjmmJPnh4Pnjq/looPkuK3lronlhajov5DooYzjgIJcbiMjIyDlrprmnJ/mo4Dmn6XnlLXmsJTnur/ot69cbuWvuemap+mBk+WGheeahOeUteawlOe6v+i3r+i/m+ihjOWumuacn+ajgOafpeWSjOe7tOaKpO+8jOmYsuatoue6v+i3r+iAgeWMluOAgeefrei3r+aIlua8j+eUteW8leWPkeeBq+eBvuOAgiIsInRwbGlkIjoiMTAyMzIyIiwidHBsTmFtZSI6Imxpc3QzXzIwMjUwNzAxMDkiLCJlZGl0ZWQiOiJmYWxzZSJ9</bd:templateData>
    </p:ext>
  </p:extLs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四、施工用电与机械设备安全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eyJtZCI6IiMjIOWbm+OAgeaWveW3peeUqOeUteS4juacuuaisOiuvuWkh+WuieWFqCIsInRwbGlkIjoiMTAyMzIyIiwidHBsTmFtZSI6ImgydGl0bGVfMTAyMzIyIiwiZWRpdGVkIjoiZmFsc2UifQ==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76687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21138" y="1434529"/>
            <a:ext cx="3097028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配电系统架构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20970" y="1909320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总配电箱（一级）→分配电箱（二级）→开关箱（三级）形成完整配电链，总箱与开关箱必须配置漏电保护器，分配电箱根据负荷性质选择是否增设漏电保护，确保两级保护全覆盖。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eyJfdGVtcGxhdGVEYXRhIjp7ImNvbnRlbnRUeXBlIjoiJGl0ZW0xX2MiLCJsaW5lQ291bnQiOiI3Iiwid29yZENvdW50IjoiMTQifSwidGFnIjoiJGl0ZW0xX2MifQ==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临时用电执行三级配电、两级保护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0" t="10334" b="10334"/>
          <a:stretch>
            <a:fillRect/>
          </a:stretch>
        </p:blipFill>
        <p:spPr>
          <a:xfrm rot="0">
            <a:off x="57038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7" id="7"/>
          <p:cNvSpPr/>
          <p:nvPr/>
        </p:nvSpPr>
        <p:spPr>
          <a:xfrm rot="0">
            <a:off x="4413022" y="2732446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438423" y="3162514"/>
            <a:ext cx="3123643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箱体防护标准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457306" y="3649390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配电箱采用厚度≥1.2mm冷轧钢板制作，达到IP54防护等级，箱门设防雨檐，箱内电器元件间距≥5cm；电缆进出线口设橡胶护圈，箱体接地电阻≤4Ω，潮湿环境≤2Ω。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eyJfdGVtcGxhdGVEYXRhIjp7ImNvbnRlbnRUeXBlIjoiJGl0ZW0yX2MiLCJsaW5lQ291bnQiOiI3Iiwid29yZENvdW50IjoiMTQifSwidGFnIjoiJGl0ZW0yX2MifQ==</bd:templateData>
          </p:ext>
        </p:extLst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>
            <a:off x="4406723" y="1256209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11" id="11"/>
          <p:cNvSpPr/>
          <p:nvPr/>
        </p:nvSpPr>
        <p:spPr>
          <a:xfrm rot="0">
            <a:off x="8289006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342981" y="1434529"/>
            <a:ext cx="3077021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电缆敷设要求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8333289" y="1924249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主干电缆沿隧道侧壁架空敷设（高度≥2.5m）或穿镀锌钢管埋地（深度≥0.7m），过轨段需加钢套管保护；移动设备电缆选用YC重型橡套电缆，禁止使用破损或接头裸露线缆。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eyJfdGVtcGxhdGVEYXRhIjp7ImNvbnRlbnRUeXBlIjoiJGl0ZW0zX2MiLCJsaW5lQ291bnQiOiI3Iiwid29yZENvdW50IjoiMTQifSwidGFnIjoiJGl0ZW0zX2MifQ==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100000"/>
          </a:blip>
          <a:srcRect/>
          <a:stretch>
            <a:fillRect/>
          </a:stretch>
        </p:blipFill>
        <p:spPr>
          <a:xfrm rot="0">
            <a:off x="828270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tOaXtueUqOeUteaJp+ihjOS4iee6p+mFjeeUteOAgeS4pOe6p+S/neaKpFxuIyMjIOmFjeeUteezu+e7n+aetuaehFxu5oC76YWN55S1566x77yI5LiA57qn77yJ4oaS5YiG6YWN55S1566x77yI5LqM57qn77yJ4oaS5byA5YWz566x77yI5LiJ57qn77yJ5b2i5oiQ5a6M5pW06YWN55S16ZO+77yM5oC7566x5LiO5byA5YWz566x5b+F6aG76YWN572u5ryP55S15L+d5oqk5Zmo77yM5YiG6YWN55S1566x5qC55o2u6LSf6I235oCn6LSo6YCJ5oup5piv5ZCm5aKe6K6+5ryP55S15L+d5oqk77yM56Gu5L+d5Lik57qn5L+d5oqk5YWo6KaG55uW44CCXG4jIyMg566x5L2T6Ziy5oqk5qCH5YeGXG7phY3nlLXnrrHph4fnlKjljprluqbiiaUxLjJtbeWGt+i9p+mSouadv+WItuS9nO+8jOi+vuWIsElQNTTpmLLmiqTnrYnnuqfvvIznrrHpl6jorr7pmLLpm6jmqpDvvIznrrHlhoXnlLXlmajlhYPku7bpl7Tot53iiaU1Y23vvJvnlLXnvIbov5vlh7rnur/lj6Porr7mqaHog7bmiqTlnIjvvIznrrHkvZPmjqXlnLDnlLXpmLviiaQ0zqnvvIzmva7mub/njq/looPiiaQyzqnjgIJcbiMjIyDnlLXnvIbmlbforr7opoHmsYJcbuS4u+W5sueUtee8huayv+map+mBk+S+p+WjgeaetuepuuaVt+iuvu+8iOmrmOW6puKJpTIuNW3vvInmiJbnqb/plYDplIzpkqLnrqHln4vlnLDvvIjmt7HluqbiiaUwLjdt77yJ77yM6L+H6L2o5q616ZyA5Yqg6ZKi5aWX566h5L+d5oqk77yb56e75Yqo6K6+5aSH55S157yG6YCJ55SoWUPph43lnovmqaHlpZfnlLXnvIbvvIznpoHmraLkvb/nlKjnoLTmjZ/miJbmjqXlpLToo7jpnLLnur/nvIbjgIIiLCJ0cGxpZCI6IjEwMjMyMiIsInRwbE5hbWUiOiJsaXN0M19JbWcxMCIsImVkaXRlZCI6ImZhbHNlIn0=</bd:templateData>
    </p:ext>
  </p:extLst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6279191" y="1523331"/>
            <a:ext cx="5083851" cy="487769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657248" y="1257891"/>
            <a:ext cx="5034045" cy="59892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电压等级选择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eyJfdGVtcGxhdGVEYXRhIjp7ImNvbnRlbnRUeXBlIjoiJGl0ZW0xX3RpdGxlIiwibGluZUNvdW50IjoiMSIsIndvcmRDb3VudCI6IjE4In0sInRhZyI6IiRpdGVtMV90aXRsZSJ9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57248" y="1880614"/>
            <a:ext cx="5034045" cy="1098895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掌子面、仰拱等潮湿区域采用36V安全电压照明，特别潮湿部位（如涌水段）使用12V防水LED灯带，照明变压器必须采用双绕组隔离型，严禁使用自耦变压器。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eyJfdGVtcGxhdGVEYXRhIjp7ImNvbnRlbnRUeXBlIjoiJGl0ZW0xX2MiLCJsaW5lQ291bnQiOiIzIiwid29yZENvdW50IjoiMjQifSwidGFnIjoiJGl0ZW0xX2MifQ==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657248" y="3016753"/>
            <a:ext cx="5034045" cy="558203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灯具防护措施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eyJfdGVtcGxhdGVEYXRhIjp7ImNvbnRlbnRUeXBlIjoiJGl0ZW0yX3RpdGxlIiwibGluZUNvdW50IjoiMSIsIndvcmRDb3VudCI6IjE4In0sInRhZyI6IiRpdGVtMl90aXRsZSJ9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657248" y="3593046"/>
            <a:ext cx="5034045" cy="12223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照明灯具需具备IP67防护等级，灯头带防护网罩；电缆接头采用防水接线盒并做绝缘密封处理，每班作业前检测线路绝缘电阻（≥0.5MΩ）。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eyJfdGVtcGxhdGVEYXRhIjp7ImNvbnRlbnRUeXBlIjoiJGl0ZW0yX2MiLCJsaW5lQ291bnQiOiIzIiwid29yZENvdW50IjoiMjQifSwidGFnIjoiJGl0ZW0yX2MifQ==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57248" y="4647635"/>
            <a:ext cx="5034045" cy="59892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应急照明配置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eyJfdGVtcGxhdGVEYXRhIjp7ImNvbnRlbnRUeXBlIjoiJGl0ZW0zX3RpdGxlIiwibGluZUNvdW50IjoiMSIsIndvcmRDb3VudCI6IjE4In0sInRhZyI6IiRpdGVtM190aXRsZSJ9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57248" y="5264650"/>
            <a:ext cx="5034045" cy="1192036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每隔50m设置应急照明灯，蓄电池供电时长≥90分钟；逃生通道安装自发光指示标识，照度不低于1lx，确保突发断电时人员安全撤离。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eyJfdGVtcGxhdGVEYXRhIjp7ImNvbnRlbnRUeXBlIjoiJGl0ZW0zX2MiLCJsaW5lQ291bnQiOiIzIiwid29yZENvdW50IjoiMjQifSwidGFnIjoiJGl0ZW0zX2MifQ==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潮湿作业环境采用安全电压照明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9rua5v+S9nOS4mueOr+Wig+mHh+eUqOWuieWFqOeUteWOi+eFp+aYjlxuIyMjIOeUteWOi+etiee6p+mAieaLqVxu5o6M5a2Q6Z2i44CB5Luw5oux562J5r2u5rm/5Yy65Z+f6YeH55SoMzZW5a6J5YWo55S15Y6L54Wn5piO77yM54m55Yir5r2u5rm/6YOo5L2N77yI5aaC5raM5rC05q6177yJ5L2/55SoMTJW6Ziy5rC0TEVE54Gv5bim77yM54Wn5piO5Y+Y5Y6L5Zmo5b+F6aG76YeH55So5Y+M57uV57uE6ZqU56a75Z6L77yM5Lil56aB5L2/55So6Ieq6ICm5Y+Y5Y6L5Zmo44CCXG4jIyMg54Gv5YW36Ziy5oqk5o6q5pa9XG7nhafmmI7nga/lhbfpnIDlhbflpIdJUDY36Ziy5oqk562J57qn77yM54Gv5aS05bim6Ziy5oqk572R572p77yb55S157yG5o6l5aS06YeH55So6Ziy5rC05o6l57q/55uS5bm25YGa57ud57yY5a+G5bCB5aSE55CG77yM5q+P54+t5L2c5Lia5YmN5qOA5rWL57q/6Lev57ud57yY55S16Zi777yI4omlMC41Tc6p77yJ44CCXG4jIyMg5bqU5oCl54Wn5piO6YWN572uXG7mr4/pmpQ1MG3orr7nva7lupTmgKXnhafmmI7nga/vvIzok4TnlLXmsaDkvpvnlLXml7bplb/iiaU5MOWIhumSn++8m+mAg+eUn+mAmumBk+WuieijheiHquWPkeWFieaMh+ekuuagh+ivhu+8jOeFp+W6puS4jeS9juS6jjFseO+8jOehruS/neeqgeWPkeaWreeUteaXtuS6uuWRmOWuieWFqOaSpOemu+OAgiIsInRwbGlkIjoiMTAyMzIyIiwidHBsTmFtZSI6Imxpc3QzX0ltZzI0MDEyMzAxIiwiZWRpdGVkIjoiZmFsc2UifQ==</bd:templateData>
    </p:ext>
  </p:extLst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装载机、运输车辆规范操作，严禁违章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3" id="3"/>
          <p:cNvSpPr/>
          <p:nvPr/>
        </p:nvSpPr>
        <p:spPr>
          <a:xfrm rot="0">
            <a:off x="618313" y="3277022"/>
            <a:ext cx="10954472" cy="806672"/>
          </a:xfrm>
          <a:custGeom>
            <a:avLst/>
            <a:gdLst/>
            <a:ahLst/>
            <a:cxnLst/>
            <a:rect r="r" b="b" t="t" l="l"/>
            <a:pathLst>
              <a:path h="806677" w="10302080">
                <a:moveTo>
                  <a:pt x="0" y="232726"/>
                </a:moveTo>
                <a:lnTo>
                  <a:pt x="9651270" y="232726"/>
                </a:lnTo>
                <a:lnTo>
                  <a:pt x="9651270" y="0"/>
                </a:lnTo>
                <a:lnTo>
                  <a:pt x="10302081" y="403339"/>
                </a:lnTo>
                <a:lnTo>
                  <a:pt x="9651270" y="806677"/>
                </a:lnTo>
                <a:lnTo>
                  <a:pt x="9651270" y="573951"/>
                </a:lnTo>
                <a:lnTo>
                  <a:pt x="0" y="573951"/>
                </a:lnTo>
              </a:path>
            </a:pathLst>
          </a:custGeom>
          <a:solidFill>
            <a:schemeClr val="accent2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9324347" y="3232827"/>
            <a:ext cx="901256" cy="901256"/>
          </a:xfrm>
          <a:prstGeom prst="ellipse">
            <a:avLst/>
          </a:prstGeom>
          <a:solidFill>
            <a:schemeClr val="accent6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373113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6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特殊工况处置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893147" y="3232827"/>
            <a:ext cx="901256" cy="901256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955220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5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设备状态检查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4433372" y="3232827"/>
            <a:ext cx="901256" cy="901256"/>
          </a:xfrm>
          <a:prstGeom prst="ellipse">
            <a:avLst/>
          </a:prstGeom>
          <a:solidFill>
            <a:schemeClr val="accent4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3482138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4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装载限制要求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1953634" y="3232827"/>
            <a:ext cx="901256" cy="9012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eyJfdGVtcGxhdGVEYXRhIjp7ImxpbmVDb3VudCI6IjIiLCJ3b3JkQ291bnQiOiIyIn0sInRhZyI6Im5vRWRpdCJ9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015707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3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作业区域管控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296000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遇软弱地基时铺设钢板分散载荷；爆破时段所有设备撤至警戒区外，熄火并采取防溜车措施。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eyJfdGVtcGxhdGVEYXRhIjp7ImNvbnRlbnRUeXBlIjoiJGl0ZW00X2MiLCJsaW5lQ291bnQiOiI0Iiwid29yZENvdW50IjoiMTcifSwidGFnIjoiJGl0ZW00X2MifQ==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405025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运输车辆载重不超过核定吨位80%，渣土装车高度低于车厢挡板10cm，覆盖防尘篷布；坡道运输时保持车距≥30m，禁止空挡滑行。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eyJfdGVtcGxhdGVEYXRhIjp7ImNvbnRlbnRUeXBlIjoiJGl0ZW0yX2MiLCJsaW5lQ291bnQiOiI0Iiwid29yZENvdW50IjoiMTcifSwidGFnIjoiJGl0ZW0yX2MifQ==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5878107" y="4719921"/>
            <a:ext cx="2931336" cy="116271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每日启动前检查制动系统、液压管路、轮胎磨损情况；装载机铲斗销轴每周加注润滑脂，运输车辆刹车片厚度＜5mm必须更换。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eyJfdGVtcGxhdGVEYXRhIjp7ImNvbnRlbnRUeXBlIjoiJGl0ZW0zX2MiLCJsaW5lQ291bnQiOiI0Iiwid29yZENvdW50IjoiMTcifSwidGFnIjoiJGl0ZW0zX2MifQ==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938594" y="4719921"/>
            <a:ext cx="2931336" cy="106956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装载机与运输车辆实行"人车分流"，设置专用行车道；倒车作业时配备专职指挥员，安装倒车雷达和声光报警装置，盲区半径内严禁站人。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eyJfdGVtcGxhdGVEYXRhIjp7ImNvbnRlbnRUeXBlIjoiJGl0ZW0xX2MiLCJsaW5lQ291bnQiOiI0Iiwid29yZENvdW50IjoiMTcifSwidGFnIjoiJGl0ZW0xX2MifQ==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jhei9veacuuOAgei/kOi+k+i9pui+huinhOiMg+aTjeS9nO+8jOS4peemgei/neeroFxuIyMjIOS9nOS4muWMuuWfn+euoeaOp1xu6KOF6L295py65LiO6L+Q6L6T6L2m6L6G5a6e6KGMXCLkurrovabliIbmtYFcIu+8jOiuvue9ruS4k+eUqOihjOi9pumBk++8m+WAkui9puS9nOS4muaXtumFjeWkh+S4k+iBjOaMh+aMpeWRmO+8jOWuieijheWAkui9pumbt+i+vuWSjOWjsOWFieaKpeitpuijhee9ru+8jOebsuWMuuWNiuW+hOWGheS4peemgeermeS6uuOAglxuIyMjIOijhei9vemZkOWItuimgeaxglxu6L+Q6L6T6L2m6L6G6L296YeN5LiN6LaF6L+H5qC45a6a5ZCo5L2NODAl77yM5rij5Zyf6KOF6L2m6auY5bqm5L2O5LqO6L2m5Y6i5oyh5p2/MTBjbe+8jOimhueblumYsuWwmOevt+W4g++8m+WdoemBk+i/kOi+k+aXtuS/neaMgei9pui3neKJpTMwbe+8jOemgeatouepuuaMoea7keihjOOAglxuIyMjIOiuvuWkh+eKtuaAgeajgOafpVxu5q+P5pel5ZCv5Yqo5YmN5qOA5p+l5Yi25Yqo57O757uf44CB5ray5Y6L566h6Lev44CB6L2u6IOO56Oo5o2f5oOF5Ya177yb6KOF6L295py66ZOy5paX6ZSA6L205q+P5ZGo5Yqg5rOo5ram5ruR6ISC77yM6L+Q6L6T6L2m6L6G5Yi56L2m54mH5Y6a5bqm77ycNW1t5b+F6aG75pu05o2i44CCXG4jIyMg54m55q6K5bel5Ya15aSE572uXG7pgYfova/lvLHlnLDln7rml7bpk7rorr7pkqLmnb/liIbmlaPovb3ojbfvvJvniIbnoLTml7bmrrXmiYDmnInorr7lpIfmkqToh7PorabmiJLljLrlpJbvvIznhoTngavlubbph4flj5bpmLLmupzovabmjqrmlr3jgIIiLCJ0cGxpZCI6IjEwMjMyMiIsInRwbE5hbWUiOiJsaXN0NF8yMDI1MDYyNjEyIiwiZWRpdGVkIjoiZmFsc2UifQ==</bd:templateData>
    </p:ext>
  </p:extLst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定期检查维护设备，禁止带病运行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l="26243" r="26243"/>
          <a:stretch>
            <a:fillRect/>
          </a:stretch>
        </p:blipFill>
        <p:spPr>
          <a:xfrm rot="0"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5335151" y="1339414"/>
            <a:ext cx="6203645" cy="292757"/>
          </a:xfrm>
          <a:prstGeom prst="roundRect">
            <a:avLst>
              <a:gd fmla="val 45455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维保周期控制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09373" y="1732534"/>
            <a:ext cx="4282862" cy="983867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空压机每200小时更换机油滤芯，台车液压系统每500小时检测污染度（NAS≤8级），通风机轴承每月加注高温润滑脂，建立设备健康档案。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eyJfdGVtcGxhdGVEYXRhIjp7ImNvbnRlbnRUeXBlIjoiJGl0ZW0xX2MiLCJsaW5lQ291bnQiOiIzIiwid29yZENvdW50IjoiMjIifSwidGFnIjoiJGl0ZW0xX2MifQ==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09373" y="3369312"/>
            <a:ext cx="4282862" cy="1010481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发现异常振动、异响或参数超标立即停机，悬挂"故障待修"标识；重大故障由厂家专业维修，禁止擅自拆卸安全防护装置。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eyJfdGVtcGxhdGVEYXRhIjp7ImNvbnRlbnRUeXBlIjoiJGl0ZW0yX2MiLCJsaW5lQ291bnQiOiIzIiwid29yZENvdW50IjoiMjIifSwidGFnIjoiJGl0ZW0yX2MifQ==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609373" y="5010231"/>
            <a:ext cx="4282862" cy="1156860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电焊机二次侧安装防触电保护器，每日测试灵敏度；发电机组的AVR调压模块每周检测输出电压波动（±5%以内），柴油滤清器每150小时更换。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eyJfdGVtcGxhdGVEYXRhIjp7ImNvbnRlbnRUeXBlIjoiJGl0ZW0zX2MiLCJsaW5lQ291bnQiOiIzIiwid29yZENvdW50IjoiMjIifSwidGFnIjoiJGl0ZW0zX2MifQ==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故障处理流程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关键部件监测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muacn+ajgOafpee7tOaKpOiuvuWkh++8jOemgeatouW4pueXhei/kOihjFxuIyMjIOe7tOS/neWRqOacn+aOp+WItlxu56m65Y6L5py65q+PMjAw5bCP5pe25pu05o2i5py65rK55ruk6Iqv77yM5Y+w6L2m5ray5Y6L57O757uf5q+PNTAw5bCP5pe25qOA5rWL5rGh5p+T5bqm77yITkFT4omkOOe6p++8ie+8jOmAmumjjuacuui9tOaJv+avj+aciOWKoOazqOmrmOa4qea2pua7keiEgu+8jOW7uueri+iuvuWkh+WBpeW6t+aho+ahiOOAglxuIyMjIOaVhemanOWkhOeQhua1geeoi1xu5Y+R546w5byC5bi45oyv5Yqo44CB5byC5ZON5oiW5Y+C5pWw6LaF5qCH56uL5Y2z5YGc5py677yM5oKs5oyCXCLmlYXpmpzlvoXkv65cIuagh+ivhu+8m+mHjeWkp+aVhemanOeUseWOguWutuS4k+S4mue7tOS/ru+8jOemgeatouaTheiHquaLhuWNuOWuieWFqOmYsuaKpOijhee9ruOAglxuIyMjIOWFs+mUrumDqOS7tuebkea1i1xu55S154SK5py65LqM5qyh5L6n5a6J6KOF6Ziy6Kem55S15L+d5oqk5Zmo77yM5q+P5pel5rWL6K+V54G15pWP5bqm77yb5Y+R55S15py657uE55qEQVZS6LCD5Y6L5qih5Z2X5q+P5ZGo5qOA5rWL6L6T5Ye655S15Y6L5rOi5Yqo77yIwrE1JeS7peWGhe+8ie+8jOaftOayuea7pOa4heWZqOavjzE1MOWwj+aXtuabtOaNouOAgiIsInRwbGlkIjoiMTAyMzIyIiwidHBsTmFtZSI6Imxpc3QzXzIwMjUwNzAzMTYiLCJlZGl0ZWQiOiJmYWxzZSJ9</bd:templateData>
    </p:ext>
  </p:extLst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五、结语与安全寄语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eyJtZCI6IiMjIOS6lOOAgee7k+ivreS4juWuieWFqOWvhOivrSIsInRwbGlkIjoiMTAyMzIyIiwidHBsTmFtZSI6ImgydGl0bGVfMTAyMzIyIiwiZWRpdGVkIjoiZmFsc2UifQ==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283333" y="1796843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隧道施工中任何细微的疏忽都可能引发重大事故，必须强化全员"安全第一"的理念，从管理层到一线工人均需时刻保持警惕，将安全视为不可逾越的红线。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eyJfdGVtcGxhdGVEYXRhIjp7ImNvbnRlbnRUeXBlIjoiJGl0ZW0xX2MiLCJsaW5lQ291bnQiOiIzIiwid29yZENvdW50IjoiMzcifSwidGFnIjoiJGl0ZW0xX2MifQ==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1113196" y="1262384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9176895" y="3043110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0">
            <a:off x="1113196" y="4824531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安全无小事，责任重于山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3273808" y="1404023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全员安全意识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530470" y="3566057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建立"横向到边、纵向到底"的责任体系，项目经理负总责，技术负责人把控方案安全，班组长落实每日岗前安全交底，形成"人人有责、层层负责"的安全管理网络。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eyJfdGVtcGxhdGVEYXRhIjp7ImNvbnRlbnRUeXBlIjoiJGl0ZW0yX2MiLCJsaW5lQ291bnQiOiIzIiwid29yZENvdW50IjoiMzcifSwidGFnIjoiJGl0ZW0yX2MifQ==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520945" y="3173238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责任层层压实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eyJfdGVtcGxhdGVEYXRhIjp7ImNvbnRlbnRUeXBlIjoiJGl0ZW0yX3RpdGxlIiwibGluZUNvdW50IjoiMSIsIndvcmRDb3VudCI6IjIyIn0sInRhZyI6IiRpdGVtMl90aXRsZSJ9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325984" y="5352046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对发现的隐患必须立即整改，实行"发现-记录-整改-验收"闭环管理，杜绝"带病作业"。尤其对地质异常、支护变形等高风险问题，必须停工处理直至消除风险。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eyJfdGVtcGxhdGVEYXRhIjp7ImNvbnRlbnRUeXBlIjoiJGl0ZW0zX2MiLCJsaW5lQ291bnQiOiIzIiwid29yZENvdW50IjoiMzcifSwidGFnIjoiJGl0ZW0zX2MifQ==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3316459" y="4959226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隐患零容忍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aXoOWwj+S6i++8jOi0o+S7u+mHjeS6juWxsVxuIyMjIOWFqOWRmOWuieWFqOaEj+ivhlxu6Zqn6YGT5pa95bel5Lit5Lu75L2V57uG5b6u55qE55aP5b+96YO95Y+v6IO95byV5Y+R6YeN5aSn5LqL5pWF77yM5b+F6aG75by65YyW5YWo5ZGYXCLlronlhajnrKzkuIBcIueahOeQhuW/te+8jOS7jueuoeeQhuWxguWIsOS4gOe6v+W3peS6uuWdh+mcgOaXtuWIu+S/neaMgeitpuaDle+8jOWwhuWuieWFqOinhuS4uuS4jeWPr+mAvui2iueahOe6oue6v+OAglxuIyMjIOi0o+S7u+WxguWxguWOi+Wunlxu5bu656uLXCLmqKrlkJHliLDovrnjgIHnurXlkJHliLDlupVcIueahOi0o+S7u+S9k+ezu++8jOmhueebrue7j+eQhui0n+aAu+i0o++8jOaKgOacr+i0n+i0o+S6uuaKiuaOp+aWueahiOWuieWFqO+8jOePree7hOmVv+iQveWunuavj+aXpeWyl+WJjeWuieWFqOS6pOW6le+8jOW9ouaIkFwi5Lq65Lq65pyJ6LSj44CB5bGC5bGC6LSf6LSjXCLnmoTlronlhajnrqHnkIbnvZHnu5zjgIJcbiMjIyDpmpDmgqPpm7blrrnlv41cbuWvueWPkeeOsOeahOmakOaCo+W/hemhu+eri+WNs+aVtOaUue+8jOWunuihjFwi5Y+R546wLeiusOW9lS3mlbTmlLkt6aqM5pS2XCLpl63njq/nrqHnkIbvvIzmnZznu51cIuW4pueXheS9nOS4mlwi44CC5bCk5YW25a+55Zyw6LSo5byC5bi444CB5pSv5oqk5Y+Y5b2i562J6auY6aOO6Zmp6Zeu6aKY77yM5b+F6aG75YGc5bel5aSE55CG55u06Iez5raI6Zmk6aOO6Zmp44CCIiwidHBsaWQiOiIxMDIzMjIiLCJ0cGxOYW1lIjoibGlzdDNfaW1nNSIsImVkaXRlZCI6ImZhbHNlIn0=</bd:templateData>
    </p:ext>
  </p:extLst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将安全制度落实到每一个工序、每一名员工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标准化作业流程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297192" y="1833343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针对开挖、支护、爆破等关键工序，制定图文并茂的《安全操作规程》，通过班前会、现场示范等方式确保每名作业人员掌握标准动作，严禁凭经验违规操作。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eyJfdGVtcGxhdGVEYXRhIjp7ImNvbnRlbnRUeXBlIjoiJGl0ZW0xX2MiLCJsaW5lQ291bnQiOiIyIiwid29yZENvdW50IjoiNTIifSwidGFnIjoiJGl0ZW0xX2MifQ==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name="Connector 8" id="8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AutoShape 9" id="9"/>
          <p:cNvSpPr/>
          <p:nvPr/>
        </p:nvSpPr>
        <p:spPr>
          <a:xfrm rot="0"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297192" y="2503866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动态风险管控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3028921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实施"工序安全风险评估"制度，在每道工序开工前由技术、安全、施工三方联合确认风险防控措施，如软弱围岩段必须落实超前支护和收敛监测后方可掘进。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eyJfdGVtcGxhdGVEYXRhIjp7ImNvbnRlbnRUeXBlIjoiJGl0ZW0yX2MiLCJsaW5lQ291bnQiOiIyIiwid29yZENvdW50IjoiNTIifSwidGFnIjoiJGl0ZW0yX2MifQ==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3735521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安全考核挂钩绩效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4260576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建立个人安全积分档案，将违章行为与绩效考核直接挂钩，对屡次违规者实行"再培训-考核-上岗"机制，严重者清退出场。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eyJfdGVtcGxhdGVEYXRhIjp7ImNvbnRlbnRUeXBlIjoiJGl0ZW0zX2MiLCJsaW5lQ291bnQiOiIyIiwid29yZENvdW50IjoiNTIifSwidGFnIjoiJGl0ZW0zX2MifQ==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4980154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应急能力全覆盖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5505210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定期开展塌方、涌水等专项应急演练，确保每位员工熟悉逃生路线、掌握急救器材使用，重点岗位人员必须通过心肺复苏、灭火器等实操考核。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eyJfdGVtcGxhdGVEYXRhIjp7ImNvbnRlbnRUeXBlIjoiJGl0ZW00X2MiLCJsaW5lQ291bnQiOiIyIiwid29yZENvdW50IjoiNTIifSwidGFnIjoiJGl0ZW00X2MifQ==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whuWuieWFqOWItuW6puiQveWunuWIsOavj+S4gOS4quW3peW6j+OAgeavj+S4gOWQjeWRmOW3pVxuIyMjIOagh+WHhuWMluS9nOS4mua1geeoi1xu6ZKI5a+55byA5oyW44CB5pSv5oqk44CB54iG56C0562J5YWz6ZSu5bel5bqP77yM5Yi25a6a5Zu+5paH5bm26IyC55qE44CK5a6J5YWo5pON5L2c6KeE56iL44CL77yM6YCa6L+H54+t5YmN5Lya44CB546w5Zy656S66IyD562J5pa55byP56Gu5L+d5q+P5ZCN5L2c5Lia5Lq65ZGY5o6M5o+h5qCH5YeG5Yqo5L2c77yM5Lil56aB5Yet57uP6aqM6L+d6KeE5pON5L2c44CCXG4jIyMg5Yqo5oCB6aOO6Zmp566h5o6nXG7lrp7mlr1cIuW3peW6j+WuieWFqOmjjumZqeivhOS8sFwi5Yi25bqm77yM5Zyo5q+P6YGT5bel5bqP5byA5bel5YmN55Sx5oqA5pyv44CB5a6J5YWo44CB5pa95bel5LiJ5pa56IGU5ZCI56Gu6K6k6aOO6Zmp6Ziy5o6n5o6q5pa977yM5aaC6L2v5byx5Zu05bKp5q615b+F6aG76JC95a6e6LaF5YmN5pSv5oqk5ZKM5pS25pWb55uR5rWL5ZCO5pa55Y+v5o6Y6L+b44CCXG4jIyMg5a6J5YWo6ICD5qC45oyC6ZKp57up5pWIXG7lu7rnq4vkuKrkurrlronlhajnp6/liIbmoaPmoYjvvIzlsIbov53nq6DooYzkuLrkuI7nu6nmlYjogIPmoLjnm7TmjqXmjILpkqnvvIzlr7nlsaHmrKHov53op4TogIXlrp7ooYxcIuWGjeWfueiurS3ogIPmoLgt5LiK5bKXXCLmnLrliLbvvIzkuKXph43ogIXmuIXpgIDlh7rlnLrjgIJcbiMjIyDlupTmgKXog73lipvlhajopobnm5ZcbuWumuacn+W8gOWxleWhjOaWueOAgea2jOawtOetieS4k+mhueW6lOaApea8lOe7g++8jOehruS/neavj+S9jeWRmOW3peeGn+aCiemAg+eUn+i3r+e6v+OAgeaOjOaPoeaApeaVkeWZqOadkOS9v+eUqO+8jOmHjeeCueWyl+S9jeS6uuWRmOW/hemhu+mAmui/h+W/g+iCuuWkjeiLj+OAgeeBreeBq+WZqOetieWunuaTjeiAg+aguOOAgiIsInRwbGlkIjoiMTAyMzIyIiwidHBsTmFtZSI6Imxpc3Q0X3NhbWVTdHlsZTBwaWMyIiwiZWRpdGVkIjoiZmFsc2UifQ==</bd:templateData>
    </p:ext>
  </p:extLst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726574" y="2221700"/>
            <a:ext cx="6128936" cy="6128936"/>
          </a:xfrm>
          <a:prstGeom prst="ellipse">
            <a:avLst/>
          </a:prstGeom>
          <a:solidFill>
            <a:schemeClr val="accent1">
              <a:alpha val="3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高高兴兴上班，平平安安回家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444041" y="1622245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身心状态管理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1444041" y="4727720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平安文化营造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1444041" y="2124843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实施班前酒精检测和健康问询，禁止疲劳作业。设置工地心理咨询室，帮助疏导人员心理压力，避免情绪波动导致操作失误。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eyJfdGVtcGxhdGVEYXRhIjp7ImNvbnRlbnRUeXBlIjoiJGl0ZW0xX2MiLCJsaW5lQ291bnQiOiIyIiwid29yZENvdW50IjoiMjkifSwidGFnIjoiJGl0ZW0xX2MifQ==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1002940" y="1726524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1444041" y="3155770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家庭安全联动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1444041" y="3658368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建立家属安全告知机制，定期向员工家属发送安全提示，通过"亲情嘱安全"活动形成企业-家庭双重监督体系。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eyJfdGVtcGxhdGVEYXRhIjp7ImNvbnRlbnRUeXBlIjoiJGl0ZW0yX2MiLCJsaW5lQ291bnQiOiIyIiwid29yZENvdW50IjoiMjkifSwidGFnIjoiJGl0ZW0yX2MifQ==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1002940" y="3260049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444041" y="5230317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在隧道口设置"安全天数"电子牌、员工全家福墙，开展"安全标兵"评选，用可视化手段强化"平安即幸福"的文化认同。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eyJfdGVtcGxhdGVEYXRhIjp7ImNvbnRlbnRUeXBlIjoiJGl0ZW0zX2MiLCJsaW5lQ291bnQiOiIyIiwid29yZENvdW50IjoiMjkifSwidGFnIjoiJGl0ZW0zX2MifQ==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1002940" y="4831999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10971228" y="977973"/>
            <a:ext cx="377572" cy="37757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16675" r="16675" t="0"/>
          <a:stretch>
            <a:fillRect/>
          </a:stretch>
        </p:blipFill>
        <p:spPr>
          <a:xfrm rot="0">
            <a:off x="7706602" y="1846436"/>
            <a:ext cx="4279267" cy="427926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mrmOWFtOWFtOS4iuePre+8jOW5s+W5s+WuieWuieWbnuWutlxuIyMjIOi6q+W/g+eKtuaAgeeuoeeQhlxu5a6e5pa954+t5YmN6YWS57K+5qOA5rWL5ZKM5YGl5bq36Zeu6K+i77yM56aB5q2i55ay5Yqz5L2c5Lia44CC6K6+572u5bel5Zyw5b+D55CG5ZKo6K+i5a6k77yM5biu5Yqp55aP5a+85Lq65ZGY5b+D55CG5Y6L5Yqb77yM6YG/5YWN5oOF57uq5rOi5Yqo5a+86Ie05pON5L2c5aSx6K+v44CCXG4jIyMg5a625bqt5a6J5YWo6IGU5YqoXG7lu7rnq4vlrrblsZ7lronlhajlkYrnn6XmnLrliLbvvIzlrprmnJ/lkJHlkZjlt6XlrrblsZ7lj5HpgIHlronlhajmj5DnpLrvvIzpgJrov4dcIuS6suaDheWYseWuieWFqFwi5rS75Yqo5b2i5oiQ5LyB5LiaLeWutuW6reWPjOmHjeebkeedo+S9k+ezu+OAglxuIyMjIOW5s+WuieaWh+WMluiQpemAoFxu5Zyo6Zqn6YGT5Y+j6K6+572uXCLlronlhajlpKnmlbBcIueUteWtkOeJjOOAgeWRmOW3peWFqOWutuemj+Wime+8jOW8gOWxlVwi5a6J5YWo5qCH5YW1XCLor4TpgInvvIznlKjlj6/op4bljJbmiYvmrrXlvLrljJZcIuW5s+WuieWNs+W5uOemj1wi55qE5paH5YyW6K6k5ZCM44CCIiwidHBsaWQiOiIxMDIzMjIiLCJ0cGxOYW1lIjoibGlzdDNfSW1nd3p5MjQwNzA5MDA3IiwiZWRpdGVkIjoiZmFsc2UifQ==</bd:templateData>
    </p:ext>
  </p:extLst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3100008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100009"/>
          <p:cNvSpPr txBox="true"/>
          <p:nvPr/>
        </p:nvSpPr>
        <p:spPr>
          <a:xfrm rot="0">
            <a:off x="2204431" y="2546482"/>
            <a:ext cx="7783830" cy="1224915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汇报完毕，谢谢大家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673171" y="4517204"/>
            <a:ext cx="1807758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eyJfdGVtcGxhdGVEYXRhIjp7ImNvbnRlbnRUeXBlIjoiJERhdGUiLCJsaW5lQ291bnQiOiIxIiwid29yZENvdW50IjoiNiJ9LCJ0YWciOiJub0VkaXQifQ==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eyJtZCI6IiIsInRwbGlkIjoiMTAyMzIyIiwidHBsTmFtZSI6ImVuZF8xMDIzMjIiLCJlZGl0ZWQiOiJmYWxzZSJ9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2" id="11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15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16" tmFilter="0, 0; .2, .5; .8, .5; 1, 0"/>
                                        <p:tgtEl>
                                          <p:spTgt spid="31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17"/>
                                        <p:tgtEl>
                                          <p:spTgt spid="31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7525B"/>
      </a:dk2>
      <a:lt2>
        <a:srgbClr val="E6EEF4"/>
      </a:lt2>
      <a:accent1>
        <a:srgbClr val="78A8C9"/>
      </a:accent1>
      <a:accent2>
        <a:srgbClr val="5E90B2"/>
      </a:accent2>
      <a:accent3>
        <a:srgbClr val="5D8FB2"/>
      </a:accent3>
      <a:accent4>
        <a:srgbClr val="437497"/>
      </a:accent4>
      <a:accent5>
        <a:srgbClr val="3D7195"/>
      </a:accent5>
      <a:accent6>
        <a:srgbClr val="234B6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