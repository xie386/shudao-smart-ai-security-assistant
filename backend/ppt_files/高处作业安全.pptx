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 type="screen16x9"/>
  <p:notesSz cx="6858000" cy="9144000"/>
  <p:embeddedFontLst>
    <p:embeddedFont>
      <p:font charset="-122" panose="020B0200000000000000" pitchFamily="34" typeface="Noto Sans SC"/>
      <p:regular r:id="rId4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4"/>
  </p:normalViewPr>
  <p:slideViewPr>
    <p:cSldViewPr snapToGrid="0">
      <p:cViewPr varScale="1">
        <p:scale>
          <a:sx n="124" d="100"/>
          <a:sy n="124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4D715-50C3-B803-A8ED-E297CF0F2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D1C8FA-4E74-3C2B-B2E1-90179EE0F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F96F5C-20E8-D5B3-4B51-E00FBADC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CA3150-268E-E144-EB8E-C83266A4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9375F-A225-D342-874D-7AF26BF3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15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BA219-D050-862C-E65B-9683A36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736A5-1585-C5FA-D2FE-8F5ED137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2F4FD-E8D7-1C42-14C4-121EA099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03D1D-7811-D79C-3E26-008C6266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5FEE4B-101F-62CC-E69D-F081B97B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14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0E9EE-8C71-67D4-A2BC-53B10698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09279D-06F0-EFDE-9CD6-193A29D31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B3CCE7-DC65-DA1D-3E8E-70130CD6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74EE2-CD7D-A99C-E5D2-1366E53C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52B1E2-E5C3-92D1-FF78-B950DDC1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582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4817C-99A1-757B-E4AD-A4032027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7D338-6AC5-3B05-1915-B1578DB8B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8E3BF0-2279-8BF3-1C0E-03C9E7BF3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8EC9A-56DC-2B36-BF93-CCB1A8E3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D304B-FAC1-533F-1456-38E73C2A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6F4D4A-E839-BFE4-78EA-559F4A54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8786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C5FF1-6080-2725-74AB-5FF7D3F2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A501C3-38EB-2364-C39C-33279253F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EEC63D-4589-C043-285B-B8127689F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810A47-0A22-AB30-2FCE-43F3C972A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8C72C7-7B09-FD2C-30C5-4350039BA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957867-163A-9E7A-AE92-DDB0D8E1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0928ED-F638-2A81-FAF0-17D14FCA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5BCCDA-B30D-A94D-59C6-47F63025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013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DB04-0D11-419F-4D88-8EE71954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FF8EF7-C3FC-15DF-EB99-F3AFA6C5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A37BA3-FB71-5172-B46A-25DF8DB9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0FED2D-6DE6-4528-CEC4-A1B11500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781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4BDD16-6439-B908-EDD7-E328E0DB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E04F1C-1C5E-FF25-BFF4-A2FD0C4A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C5C0E4-D1F8-57FC-808D-20A6FC4D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03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3FCD8-D346-D209-27B3-7C09A6E1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47027-3D1C-237E-E4D0-376667F14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04B274-03F4-DFA5-61F7-9E8E0AC98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AC8FF-DC28-5C76-6936-568A1EF2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62A2AA-F26F-56C5-60C1-F265434C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79CC6C-B836-7CF1-8B26-F26AD143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034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0D37B-120B-5DC1-45AB-49EAA8B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5A8308-143D-B013-FA6D-13A508B23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9730FC-073C-5B6F-22E8-FA4523B5C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0007D1-71A0-CD5F-5290-4EB94B79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971ABE-DCFA-3F63-9336-9EBAF490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86D08-7017-BD7F-109B-79A0EF20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1326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FE248-CB53-29A6-B21F-1B9B25DD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CB66B5-34D0-BDE9-5932-0E416504F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9B6BF-E627-7250-3EDA-1287E111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7CADA8-4560-F141-7ED6-BD570DF7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0A53-D30B-FB19-DA4E-56FFB4BE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17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20F4DD-F736-F394-947B-5741BD745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E099BE-C301-7614-65DF-46D9E84D6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36390-1E46-C21F-75CD-E31A7832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5A1DA6-C2F0-C179-3F42-8D6667B9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19AC8-8FAF-9013-7FB4-18456D33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3299543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9C2722-3B8C-2065-5AC5-263CFE98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7A3692-2AD9-CE6F-D53F-7845B9B3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1CEA3-90BC-60A3-2BF0-EFFB67E7C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196AE0-833D-16AA-C61D-4401D75F8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BC43C-0D70-FA29-5981-9056C9645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848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5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6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7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Relationship Id="rId5" Target="../media/image30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1.jpeg" Type="http://schemas.openxmlformats.org/officeDocument/2006/relationships/image"/><Relationship Id="rId4" Target="../media/image32.jpeg" Type="http://schemas.openxmlformats.org/officeDocument/2006/relationships/image"/><Relationship Id="rId5" Target="../media/image33.jpeg" Type="http://schemas.openxmlformats.org/officeDocument/2006/relationships/image"/><Relationship Id="rId6" Target="../media/image34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5.jpeg" Type="http://schemas.openxmlformats.org/officeDocument/2006/relationships/image"/><Relationship Id="rId4" Target="../media/image36.jpeg" Type="http://schemas.openxmlformats.org/officeDocument/2006/relationships/image"/><Relationship Id="rId5" Target="../media/image37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8.jpeg" Type="http://schemas.openxmlformats.org/officeDocument/2006/relationships/image"/><Relationship Id="rId4" Target="../media/image39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0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2091017" y="1160398"/>
            <a:ext cx="7783830" cy="2841729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true" sz="66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高处作业安全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eyJfdGVtcGxhdGVEYXRhIjp7ImNvbnRlbnRUeXBlIjoiJHRpdGxlIiwibGluZUNvdW50IjoiMiIsIndvcmRDb3VudCI6IjgifSwidGFnIjoiJHRpdGxlIn0=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349911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3781835" y="4517204"/>
            <a:ext cx="1837111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汇报人：XXX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eyJfdGVtcGxhdGVEYXRhIjp7ImNvbnRlbnRUeXBlIjoiIn0sInRhZyI6Im5vRWRpdCJ9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37577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450648" y="4517204"/>
            <a:ext cx="2235156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7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2026-08-17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eyJfdGVtcGxhdGVEYXRhIjp7ImNvbnRlbnRUeXBlIjoiJERhdGUiLCJsaW5lQ291bnQiOiIxIiwid29yZENvdW50IjoiNyJ9LCJ0YWciOiJub0VkaXQifQ==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eyJtZCI6IumrmOWkhOS9nOS4muWuieWFqCIsInRwbGlkIjoiMTAyMzIyIiwidHBsTmFtZSI6InRpdGxlXzEwMjMyMiIsImVkaXRlZCI6ImZhbHNlIn0=</bd:templateData>
    </p:ext>
  </p:extLst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10154" r="58103" t="3081" b="1871"/>
          <a:stretch>
            <a:fillRect/>
          </a:stretch>
        </p:blipFill>
        <p:spPr>
          <a:xfrm rot="5400000" flipV="true">
            <a:off x="2667001" y="-2667000"/>
            <a:ext cx="6857999" cy="1219199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4797854" y="1420503"/>
            <a:ext cx="6026631" cy="4818050"/>
          </a:xfrm>
          <a:prstGeom prst="rect">
            <a:avLst/>
          </a:prstGeom>
          <a:ln/>
        </p:spPr>
        <p:txBody>
          <a:bodyPr anchor="t" rtlCol="false" lIns="91440" rIns="91440" tIns="45720" bIns="45720" anchorCtr="false" vert="horz" wrap="square">
            <a:normAutofit/>
          </a:bodyPr>
          <a:lstStyle/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高处作业概述与风险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安全防护设施与个人防护用品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作业许可与安全操作规程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事故预防与应急措施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案例警示与安全责任</a:t>
            </a:r>
          </a:p>
          <a:p>
            <a:pPr lvl="1" indent="-228600" marL="228600" algn="l">
              <a:lnSpc>
                <a:spcPct val="140000"/>
              </a:lnSpc>
              <a:buFont typeface="Arial"/>
              <a:buChar char="•"/>
            </a:pPr>
            <a:r>
              <a:rPr lang="en-US" sz="2325">
                <a:solidFill>
                  <a:srgbClr val="152815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总结与行动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eyJfdGVtcGxhdGVEYXRhIjp7ImNvbnRlbnRUeXBlIjoiJHRpdGxlIiwibGluZUNvdW50IjoiOSIsIndvcmRDb3VudCI6IjE4In0sInRhZyI6IiRjYXRhIn0=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1759765" y="2892742"/>
            <a:ext cx="2375062" cy="10725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5475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目录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uebruW9lVxu6auY5aSE5L2c5Lia5qaC6L+w5LiO6aOO6ZmpXG7lronlhajpmLLmiqTorr7mlr3kuI7kuKrkurrpmLLmiqTnlKjlk4FcbuS9nOS4muiuuOWPr+S4juWuieWFqOaTjeS9nOinhOeoi1xu5LqL5pWF6aKE6Ziy5LiO5bqU5oCl5o6q5pa9XG7moYjkvovorabnpLrkuI7lronlhajotKPku7tcbuaAu+e7k+S4juihjOWKqCIsInRwbGlkIjoiMTAyMzIyIiwidHBsTmFtZSI6ImNhdGFsb2d1ZV8xMDIzMjIiLCJlZGl0ZWQiOiJmYWxzZSJ9</bd:templateData>
    </p:ext>
  </p:extLs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高处作业概述与风险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eyJtZCI6IiMjIOmrmOWkhOS9nOS4muamgui/sOS4jumjjumZqSIsInRwbGlkIjoiMTAyMzIyIiwidHBsTmFtZSI6ImgydGl0bGVfMTAyMzIyIiwiZWRpdGVkIjoiZmFsc2UifQ==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定义与常见作业场景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 t="10425" b="10425"/>
          <a:stretch>
            <a:fillRect/>
          </a:stretch>
        </p:blipFill>
        <p:spPr>
          <a:xfrm rot="0">
            <a:off x="1466885" y="2187982"/>
            <a:ext cx="2739046" cy="2739046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Freeform 4" id="4"/>
          <p:cNvSpPr/>
          <p:nvPr/>
        </p:nvSpPr>
        <p:spPr>
          <a:xfrm rot="0">
            <a:off x="4509171" y="1790522"/>
            <a:ext cx="583851" cy="3533966"/>
          </a:xfrm>
          <a:custGeom>
            <a:avLst/>
            <a:gdLst/>
            <a:ahLst/>
            <a:cxnLst/>
            <a:rect r="r" b="b" t="t" l="l"/>
            <a:pathLst>
              <a:path h="3533966" w="583851">
                <a:moveTo>
                  <a:pt x="583851" y="0"/>
                </a:moveTo>
                <a:quadBezTo>
                  <a:pt x="291925" y="0"/>
                  <a:pt x="291925" y="353397"/>
                </a:quadBezTo>
                <a:lnTo>
                  <a:pt x="291925" y="1413586"/>
                </a:lnTo>
                <a:quadBezTo>
                  <a:pt x="291925" y="1766983"/>
                  <a:pt x="0" y="1766983"/>
                </a:quadBezTo>
                <a:quadBezTo>
                  <a:pt x="291925" y="1766983"/>
                  <a:pt x="291925" y="2120379"/>
                </a:quadBezTo>
                <a:lnTo>
                  <a:pt x="291925" y="3180569"/>
                </a:lnTo>
                <a:quadBezTo>
                  <a:pt x="291925" y="3533966"/>
                  <a:pt x="583851" y="3533966"/>
                </a:quadBezTo>
              </a:path>
            </a:pathLst>
          </a:cu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5347614" y="5067201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3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414867" y="5045544"/>
            <a:ext cx="3165062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分级标准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5452715" y="5573201"/>
            <a:ext cx="5194466" cy="964797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按高度分为2～5米（一级）、5～15米（二级）、15～30米（三级）和30米以上（特级），存在客观危险因素时需升级管控等级。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eyJfdGVtcGxhdGVEYXRhIjp7ImNvbnRlbnRUeXBlIjoiJGl0ZW0zX2MiLCJsaW5lQ291bnQiOiIzIiwid29yZENvdW50IjoiMjgifSwidGFnIjoiJGl0ZW0zX2MifQ==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5347614" y="3298365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2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6414867" y="3276708"/>
            <a:ext cx="3165062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典型作业类型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5452715" y="3804364"/>
            <a:ext cx="5194466" cy="1061273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临边作业（工作面围护高度不足80cm）、洞口作业（桩孔/管道旁操作）、攀登作业（借助脚手架/梯子）、悬空作业（无可靠立足点）及交叉作业（上下层空间贯通）。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eyJfdGVtcGxhdGVEYXRhIjp7ImNvbnRlbnRUeXBlIjoiJGl0ZW0yX2MiLCJsaW5lQ291bnQiOiI0Iiwid29yZENvdW50IjoiMjgifSwidGFnIjoiJGl0ZW0yX2MifQ==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5347614" y="1556561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2" id="12"/>
          <p:cNvSpPr/>
          <p:nvPr/>
        </p:nvSpPr>
        <p:spPr>
          <a:xfrm rot="0">
            <a:off x="6414867" y="1534903"/>
            <a:ext cx="3165062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国家标准定义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5452715" y="2062560"/>
            <a:ext cx="5194466" cy="1057947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依据GB 3608—2025《高处作业分级》，凡在坠落高度基准面2米以上（含2米）且存在坠落可能的位置进行的作业均属高处作业，包括梯道攀爬、货舱冲洗、克令吊钢丝绳更换等场景。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eyJfdGVtcGxhdGVEYXRhIjp7ImNvbnRlbnRUeXBlIjoiJGl0ZW0xX2MiLCJsaW5lQ291bnQiOiI0Iiwid29yZENvdW50IjoiMjgifSwidGFnIjoiJGl0ZW0xX2MifQ==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muS5ieS4juW4uOingeS9nOS4muWcuuaZr1xuIyMjIOWbveWutuagh+WHhuWumuS5iVxu5L6d5o2uR0IgMzYwOOKAlDIwMjXjgIrpq5jlpITkvZzkuJrliIbnuqfjgIvvvIzlh6HlnKjlnaDokL3pq5jluqbln7rlh4bpnaIy57Gz5Lul5LiK77yI5ZCrMuexs++8ieS4lOWtmOWcqOWdoOiQveWPr+iDveeahOS9jee9rui/m+ihjOeahOS9nOS4muWdh+WxnumrmOWkhOS9nOS4mu+8jOWMheaLrOair+mBk+aUgOeIrOOAgei0p+iIseWGsua0l+OAgeWFi+S7pOWQiumSouS4nee7s+abtOaNouetieWcuuaZr+OAglxuIyMjIOWFuOWei+S9nOS4muexu+Wei1xu5Li06L655L2c5Lia77yI5bel5L2c6Z2i5Zu05oqk6auY5bqm5LiN6LazODBjbe+8ieOAgea0nuWPo+S9nOS4mu+8iOahqeWtlC/nrqHpgZPml4Hmk43kvZzvvInjgIHmlIDnmbvkvZzkuJrvvIjlgJ/liqnohJrmiYvmnrYv5qKv5a2Q77yJ44CB5oKs56m65L2c5Lia77yI5peg5Y+v6Z2g56uL6Laz54K577yJ5Y+K5Lqk5Y+J5L2c5Lia77yI5LiK5LiL5bGC56m66Ze06LSv6YCa77yJ44CCXG4jIyMg5YiG57qn5qCH5YeGXG7mjInpq5jluqbliIbkuLoy772eNeexs++8iOS4gOe6p++8ieOAgTXvvZ4xNeexs++8iOS6jOe6p++8ieOAgTE1772eMzDnsbPvvIjkuInnuqfvvInlkowzMOexs+S7peS4iu+8iOeJuee6p++8ie+8jOWtmOWcqOWuouinguWNsemZqeWboOe0oOaXtumcgOWNh+e6p+euoeaOp+etiee6p+OAgiIsInRwbGlkIjoiMTAyMzIyIiwidHBsTmFtZSI6Imxpc3QzXzIwMjUwNjI2MDkiLCJlZGl0ZWQiOiJmYWxzZSJ9</bd:templateData>
    </p:ext>
  </p:extLst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13550" r="13550"/>
          <a:stretch>
            <a:fillRect/>
          </a:stretch>
        </p:blipFill>
        <p:spPr>
          <a:xfrm rot="0">
            <a:off x="425795" y="2384018"/>
            <a:ext cx="3415971" cy="34159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主要危险因素辨识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4113475" y="1643082"/>
            <a:ext cx="3657600" cy="221985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4312581" y="1836534"/>
            <a:ext cx="3251104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人的不安全行为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eyJfdGVtcGxhdGVEYXRhIjp7ImNvbnRlbnRUeXBlIjoiJGl0ZW0xX3RpdGxlIiwibGluZUNvdW50IjoiMSIsIndvcmRDb3VudCI6IjExIn0sInRhZyI6IiRpdGVtMV90aXRsZSJ9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4312581" y="2273337"/>
            <a:ext cx="3251104" cy="1308693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包括未佩戴安全防护装备（安全带/安全帽）、擅自拆除防护设施、违规攀爬非通道区域（如脚手架/阳台）等直接引发坠落的行为。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8070842" y="1650556"/>
            <a:ext cx="3657600" cy="221985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8269948" y="1844009"/>
            <a:ext cx="3251104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物的不安全状态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eyJfdGVtcGxhdGVEYXRhIjp7ImNvbnRlbnRUeXBlIjoiJGl0ZW0yX3RpdGxlIiwibGluZUNvdW50IjoiMSIsIndvcmRDb3VudCI6IjExIn0sInRhZyI6IiRpdGVtMl90aXRsZSJ9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8269948" y="2280812"/>
            <a:ext cx="3251104" cy="1301218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涉及洞口/临边防护缺失、梯具稳定性不足、吊绳老化断裂、作业平台护栏不合格等设备设施缺陷。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4120950" y="4294709"/>
            <a:ext cx="3657600" cy="221985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4320056" y="4488162"/>
            <a:ext cx="3251104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环境风险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eyJfdGVtcGxhdGVEYXRhIjp7ImNvbnRlbnRUeXBlIjoiJGl0ZW0zX3RpdGxlIiwibGluZUNvdW50IjoiMSIsIndvcmRDb3VudCI6IjExIn0sInRhZyI6IiRpdGVtM190aXRsZSJ9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320056" y="4924965"/>
            <a:ext cx="3251104" cy="1316168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恶劣天气（强风/雨雪）、照明不足、带电作业环境、狭窄空间活动受限等增加作业难度的外部条件。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8078316" y="4302184"/>
            <a:ext cx="3657600" cy="221985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8277423" y="4495637"/>
            <a:ext cx="3251104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管理缺陷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eyJfdGVtcGxhdGVEYXRhIjp7ImNvbnRlbnRUeXBlIjoiJGl0ZW00X3RpdGxlIiwibGluZUNvdW50IjoiMSIsIndvcmRDb3VudCI6IjExIn0sInRhZyI6IiRpdGVtNF90aXRsZSJ9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8277423" y="4932440"/>
            <a:ext cx="3251104" cy="1308693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未执行作业审批制度、安全培训不到位、监护人员缺位、未设置安全警示标识等系统性管控漏洞。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eyJfdGVtcGxhdGVEYXRhIjp7ImNvbnRlbnRUeXBlIjoiJGl0ZW00X2MiLCJsaW5lQ291bnQiOiI0Iiwid29yZENvdW50IjoiMTUifSwidGFnIjoiJGl0ZW00X2MifQ==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u+imgeWNsemZqeWboOe0oOi+qOivhlxuIyMjIOS6uueahOS4jeWuieWFqOihjOS4ulxu5YyF5ous5pyq5L2p5oi05a6J5YWo6Ziy5oqk6KOF5aSH77yI5a6J5YWo5bimL+WuieWFqOW4ve+8ieOAgeaTheiHquaLhumZpOmYsuaKpOiuvuaWveOAgei/neinhOaUgOeIrOmdnumAmumBk+WMuuWfn++8iOWmguiEmuaJi+aeti/pmLPlj7DvvInnrYnnm7TmjqXlvJXlj5HlnaDokL3nmoTooYzkuLrjgIJcbiMjIyDniannmoTkuI3lronlhajnirbmgIFcbua2ieWPiua0nuWPoy/kuLTovrnpmLLmiqTnvLrlpLHjgIHmoq/lhbfnqLPlrprmgKfkuI3otrPjgIHlkIrnu7PogIHljJbmlq3oo4LjgIHkvZzkuJrlubPlj7DmiqTmoI/kuI3lkIjmoLznrYnorr7lpIforr7mlr3nvLrpmbfjgIJcbiMjIyDnjq/looPpo47pmalcbuaBtuWKo+WkqeawlO+8iOW8uumjji/pm6jpm6rvvInjgIHnhafmmI7kuI3otrPjgIHluKbnlLXkvZzkuJrnjq/looPjgIHni63nqoTnqbrpl7TmtLvliqjlj5fpmZDnrYnlop7liqDkvZzkuJrpmr7luqbnmoTlpJbpg6jmnaHku7bjgIJcbiMjIyDnrqHnkIbnvLrpmbdcbuacquaJp+ihjOS9nOS4muWuoeaJueWItuW6puOAgeWuieWFqOWfueiureS4jeWIsOS9jeOAgeebkeaKpOS6uuWRmOe8uuS9jeOAgeacquiuvue9ruWuieWFqOitpuekuuagh+ivhuetieezu+e7n+aAp+euoeaOp+a8j+a0nuOAgiIsInRwbGlkIjoiMTAyMzIyIiwidHBsTmFtZSI6Imxpc3Q0X0ltZ0MyIiwiZWRpdGVkIjoiZmFsc2UifQ==</bd:templateData>
    </p:ext>
  </p:extLst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高坠事故的后果与案例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 flipH="false">
            <a:off x="752047" y="1412707"/>
            <a:ext cx="3005958" cy="4496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00000"/>
          </a:blip>
          <a:srcRect t="31030" b="31030"/>
          <a:stretch>
            <a:fillRect/>
          </a:stretch>
        </p:blipFill>
        <p:spPr>
          <a:xfrm rot="0" flipH="false">
            <a:off x="7833544" y="3730249"/>
            <a:ext cx="3737850" cy="212768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AutoShape 5" id="5"/>
          <p:cNvSpPr/>
          <p:nvPr/>
        </p:nvSpPr>
        <p:spPr>
          <a:xfrm rot="0"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4099978" y="1672358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致命伤害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099978" y="2110737"/>
            <a:ext cx="3431205" cy="1270638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上海市某冷库配电房案例中，工人从2.3米配电柜顶部跌落致死；安徽省氮肥厂7米平台坠落事故导致2人死亡，显示低高度坠落仍可能致命。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eyJfdGVtcGxhdGVEYXRhIjp7ImNvbnRlbnRUeXBlIjoiJGl0ZW0xX2MiLCJsaW5lQ291bnQiOiI0Iiwid29yZENvdW50IjoiMTgifSwidGFnIjoiJGl0ZW0xX2MifQ==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4099978" y="4036516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经济损失与法律责任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099978" y="4470242"/>
            <a:ext cx="3431205" cy="1276624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事故导致停工整改、医疗赔偿、行政处罚，涉事单位可能面临《安全生产法》追责，相关责任人承担刑事或民事责任。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eyJfdGVtcGxhdGVEYXRhIjp7ImNvbnRlbnRUeXBlIjoiJGl0ZW0zX2MiLCJsaW5lQ291bnQiOiI0Iiwid29yZENvdW50IjoiMTgifSwidGFnIjoiJGl0ZW0zX2MifQ==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7996869" y="1672358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多类型伤害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7996869" y="2110737"/>
            <a:ext cx="3431205" cy="1270638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除直接坠落伤亡外，可能伴随物体打击（工具材料坠落）、触电（接触高空线路）、火灾（焊接火花引燃）等次生灾害。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eyJfdGVtcGxhdGVEYXRhIjp7ImNvbnRlbnRUeXBlIjoiJGl0ZW0yX2MiLCJsaW5lQ291bnQiOiI0Iiwid29yZENvdW50IjoiMTgifSwidGFnIjoiJGl0ZW0yX2MifQ==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rmOWdoOS6i+aVheeahOWQjuaenOS4juahiOS+i1xuIyMjIOiHtOWRveS8pOWus1xu5LiK5rW35biC5p+Q5Ya35bqT6YWN55S15oi/5qGI5L6L5Lit77yM5bel5Lq65LuOMi4z57Gz6YWN55S15p+c6aG26YOo6LeM6JC96Ie05q2777yb5a6J5b6955yB5rCu6IKl5Y6CN+exs+W5s+WPsOWdoOiQveS6i+aVheWvvOiHtDLkurrmrbvkuqHvvIzmmL7npLrkvY7pq5jluqblnaDokL3ku43lj6/og73oh7Tlkb3jgIJcbiMjIyDlpJrnsbvlnovkvKTlrrNcbumZpOebtOaOpeWdoOiQveS8pOS6oeWklu+8jOWPr+iDveS8tOmaj+eJqeS9k+aJk+WHu++8iOW3peWFt+adkOaWmeWdoOiQve+8ieOAgeinpueUte+8iOaOpeinpumrmOepuue6v+i3r++8ieOAgeeBq+eBvu+8iOeEiuaOpeeBq+iKseW8leeHg++8ieetieasoeeUn+eBvuWus+OAglxuIyMjIOe7j+a1juaNn+WkseS4juazleW+i+i0o+S7u1xu5LqL5pWF5a+86Ie05YGc5bel5pW05pS544CB5Yy755aX6LWU5YG/44CB6KGM5pS/5aSE572a77yM5raJ5LqL5Y2V5L2N5Y+v6IO96Z2i5Li044CK5a6J5YWo55Sf5Lqn5rOV44CL6L+96LSj77yM55u45YWz6LSj5Lu75Lq65om/5ouF5YiR5LqL5oiW5rCR5LqL6LSj5Lu744CCIiwidHBsaWQiOiIxMDIzMjIiLCJ0cGxOYW1lIjoibGlzdDNfMjAyNTA3MDEwMiIsImVkaXRlZCI6ImZhbHNlIn0=</bd:templateData>
    </p:ext>
  </p:extLst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1125" y="2110894"/>
            <a:ext cx="3696560" cy="16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GB 3608—2025规定高处作业必须实施分级管控，2026年5月1日起执行，明确A/B类分级方法（无危险因素按高度分级，存在危险因素时升级管控）。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eyJfdGVtcGxhdGVEYXRhIjp7ImNvbnRlbnRUeXBlIjoiJGl0ZW0xX2MiLCJsaW5lQ291bnQiOiI1Iiwid29yZENvdW50IjoiMTcifSwidGFnIjoiJGl0ZW0xX2MifQ==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607698" y="1650147"/>
            <a:ext cx="3679987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强制标准要求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563125" y="4426629"/>
            <a:ext cx="3724560" cy="16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洞口需设盖板/防护栏杆（高度≥1.2m），临边装设挡脚板/安全网，悬空作业必须配置生命绳与防坠器。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eyJfdGVtcGxhdGVEYXRhIjp7ImNvbnRlbnRUeXBlIjoiJGl0ZW0zX2MiLCJsaW5lQ291bnQiOiI1Iiwid29yZENvdW50IjoiMTcifSwidGFnIjoiJGl0ZW0zX2MifQ==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579698" y="3965882"/>
            <a:ext cx="3707987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防护设施规范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7913397" y="2110894"/>
            <a:ext cx="3636800" cy="16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高处作业人员需持证上岗，通过安全技术培训并考核取得操作证，禁止无证或酒后、患病等不适岗人员作业。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eyJfdGVtcGxhdGVEYXRhIjp7ImNvbnRlbnRUeXBlIjoiJGl0ZW0yX2MiLCJsaW5lQ291bnQiOiI1Iiwid29yZENvdW50IjoiMTcifSwidGFnIjoiJGl0ZW0yX2MifQ==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7913397" y="1650147"/>
            <a:ext cx="3653373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特种作业管理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7913397" y="4426629"/>
            <a:ext cx="3608800" cy="16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要求作业前审批、技术交底、设置警戒区，作业中专人监护、禁止抛掷工具，雨后检查架体稳定性等动态管理措施。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eyJfdGVtcGxhdGVEYXRhIjp7ImNvbnRlbnRUeXBlIjoiJGl0ZW00X2MiLCJsaW5lQ291bnQiOiI1Iiwid29yZENvdW50IjoiMTYifSwidGFnIjoiJGl0ZW00X2MifQ==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7913397" y="3965882"/>
            <a:ext cx="3625373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过程控制条款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相关法规标准解读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Freeform 11" id="11"/>
          <p:cNvSpPr/>
          <p:nvPr/>
        </p:nvSpPr>
        <p:spPr>
          <a:xfrm rot="0">
            <a:off x="5298153" y="3104315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2" id="12"/>
          <p:cNvSpPr/>
          <p:nvPr/>
        </p:nvSpPr>
        <p:spPr>
          <a:xfrm rot="0">
            <a:off x="4434792" y="2240953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3" id="13"/>
          <p:cNvSpPr/>
          <p:nvPr/>
        </p:nvSpPr>
        <p:spPr>
          <a:xfrm rot="0">
            <a:off x="6159720" y="3965882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4" id="14"/>
          <p:cNvSpPr/>
          <p:nvPr/>
        </p:nvSpPr>
        <p:spPr>
          <a:xfrm rot="0">
            <a:off x="6159720" y="2240953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5" id="15"/>
          <p:cNvSpPr/>
          <p:nvPr/>
        </p:nvSpPr>
        <p:spPr>
          <a:xfrm rot="0">
            <a:off x="4434792" y="3965882"/>
            <a:ext cx="1597488" cy="1597488"/>
          </a:xfrm>
          <a:custGeom>
            <a:avLst/>
            <a:gdLst/>
            <a:ahLst/>
            <a:cxnLst/>
            <a:rect r="r" b="b" t="t" l="l"/>
            <a:pathLst>
              <a:path h="890" w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4808721" y="2798715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TextBox 17" id="17"/>
          <p:cNvSpPr txBox="true"/>
          <p:nvPr/>
        </p:nvSpPr>
        <p:spPr>
          <a:xfrm rot="0">
            <a:off x="6533649" y="2798715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TextBox 18" id="18"/>
          <p:cNvSpPr txBox="true"/>
          <p:nvPr/>
        </p:nvSpPr>
        <p:spPr>
          <a:xfrm rot="0">
            <a:off x="4808721" y="4523643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TextBox 19" id="19"/>
          <p:cNvSpPr txBox="true"/>
          <p:nvPr/>
        </p:nvSpPr>
        <p:spPr>
          <a:xfrm rot="0">
            <a:off x="6533649" y="4523643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Freeform 20" id="20"/>
          <p:cNvSpPr/>
          <p:nvPr/>
        </p:nvSpPr>
        <p:spPr>
          <a:xfrm rot="0">
            <a:off x="5811147" y="3680132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9753600" w="9753600">
                <a:moveTo>
                  <a:pt x="9480575" y="2318400"/>
                </a:moveTo>
                <a:cubicBezTo>
                  <a:pt x="9330477" y="1970037"/>
                  <a:pt x="9115410" y="1658638"/>
                  <a:pt x="8843216" y="1390924"/>
                </a:cubicBezTo>
                <a:cubicBezTo>
                  <a:pt x="8571022" y="1124331"/>
                  <a:pt x="8255142" y="915985"/>
                  <a:pt x="7902298" y="769247"/>
                </a:cubicBezTo>
                <a:cubicBezTo>
                  <a:pt x="7538253" y="618028"/>
                  <a:pt x="7152924" y="541858"/>
                  <a:pt x="6755275" y="541858"/>
                </a:cubicBezTo>
                <a:cubicBezTo>
                  <a:pt x="6203046" y="541858"/>
                  <a:pt x="5664258" y="693077"/>
                  <a:pt x="5196040" y="978713"/>
                </a:cubicBezTo>
                <a:cubicBezTo>
                  <a:pt x="5084026" y="1047041"/>
                  <a:pt x="4977613" y="1122091"/>
                  <a:pt x="4876800" y="1203861"/>
                </a:cubicBezTo>
                <a:cubicBezTo>
                  <a:pt x="4775987" y="1122091"/>
                  <a:pt x="4669574" y="1047041"/>
                  <a:pt x="4557560" y="978713"/>
                </a:cubicBezTo>
                <a:cubicBezTo>
                  <a:pt x="4089342" y="693077"/>
                  <a:pt x="3550554" y="541858"/>
                  <a:pt x="2998325" y="541858"/>
                </a:cubicBezTo>
                <a:cubicBezTo>
                  <a:pt x="2600676" y="541858"/>
                  <a:pt x="2215347" y="618028"/>
                  <a:pt x="1851302" y="769247"/>
                </a:cubicBezTo>
                <a:cubicBezTo>
                  <a:pt x="1499578" y="914865"/>
                  <a:pt x="1182578" y="1124331"/>
                  <a:pt x="910384" y="1390924"/>
                </a:cubicBezTo>
                <a:cubicBezTo>
                  <a:pt x="637070" y="1658638"/>
                  <a:pt x="423123" y="1970037"/>
                  <a:pt x="273025" y="2318400"/>
                </a:cubicBezTo>
                <a:cubicBezTo>
                  <a:pt x="117325" y="2680205"/>
                  <a:pt x="37795" y="3064413"/>
                  <a:pt x="37795" y="3459823"/>
                </a:cubicBezTo>
                <a:cubicBezTo>
                  <a:pt x="37795" y="3832830"/>
                  <a:pt x="113965" y="4221518"/>
                  <a:pt x="265184" y="4616928"/>
                </a:cubicBezTo>
                <a:cubicBezTo>
                  <a:pt x="391759" y="4947369"/>
                  <a:pt x="573222" y="5290132"/>
                  <a:pt x="805091" y="5636255"/>
                </a:cubicBezTo>
                <a:cubicBezTo>
                  <a:pt x="1172497" y="6184003"/>
                  <a:pt x="1677680" y="6755275"/>
                  <a:pt x="2304959" y="7334387"/>
                </a:cubicBezTo>
                <a:cubicBezTo>
                  <a:pt x="3344448" y="8294347"/>
                  <a:pt x="4373857" y="8957470"/>
                  <a:pt x="4417543" y="8984353"/>
                </a:cubicBezTo>
                <a:lnTo>
                  <a:pt x="4683016" y="9154615"/>
                </a:lnTo>
                <a:cubicBezTo>
                  <a:pt x="4800630" y="9229664"/>
                  <a:pt x="4951849" y="9229664"/>
                  <a:pt x="5069464" y="9154615"/>
                </a:cubicBezTo>
                <a:lnTo>
                  <a:pt x="5334937" y="8984353"/>
                </a:lnTo>
                <a:cubicBezTo>
                  <a:pt x="5378623" y="8956350"/>
                  <a:pt x="6406911" y="8294347"/>
                  <a:pt x="7447521" y="7334387"/>
                </a:cubicBezTo>
                <a:cubicBezTo>
                  <a:pt x="8074800" y="6755275"/>
                  <a:pt x="8579983" y="6184003"/>
                  <a:pt x="8947389" y="5636255"/>
                </a:cubicBezTo>
                <a:cubicBezTo>
                  <a:pt x="9179258" y="5290132"/>
                  <a:pt x="9361841" y="4947369"/>
                  <a:pt x="9487296" y="4616928"/>
                </a:cubicBezTo>
                <a:cubicBezTo>
                  <a:pt x="9638515" y="4221518"/>
                  <a:pt x="9714685" y="3832830"/>
                  <a:pt x="9714685" y="3459823"/>
                </a:cubicBezTo>
                <a:cubicBezTo>
                  <a:pt x="9715805" y="3064413"/>
                  <a:pt x="9636275" y="2680205"/>
                  <a:pt x="9480575" y="2318400"/>
                </a:cubicBezTo>
              </a:path>
            </a:pathLst>
          </a:custGeom>
          <a:solidFill>
            <a:srgbClr val="FFFFFE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buOWFs+azleinhOagh+WHhuino+ivu1xuIyMjIOW8uuWItuagh+WHhuimgeaxglxuR0IgMzYwOOKAlDIwMjXop4Tlrprpq5jlpITkvZzkuJrlv4Xpobvlrp7mlr3liIbnuqfnrqHmjqfvvIwyMDI25bm0NeaciDHml6XotbfmiafooYzvvIzmmI7noa5BL0LnsbvliIbnuqfmlrnms5XvvIjml6DljbHpmanlm6DntKDmjInpq5jluqbliIbnuqfvvIzlrZjlnKjljbHpmanlm6DntKDml7bljYfnuqfnrqHmjqfvvInjgIJcbiMjIyDnibnnp43kvZzkuJrnrqHnkIZcbumrmOWkhOS9nOS4muS6uuWRmOmcgOaMgeivgeS4iuWyl++8jOmAmui/h+WuieWFqOaKgOacr+WfueiureW5tuiAg+aguOWPluW+l+aTjeS9nOivge+8jOemgeatouaXoOivgeaIlumFkuWQjuOAgeaCo+eXheetieS4jemAguWyl+S6uuWRmOS9nOS4muOAglxuIyMjIOmYsuaKpOiuvuaWveinhOiMg1xu5rSe5Y+j6ZyA6K6+55uW5p2/L+mYsuaKpOagj+adhu+8iOmrmOW6puKJpTEuMm3vvInvvIzkuLTovrnoo4Xorr7mjKHohJrmnb8v5a6J5YWo572R77yM5oKs56m65L2c5Lia5b+F6aG76YWN572u55Sf5ZG957uz5LiO6Ziy5Z2g5Zmo44CCXG4jIyMg6L+H56iL5o6n5Yi25p2h5qy+XG7opoHmsYLkvZzkuJrliY3lrqHmibnjgIHmioDmnK/kuqTlupXjgIHorr7nva7orabmiJLljLrvvIzkvZzkuJrkuK3kuJPkurrnm5HmiqTjgIHnpoHmraLmipvmjrflt6XlhbfvvIzpm6jlkI7mo4Dmn6XmnrbkvZPnqLPlrprmgKfnrYnliqjmgIHnrqHnkIbmjqrmlr3jgIIiLCJ0cGxpZCI6IjEwMjMyMiIsInRwbE5hbWUiOiJsaXN0NF9rbTI0MDMxMjAzIiwiZWRpdGVkIjoiZmFsc2UifQ==</bd:templateData>
    </p:ext>
  </p:extLst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安全防护设施与个人防护用品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eyJtZCI6IiMjIOWuieWFqOmYsuaKpOiuvuaWveS4juS4quS6uumYsuaKpOeUqOWTgSIsInRwbGlkIjoiMTAyMzIyIiwidHBsTmFtZSI6ImgydGl0bGVfMTAyMzIyIiwiZWRpdGVkIjoiZmFsc2UifQ==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25006" r="25006"/>
          <a:stretch>
            <a:fillRect/>
          </a:stretch>
        </p:blipFill>
        <p:spPr>
          <a:xfrm rot="0">
            <a:off x="640619" y="1239230"/>
            <a:ext cx="3783578" cy="50447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安全网、防护栏杆、脚手架要求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4195024" y="478701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4195024" y="301808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4195024" y="1237957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5259845" y="2945478"/>
            <a:ext cx="6286500" cy="695325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防护栏杆设置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eyJfdGVtcGxhdGVEYXRhIjp7ImNvbnRlbnRUeXBlIjoiJGl0ZW0yX3RpdGxlIiwibGluZUNvdW50IjoiMSIsIndvcmRDb3VudCI6IjE5In0sInRhZyI6IiRpdGVtMl90aXRsZSJ9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5259845" y="3472246"/>
            <a:ext cx="6124575" cy="1247775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临边防护栏杆需设上下两道横杆（上杆1.2m高，下杆50-60cm高），立杆间距≤2m，并加设挡脚板（≥18cm高）或安全网封闭。超过1.2m时需增设横杆，间距≤60cm。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eyJfdGVtcGxhdGVEYXRhIjp7ImNvbnRlbnRUeXBlIjoiJGl0ZW0yX2MiLCJsaW5lQ291bnQiOiIzIiwid29yZENvdW50IjoiMzAifSwidGFnIjoiJGl0ZW0yX2MifQ==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5272199" y="4714408"/>
            <a:ext cx="6286500" cy="695325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脚手架验收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eyJfdGVtcGxhdGVEYXRhIjp7ImNvbnRlbnRUeXBlIjoiJGl0ZW0zX3RpdGxlIiwibGluZUNvdW50IjoiMSIsIndvcmRDb3VudCI6IjE5In0sInRhZyI6IiRpdGVtM190aXRsZSJ9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5272199" y="5252378"/>
            <a:ext cx="6124575" cy="1247775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仅允许使用验收合格的脚手架，严禁依托不稳定结构作业。脚手架外立面需全封闭密目式安全网，网体与架体绑扎牢固，环扣逐个穿绳固定。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eyJfdGVtcGxhdGVEYXRhIjp7ImNvbnRlbnRUeXBlIjoiJGl0ZW0zX2MiLCJsaW5lQ291bnQiOiIzIiwid29yZENvdW50IjoiMzAifSwidGFnIjoiJGl0ZW0zX2MifQ==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5272221" y="1165346"/>
            <a:ext cx="6286500" cy="695325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安全网规范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eyJfdGVtcGxhdGVEYXRhIjp7ImNvbnRlbnRUeXBlIjoiJGl0ZW0xX3RpdGxlIiwibGluZUNvdW50IjoiMSIsIndvcmRDb3VudCI6IjE5In0sInRhZyI6IiRpdGVtMV90aXRsZSJ9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5272221" y="1692114"/>
            <a:ext cx="6124575" cy="1247775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安全网材质需符合国家标准，网目边长不大于8cm，平网宽度不小于3m，立网高度不低于1.2m。密目式安全立网每100cm²网目数≥2000目，需阻燃且能承受5kg钢管从3米高处坠落冲击。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eyJfdGVtcGxhdGVEYXRhIjp7ImNvbnRlbnRUeXBlIjoiJGl0ZW0xX2MiLCJsaW5lQ291bnQiOiIzIiwid29yZENvdW50IjoiMzAifSwidGFnIjoiJGl0ZW0xX2MifQ==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4629608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4" id="14"/>
          <p:cNvSpPr/>
          <p:nvPr/>
        </p:nvSpPr>
        <p:spPr>
          <a:xfrm rot="0">
            <a:off x="3911804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5" id="15"/>
          <p:cNvSpPr/>
          <p:nvPr/>
        </p:nvSpPr>
        <p:spPr>
          <a:xfrm rot="0">
            <a:off x="4629608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6" id="16"/>
          <p:cNvSpPr/>
          <p:nvPr/>
        </p:nvSpPr>
        <p:spPr>
          <a:xfrm rot="0">
            <a:off x="3911804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7" id="17"/>
          <p:cNvSpPr/>
          <p:nvPr/>
        </p:nvSpPr>
        <p:spPr>
          <a:xfrm rot="0">
            <a:off x="4629608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8" id="18"/>
          <p:cNvSpPr/>
          <p:nvPr/>
        </p:nvSpPr>
        <p:spPr>
          <a:xfrm rot="0">
            <a:off x="3911804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9" id="19"/>
          <p:cNvSpPr txBox="true"/>
          <p:nvPr/>
        </p:nvSpPr>
        <p:spPr>
          <a:xfrm rot="0">
            <a:off x="4162763" y="4825850"/>
            <a:ext cx="765990" cy="472440"/>
          </a:xfrm>
          <a:prstGeom prst="rect">
            <a:avLst/>
          </a:prstGeom>
          <a:ln/>
        </p:spPr>
        <p:txBody>
          <a:bodyPr anchor="ctr" rtlCol="false" lIns="91440" rIns="91440" tIns="45720" bIns="45720" anchorCtr="true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b="true" sz="232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20" id="20"/>
          <p:cNvSpPr txBox="true"/>
          <p:nvPr/>
        </p:nvSpPr>
        <p:spPr>
          <a:xfrm rot="0">
            <a:off x="4162763" y="3056920"/>
            <a:ext cx="765990" cy="472440"/>
          </a:xfrm>
          <a:prstGeom prst="rect">
            <a:avLst/>
          </a:prstGeom>
          <a:ln/>
        </p:spPr>
        <p:txBody>
          <a:bodyPr anchor="ctr" rtlCol="false" lIns="91440" rIns="91440" tIns="45720" bIns="45720" anchorCtr="true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b="true" sz="232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21" id="21"/>
          <p:cNvSpPr txBox="true"/>
          <p:nvPr/>
        </p:nvSpPr>
        <p:spPr>
          <a:xfrm rot="0">
            <a:off x="4162763" y="1276789"/>
            <a:ext cx="765990" cy="472440"/>
          </a:xfrm>
          <a:prstGeom prst="rect">
            <a:avLst/>
          </a:prstGeom>
          <a:ln/>
        </p:spPr>
        <p:txBody>
          <a:bodyPr anchor="ctr" rtlCol="false" lIns="91440" rIns="91440" tIns="45720" bIns="45720" anchorCtr="true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b="true" sz="232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ieWFqOe9keOAgemYsuaKpOagj+adhuOAgeiEmuaJi+aetuimgeaxglxuIyMjIOWuieWFqOe9keinhOiMg1xu5a6J5YWo572R5p2Q6LSo6ZyA56ym5ZCI5Zu95a625qCH5YeG77yM572R55uu6L656ZW/5LiN5aSn5LqOOGNt77yM5bmz572R5a695bqm5LiN5bCP5LqOM23vvIznq4vnvZHpq5jluqbkuI3kvY7kuo4xLjJt44CC5a+G55uu5byP5a6J5YWo56uL572R5q+PMTAwY23Csue9keebruaVsOKJpTIwMDDnm67vvIzpnIDpmLvnh4PkuJTog73mib/lj5c1a2fpkqLnrqHku44z57Gz6auY5aSE5Z2g6JC95Yay5Ye744CCXG4jIyMg6Ziy5oqk5qCP5p2G6K6+572uXG7kuLTovrnpmLLmiqTmoI/mnYbpnIDorr7kuIrkuIvkuKTpgZPmqKrmnYbvvIjkuIrmnYYxLjJt6auY77yM5LiL5p2GNTAtNjBjbemrmO+8ie+8jOeri+adhumXtOi3neKJpDJt77yM5bm25Yqg6K6+5oyh6ISa5p2/77yI4omlMThjbemrmO+8ieaIluWuieWFqOe9keWwgemXreOAgui2hei/hzEuMm3ml7bpnIDlop7orr7mqKrmnYbvvIzpl7Tot53iiaQ2MGNt44CCXG4jIyMg6ISa5omL5p626aqM5pS2XG7ku4XlhYHorrjkvb/nlKjpqozmlLblkIjmoLznmoTohJrmiYvmnrbvvIzkuKXnpoHkvp3miZjkuI3nqLPlrprnu5PmnoTkvZzkuJrjgILohJrmiYvmnrblpJbnq4vpnaLpnIDlhajlsIHpl63lr4bnm67lvI/lronlhajnvZHvvIznvZHkvZPkuI7mnrbkvZPnu5HmiY7niaLlm7rvvIznjq/miaPpgJDkuKrnqb/nu7Plm7rlrprjgIIiLCJ0cGxpZCI6IjEwMjMyMiIsInRwbE5hbWUiOiJsaXN0M19JbWczIiwiZWRpdGVkIjoiZmFsc2UifQ==</bd:templateData>
    </p:ext>
  </p:extLst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14971" y="1894865"/>
            <a:ext cx="2736832" cy="4238409"/>
          </a:xfrm>
          <a:prstGeom prst="roundRect">
            <a:avLst>
              <a:gd fmla="val 5515" name="adj"/>
            </a:avLst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773709" y="3095761"/>
            <a:ext cx="2419356" cy="2756702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安全带必须系挂在作业面上方牢固支点（如承重钢梁、预埋挂点），严禁系挂移动或不牢固物体（如临时横杆、装饰构件）。遵循“双钩交替”原则，确保坠落时冲击距离最短。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eyJfdGVtcGxhdGVEYXRhIjp7ImNvbnRlbnRUeXBlIjoiJGl0ZW0xX2MiLCJsaW5lQ291bnQiOiI4Iiwid29yZENvdW50IjoiMTEifSwidGFnIjoiJGl0ZW0xX2MifQ==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3471408" y="1902340"/>
            <a:ext cx="2736832" cy="4238409"/>
          </a:xfrm>
          <a:prstGeom prst="roundRect">
            <a:avLst>
              <a:gd fmla="val 5515" name="adj"/>
            </a:avLst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6319687" y="1902340"/>
            <a:ext cx="2736832" cy="4238409"/>
          </a:xfrm>
          <a:prstGeom prst="roundRect">
            <a:avLst>
              <a:gd fmla="val 5515" name="adj"/>
            </a:avLst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9195857" y="1902340"/>
            <a:ext cx="2736832" cy="4238409"/>
          </a:xfrm>
          <a:prstGeom prst="roundRect">
            <a:avLst>
              <a:gd fmla="val 5515" name="adj"/>
            </a:avLst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grpSp>
        <p:nvGrpSpPr>
          <p:cNvPr name="Group 7" id="7"/>
          <p:cNvGrpSpPr/>
          <p:nvPr/>
        </p:nvGrpSpPr>
        <p:grpSpPr>
          <a:xfrm rot="0">
            <a:off x="1360131" y="1650938"/>
            <a:ext cx="1167504" cy="720090"/>
            <a:chOff x="1360131" y="1650938"/>
            <a:chExt cx="1167504" cy="720090"/>
          </a:xfrm>
        </p:grpSpPr>
        <p:sp>
          <p:nvSpPr>
            <p:cNvPr name="AutoShape 8" id="8"/>
            <p:cNvSpPr/>
            <p:nvPr/>
          </p:nvSpPr>
          <p:spPr>
            <a:xfrm rot="0">
              <a:off x="1590527" y="1657626"/>
              <a:ext cx="706713" cy="706713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name="TextBox 9" id="9"/>
            <p:cNvSpPr txBox="true"/>
            <p:nvPr/>
          </p:nvSpPr>
          <p:spPr>
            <a:xfrm rot="0">
              <a:off x="1360131" y="1650938"/>
              <a:ext cx="1167504" cy="720090"/>
            </a:xfrm>
            <a:prstGeom prst="rect">
              <a:avLst/>
            </a:prstGeom>
            <a:ln/>
          </p:spPr>
          <p:txBody>
            <a:bodyPr anchor="ctr" rtlCol="false" lIns="91440" rIns="91440" tIns="45720" bIns="45720" anchorCtr="false" vert="horz" wrap="square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b="true" sz="2400">
                  <a:solidFill>
                    <a:srgbClr val="FFFDFD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01</a:t>
              </a:r>
            </a:p>
          </p:txBody>
          <p:extLst>
            <p:ext uri="http://schemas.baidu.com/office/drawing/2023/templateData">
              <bd:templateData xmlns:bd="http://schemas.baidu.com/office/drawing/2023/templateData">eyJfdGVtcGxhdGVEYXRhIjp7ImxpbmVDb3VudCI6IjEiLCJ3b3JkQ291bnQiOiIyIn19</bd:templateData>
            </p:ext>
          </p:extLst>
        </p:sp>
      </p:grpSp>
      <p:grpSp>
        <p:nvGrpSpPr>
          <p:cNvPr name="Group 10" id="10"/>
          <p:cNvGrpSpPr/>
          <p:nvPr/>
        </p:nvGrpSpPr>
        <p:grpSpPr>
          <a:xfrm rot="0">
            <a:off x="10018333" y="1650938"/>
            <a:ext cx="1167504" cy="720090"/>
            <a:chOff x="10018333" y="1650938"/>
            <a:chExt cx="1167504" cy="720090"/>
          </a:xfrm>
        </p:grpSpPr>
        <p:sp>
          <p:nvSpPr>
            <p:cNvPr name="AutoShape 11" id="11"/>
            <p:cNvSpPr/>
            <p:nvPr/>
          </p:nvSpPr>
          <p:spPr>
            <a:xfrm rot="0">
              <a:off x="10248728" y="1657626"/>
              <a:ext cx="706713" cy="706713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name="TextBox 12" id="12"/>
            <p:cNvSpPr txBox="true"/>
            <p:nvPr/>
          </p:nvSpPr>
          <p:spPr>
            <a:xfrm rot="0">
              <a:off x="10018333" y="1650938"/>
              <a:ext cx="1167504" cy="720090"/>
            </a:xfrm>
            <a:prstGeom prst="rect">
              <a:avLst/>
            </a:prstGeom>
            <a:ln/>
          </p:spPr>
          <p:txBody>
            <a:bodyPr anchor="ctr" rtlCol="false" lIns="91440" rIns="91440" tIns="45720" bIns="45720" anchorCtr="false" vert="horz" wrap="square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b="true" sz="2400">
                  <a:solidFill>
                    <a:srgbClr val="FFFDFD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04</a:t>
              </a:r>
            </a:p>
          </p:txBody>
          <p:extLst>
            <p:ext uri="http://schemas.baidu.com/office/drawing/2023/templateData">
              <bd:templateData xmlns:bd="http://schemas.baidu.com/office/drawing/2023/templateData">eyJfdGVtcGxhdGVEYXRhIjp7ImxpbmVDb3VudCI6IjEiLCJ3b3JkQ291bnQiOiIyIn19</bd:templateData>
            </p:ext>
          </p:extLst>
        </p:sp>
      </p:grpSp>
      <p:grpSp>
        <p:nvGrpSpPr>
          <p:cNvPr name="Group 13" id="13"/>
          <p:cNvGrpSpPr/>
          <p:nvPr/>
        </p:nvGrpSpPr>
        <p:grpSpPr>
          <a:xfrm rot="0">
            <a:off x="7103007" y="1650938"/>
            <a:ext cx="1167504" cy="720090"/>
            <a:chOff x="7103007" y="1650938"/>
            <a:chExt cx="1167504" cy="720090"/>
          </a:xfrm>
        </p:grpSpPr>
        <p:sp>
          <p:nvSpPr>
            <p:cNvPr name="AutoShape 14" id="14"/>
            <p:cNvSpPr/>
            <p:nvPr/>
          </p:nvSpPr>
          <p:spPr>
            <a:xfrm rot="0">
              <a:off x="7333402" y="1657626"/>
              <a:ext cx="706713" cy="706713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name="TextBox 15" id="15"/>
            <p:cNvSpPr txBox="true"/>
            <p:nvPr/>
          </p:nvSpPr>
          <p:spPr>
            <a:xfrm rot="0">
              <a:off x="7103007" y="1650938"/>
              <a:ext cx="1167504" cy="720090"/>
            </a:xfrm>
            <a:prstGeom prst="rect">
              <a:avLst/>
            </a:prstGeom>
            <a:ln/>
          </p:spPr>
          <p:txBody>
            <a:bodyPr anchor="ctr" rtlCol="false" lIns="91440" rIns="91440" tIns="45720" bIns="45720" anchorCtr="false" vert="horz" wrap="square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b="true" sz="2400">
                  <a:solidFill>
                    <a:srgbClr val="FFFDFD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03</a:t>
              </a:r>
            </a:p>
          </p:txBody>
          <p:extLst>
            <p:ext uri="http://schemas.baidu.com/office/drawing/2023/templateData">
              <bd:templateData xmlns:bd="http://schemas.baidu.com/office/drawing/2023/templateData">eyJfdGVtcGxhdGVEYXRhIjp7ImxpbmVDb3VudCI6IjEiLCJ3b3JkQ291bnQiOiIyIn19</bd:templateData>
            </p:ext>
          </p:extLst>
        </p:sp>
      </p:grpSp>
      <p:grpSp>
        <p:nvGrpSpPr>
          <p:cNvPr name="Group 16" id="16"/>
          <p:cNvGrpSpPr/>
          <p:nvPr/>
        </p:nvGrpSpPr>
        <p:grpSpPr>
          <a:xfrm rot="0">
            <a:off x="4246198" y="1650938"/>
            <a:ext cx="1167504" cy="720090"/>
            <a:chOff x="4246198" y="1650938"/>
            <a:chExt cx="1167504" cy="720090"/>
          </a:xfrm>
        </p:grpSpPr>
        <p:sp>
          <p:nvSpPr>
            <p:cNvPr name="AutoShape 17" id="17"/>
            <p:cNvSpPr/>
            <p:nvPr/>
          </p:nvSpPr>
          <p:spPr>
            <a:xfrm rot="0">
              <a:off x="4476594" y="1657626"/>
              <a:ext cx="706713" cy="706713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name="TextBox 18" id="18"/>
            <p:cNvSpPr txBox="true"/>
            <p:nvPr/>
          </p:nvSpPr>
          <p:spPr>
            <a:xfrm rot="0">
              <a:off x="4246198" y="1650938"/>
              <a:ext cx="1167504" cy="720090"/>
            </a:xfrm>
            <a:prstGeom prst="rect">
              <a:avLst/>
            </a:prstGeom>
            <a:ln/>
          </p:spPr>
          <p:txBody>
            <a:bodyPr anchor="ctr" rtlCol="false" lIns="91440" rIns="91440" tIns="45720" bIns="45720" anchorCtr="false" vert="horz" wrap="square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b="true" sz="2400">
                  <a:solidFill>
                    <a:srgbClr val="FFFDFD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02</a:t>
              </a:r>
            </a:p>
          </p:txBody>
          <p:extLst>
            <p:ext uri="http://schemas.baidu.com/office/drawing/2023/templateData">
              <bd:templateData xmlns:bd="http://schemas.baidu.com/office/drawing/2023/templateData">eyJfdGVtcGxhdGVEYXRhIjp7ImxpbmVDb3VudCI6IjEiLCJ3b3JkQ291bnQiOiIyIn19</bd:templateData>
            </p:ext>
          </p:extLst>
        </p:sp>
      </p:grpSp>
      <p:sp>
        <p:nvSpPr>
          <p:cNvPr name="TextBox 19" id="19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安全带、安全帽、防滑鞋的正确使用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20" id="20"/>
          <p:cNvSpPr txBox="true"/>
          <p:nvPr/>
        </p:nvSpPr>
        <p:spPr>
          <a:xfrm rot="0">
            <a:off x="720480" y="2516329"/>
            <a:ext cx="2579041" cy="579431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安全带高挂低用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name="TextBox 21" id="21"/>
          <p:cNvSpPr txBox="true"/>
          <p:nvPr/>
        </p:nvSpPr>
        <p:spPr>
          <a:xfrm rot="0">
            <a:off x="3630149" y="3103235"/>
            <a:ext cx="2419350" cy="2756702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安全帽需调整至合适头围，帽衬与帽壳间距≥25mm，下颌带必须系紧。破损或超使用年限（一般2-3年）的安全帽需及时更换。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eyJfdGVtcGxhdGVEYXRhIjp7ImNvbnRlbnRUeXBlIjoiJGl0ZW0yX2MiLCJsaW5lQ291bnQiOiI4Iiwid29yZENvdW50IjoiMTEifSwidGFnIjoiJGl0ZW0yX2MifQ==</bd:templateData>
          </p:ext>
        </p:extLst>
      </p:sp>
      <p:sp>
        <p:nvSpPr>
          <p:cNvPr name="TextBox 22" id="22"/>
          <p:cNvSpPr txBox="true"/>
          <p:nvPr/>
        </p:nvSpPr>
        <p:spPr>
          <a:xfrm rot="0">
            <a:off x="3685790" y="2523804"/>
            <a:ext cx="2286284" cy="579431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安全帽佩戴规范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eyJfdGVtcGxhdGVEYXRhIjp7ImNvbnRlbnRUeXBlIjoiJGl0ZW0yX3RpdGxlIiwibGluZUNvdW50IjoiMSIsIndvcmRDb3VudCI6IjcifSwidGFnIjoiJGl0ZW0yX3RpdGxlIn0=</bd:templateData>
          </p:ext>
        </p:extLst>
      </p:sp>
      <p:sp>
        <p:nvSpPr>
          <p:cNvPr name="TextBox 23" id="23"/>
          <p:cNvSpPr txBox="true"/>
          <p:nvPr/>
        </p:nvSpPr>
        <p:spPr>
          <a:xfrm rot="0">
            <a:off x="6478428" y="3103235"/>
            <a:ext cx="2419350" cy="2756702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作业人员需穿防滑鞋，鞋底需具备防滑纹路和抗穿刺性能，避免在湿滑或倾斜表面作业时滑倒。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eyJfdGVtcGxhdGVEYXRhIjp7ImNvbnRlbnRUeXBlIjoiJGl0ZW0zX2MiLCJsaW5lQ291bnQiOiI4Iiwid29yZENvdW50IjoiMTEifSwidGFnIjoiJGl0ZW0zX2MifQ==</bd:templateData>
          </p:ext>
        </p:extLst>
      </p:sp>
      <p:sp>
        <p:nvSpPr>
          <p:cNvPr name="TextBox 24" id="24"/>
          <p:cNvSpPr txBox="true"/>
          <p:nvPr/>
        </p:nvSpPr>
        <p:spPr>
          <a:xfrm rot="0">
            <a:off x="6582377" y="2523804"/>
            <a:ext cx="2286284" cy="579431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防滑鞋选择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eyJfdGVtcGxhdGVEYXRhIjp7ImNvbnRlbnRUeXBlIjoiJGl0ZW0zX3RpdGxlIiwibGluZUNvdW50IjoiMSIsIndvcmRDb3VudCI6IjcifSwidGFnIjoiJGl0ZW0zX3RpdGxlIn0=</bd:templateData>
          </p:ext>
        </p:extLst>
      </p:sp>
      <p:sp>
        <p:nvSpPr>
          <p:cNvPr name="TextBox 25" id="25"/>
          <p:cNvSpPr txBox="true"/>
          <p:nvPr/>
        </p:nvSpPr>
        <p:spPr>
          <a:xfrm rot="0">
            <a:off x="9354598" y="3103235"/>
            <a:ext cx="2419350" cy="2756702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防坠器需与垂直生命绳配套，挂点高度≥1.4m，钢丝绳直径≥10mm，跨距≤12m，垂度≥300mm以确保缓冲效果。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eyJfdGVtcGxhdGVEYXRhIjp7ImNvbnRlbnRUeXBlIjoiJGl0ZW00X2MiLCJsaW5lQ291bnQiOiI4Iiwid29yZENvdW50IjoiMTEifSwidGFnIjoiJGl0ZW00X2MifQ==</bd:templateData>
          </p:ext>
        </p:extLst>
      </p:sp>
      <p:sp>
        <p:nvSpPr>
          <p:cNvPr name="TextBox 26" id="26"/>
          <p:cNvSpPr txBox="true"/>
          <p:nvPr/>
        </p:nvSpPr>
        <p:spPr>
          <a:xfrm rot="0">
            <a:off x="9420448" y="2523804"/>
            <a:ext cx="2286284" cy="579431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防坠器配套使用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eyJfdGVtcGxhdGVEYXRhIjp7ImNvbnRlbnRUeXBlIjoiJGl0ZW00X3RpdGxlIiwibGluZUNvdW50IjoiMSIsIndvcmRDb3VudCI6IjcifSwidGFnIjoiJGl0ZW00X3RpdGxlIn0=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ieWFqOW4puOAgeWuieWFqOW4veOAgemYsua7kemei+eahOato+ehruS9v+eUqFxuIyMjIOWuieWFqOW4pumrmOaMguS9jueUqFxu5a6J5YWo5bim5b+F6aG757O75oyC5Zyo5L2c5Lia6Z2i5LiK5pa554mi5Zu65pSv54K577yI5aaC5om/6YeN6ZKi5qKB44CB6aKE5Z+L5oyC54K577yJ77yM5Lil56aB57O75oyC56e75Yqo5oiW5LiN54mi5Zu654mp5L2T77yI5aaC5Li05pe25qiq5p2G44CB6KOF6aWw5p6E5Lu277yJ44CC6YG15b6q4oCc5Y+M6ZKp5Lqk5pu/4oCd5Y6f5YiZ77yM56Gu5L+d5Z2g6JC95pe25Yay5Ye76Led56a75pyA55+t44CCXG4jIyMg5a6J5YWo5bi95L2p5oi06KeE6IyDXG7lronlhajluL3pnIDosIPmlbToh7PlkIjpgILlpLTlm7TvvIzluL3ooazkuI7luL3lo7Ppl7Tot53iiaUyNW1t77yM5LiL6aKM5bim5b+F6aG757O757Sn44CC56C05o2f5oiW6LaF5L2/55So5bm06ZmQ77yI5LiA6IisMi0z5bm077yJ55qE5a6J5YWo5bi96ZyA5Y+K5pe25pu05o2i44CCXG4jIyMg6Ziy5ruR6Z6L6YCJ5oupXG7kvZzkuJrkurrlkZjpnIDnqb/pmLLmu5HpnovvvIzpnovlupXpnIDlhbflpIfpmLLmu5Hnurnot6/lkozmipfnqb/liLrmgKfog73vvIzpgb/lhY3lnKjmub/mu5HmiJblgL7mlpzooajpnaLkvZzkuJrml7bmu5HlgJLjgIJcbiMjIyDpmLLlnaDlmajphY3lpZfkvb/nlKhcbumYsuWdoOWZqOmcgOS4juWeguebtOeUn+WRvee7s+mFjeWll++8jOaMgueCuemrmOW6puKJpTEuNG3vvIzpkqLkuJ3nu7Pnm7TlvoTiiaUxMG1t77yM6Leo6Led4omkMTJt77yM5Z6C5bqm4omlMzAwbW3ku6Xnoa7kv53nvJPlhrLmlYjmnpzjgIIiLCJ0cGxpZCI6IjEwMjMyMiIsInRwbE5hbWUiOiJsaXN0NF8yMzEyMDEwMSIsImVkaXRlZCI6ImZhbHNlIn0=</bd:templateData>
    </p:ext>
  </p:extLst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防护设施的检查与维护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4782" r="4782"/>
          <a:stretch>
            <a:fillRect/>
          </a:stretch>
        </p:blipFill>
        <p:spPr>
          <a:xfrm rot="0">
            <a:off x="8488800" y="1777403"/>
            <a:ext cx="3049996" cy="4216695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 rot="0">
            <a:off x="5335151" y="1777403"/>
            <a:ext cx="3005958" cy="4216695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5" id="5"/>
          <p:cNvSpPr/>
          <p:nvPr/>
        </p:nvSpPr>
        <p:spPr>
          <a:xfrm rot="0">
            <a:off x="5335151" y="1339414"/>
            <a:ext cx="6203645" cy="292757"/>
          </a:xfrm>
          <a:prstGeom prst="roundRect">
            <a:avLst>
              <a:gd fmla="val 45455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720401" y="1296052"/>
            <a:ext cx="3431205" cy="481351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每日作业前检查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09373" y="1732534"/>
            <a:ext cx="4282862" cy="983867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安全网需检查网绳无断裂、节点牢固；防护栏杆需确认横杆无松动、立杆无倾斜；脚手架需排查基础沉降、连接件缺失等问题。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eyJfdGVtcGxhdGVEYXRhIjp7ImNvbnRlbnRUeXBlIjoiJGl0ZW0xX2MiLCJsaW5lQ291bnQiOiIzIiwid29yZENvdW50IjoiMjIifSwidGFnIjoiJGl0ZW0xX2MifQ==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609373" y="3369312"/>
            <a:ext cx="4282862" cy="1010481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安全网每季度进行沙袋冲击测试（100kg沙袋2m高坠落，撕裂口≤0.2m）；安全带每6个月静载荷试验（225kg维持5分钟，无变形破裂）。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eyJfdGVtcGxhdGVEYXRhIjp7ImNvbnRlbnRUeXBlIjoiJGl0ZW0yX2MiLCJsaW5lQ291bnQiOiIzIiwid29yZENvdW50IjoiMjIifSwidGFnIjoiJGl0ZW0yX2MifQ==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609373" y="5010231"/>
            <a:ext cx="4282862" cy="1156860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发现防护设施锈蚀、变形或破损需立即停用并更换。密目网若出现开眼环扣脱落或网目孔径超12mm，必须报废处理。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eyJfdGVtcGxhdGVEYXRhIjp7ImNvbnRlbnRUeXBlIjoiJGl0ZW0zX2MiLCJsaW5lQ291bnQiOiIzIiwid29yZENvdW50IjoiMjIifSwidGFnIjoiJGl0ZW0zX2MifQ==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701351" y="2916535"/>
            <a:ext cx="3431205" cy="481351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定期强度测试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720401" y="4528880"/>
            <a:ext cx="3431205" cy="481351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维护与更换标准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YsuaKpOiuvuaWveeahOajgOafpeS4jue7tOaKpFxuIyMjIOavj+aXpeS9nOS4muWJjeajgOafpVxu5a6J5YWo572R6ZyA5qOA5p+l572R57uz5peg5pat6KOC44CB6IqC54K554mi5Zu677yb6Ziy5oqk5qCP5p2G6ZyA56Gu6K6k5qiq5p2G5peg5p2+5Yqo44CB56uL5p2G5peg5YC+5pac77yb6ISa5omL5p626ZyA5o6S5p+l5Z+656GA5rKJ6ZmN44CB6L+e5o6l5Lu257y65aSx562J6Zeu6aKY44CCXG4jIyMg5a6a5pyf5by65bqm5rWL6K+VXG7lronlhajnvZHmr4/lraPluqbov5vooYzmspnooovlhrLlh7vmtYvor5XvvIgxMDBrZ+aymeiiizJt6auY5Z2g6JC977yM5pKV6KOC5Y+j4omkMC4ybe+8ie+8m+WuieWFqOW4puavjzbkuKrmnIjpnZnovb3ojbfor5XpqozvvIgyMjVrZ+e7tOaMgTXliIbpkp/vvIzml6Dlj5jlvaLnoLToo4LvvInjgIJcbiMjIyDnu7TmiqTkuI7mm7TmjaLmoIflh4ZcbuWPkeeOsOmYsuaKpOiuvuaWvemUiOiagOOAgeWPmOW9ouaIluegtOaNn+mcgOeri+WNs+WBnOeUqOW5tuabtOaNouOAguWvhuebrue9keiLpeWHuueOsOW8gOecvOeOr+aJo+iEseiQveaIlue9keebruWtlOW+hOi2hTEybW3vvIzlv4XpobvmiqXlup/lpITnkIbjgIIiLCJ0cGxpZCI6IjEwMjMyMiIsInRwbE5hbWUiOiJsaXN0M18yMDI1MDcwMzE2IiwiZWRpdGVkIjoiZmFsc2UifQ==</bd:templateData>
    </p:ext>
  </p:extLst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22229" r="22229" t="0"/>
          <a:stretch>
            <a:fillRect/>
          </a:stretch>
        </p:blipFill>
        <p:spPr>
          <a:xfrm rot="0">
            <a:off x="4451873" y="1812219"/>
            <a:ext cx="3287800" cy="3946292"/>
          </a:xfrm>
          <a:prstGeom prst="rect">
            <a:avLst/>
          </a:prstGeom>
          <a:noFill/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595787" y="1726745"/>
            <a:ext cx="3550411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错误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698933" y="2298345"/>
            <a:ext cx="3344120" cy="1504071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低挂高用安全带：系挂点低于作业平面会导致坠落冲击力增大，需纠正为“高挂低用”，优先选择上方混凝土结构或专用锚点。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8065494" y="1713967"/>
            <a:ext cx="3583632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错误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8211865" y="2285568"/>
            <a:ext cx="3290891" cy="1516848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安全网未全封闭：脚手架外立面未全封闭密目网或存在缝隙，需补挂并确保网间重叠≥10cm，绑扎间距≤45cm。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595787" y="4317136"/>
            <a:ext cx="3550411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错误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712714" y="4807470"/>
            <a:ext cx="3316558" cy="1384306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防护栏杆未同步施工：临边防护栏杆滞后于主体施工，需同步安装并验收，严禁临时拆除或挪用。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7972345" y="4317136"/>
            <a:ext cx="3676782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错误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8165290" y="4823328"/>
            <a:ext cx="3290891" cy="1368448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使用非阻燃安全网：施工现场安全网必须为阻燃材质，普通网遇火易蔓延，需更换为符合GB 5725标准的阻燃网。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eyJfdGVtcGxhdGVEYXRhIjp7ImNvbnRlbnRUeXBlIjoiJGl0ZW00X2MiLCJsaW5lQ291bnQiOiI0Iiwid29yZENvdW50IjoiMTUifSwidGFnIjoiJGl0ZW00X2MifQ==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个人防护用品常见错误与纠正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quS6uumYsuaKpOeUqOWTgeW4uOingemUmeivr+S4jue6oOato1xuIyMjIOmUmeivr1xu5L2O5oyC6auY55So5a6J5YWo5bim77ya57O75oyC54K55L2O5LqO5L2c5Lia5bmz6Z2i5Lya5a+86Ie05Z2g6JC95Yay5Ye75Yqb5aKe5aSn77yM6ZyA57qg5q2j5Li64oCc6auY5oyC5L2O55So4oCd77yM5LyY5YWI6YCJ5oup5LiK5pa55re35Yed5Zyf57uT5p6E5oiW5LiT55So6ZSa54K544CCXG4jIyMg6ZSZ6K+vXG7lronlhajnvZHmnKrlhajlsIHpl63vvJrohJrmiYvmnrblpJbnq4vpnaLmnKrlhajlsIHpl63lr4bnm67nvZHmiJblrZjlnKjnvJ3pmpnvvIzpnIDooaXmjILlubbnoa7kv53nvZHpl7Tph43lj6DiiaUxMGNt77yM57uR5omO6Ze06Led4omkNDVjbeOAglxuIyMjIOmUmeivr1xu6Ziy5oqk5qCP5p2G5pyq5ZCM5q2l5pa95bel77ya5Li06L656Ziy5oqk5qCP5p2G5rue5ZCO5LqO5Li75L2T5pa95bel77yM6ZyA5ZCM5q2l5a6J6KOF5bm26aqM5pS277yM5Lil56aB5Li05pe25ouG6Zmk5oiW5oyq55So44CCXG4jIyMg6ZSZ6K+vXG7kvb/nlKjpnZ7pmLvnh4PlronlhajnvZHvvJrmlr3lt6XnjrDlnLrlronlhajnvZHlv4XpobvkuLrpmLvnh4PmnZDotKjvvIzmma7pgJrnvZHpgYfngavmmJPolJPlu7bvvIzpnIDmm7TmjaLkuLrnrKblkIhHQiA1NzI15qCH5YeG55qE6Zi754eD572R44CCIiwidHBsaWQiOiIxMDIzMjIiLCJ0cGxOYW1lIjoibGlzdDRfSW1na20yNDAzMTIwMSIsImVkaXRlZCI6ImZhbHNlIn0=</bd:templateData>
    </p:ext>
  </p:extLst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作业许可与安全操作规程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eyJtZCI6IiMjIOS9nOS4muiuuOWPr+S4juWuieWFqOaTjeS9nOinhOeoiyIsInRwbGlkIjoiMTAyMzIyIiwidHBsTmFtZSI6ImgydGl0bGVfMTAyMzIyIiwiZWRpdGVkIjoiZmFsc2UifQ==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高处作业许可制度流程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537512" y="166430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1300882" y="1463721"/>
            <a:ext cx="6886575" cy="765904"/>
          </a:xfrm>
          <a:prstGeom prst="rect">
            <a:avLst/>
          </a:prstGeom>
          <a:ln/>
        </p:spPr>
        <p:txBody>
          <a:bodyPr anchor="b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分级申请与审批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eyJfdGVtcGxhdGVEYXRhIjp7ImNvbnRlbnRUeXBlIjoiJGl0ZW0xX3RpdGxlIiwibGluZUNvdW50IjoiMSIsIndvcmRDb3VudCI6IjIxIn0sInRhZyI6IiRpdGVtMV90aXRsZSJ9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1300882" y="1998589"/>
            <a:ext cx="6891292" cy="1083679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根据作业高度分为一级（2-5米）、二级（5-15米）、三级（15-30米）及特级（30米以上），一级、二级由作业部门负责人和安全员审核，三级需安全管理部门现场勘查后由安全总监签发，特级需分管副总批准并组织专家论证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eyJfdGVtcGxhdGVEYXRhIjp7ImNvbnRlbnRUeXBlIjoiJGl0ZW0xX2MiLCJsaW5lQ291bnQiOiIzIiwid29yZENvdW50IjoiMzgifSwidGFnIjoiJGl0ZW0xX2MifQ==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537512" y="338462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1300882" y="3182098"/>
            <a:ext cx="6886575" cy="769800"/>
          </a:xfrm>
          <a:prstGeom prst="rect">
            <a:avLst/>
          </a:prstGeom>
          <a:ln/>
        </p:spPr>
        <p:txBody>
          <a:bodyPr anchor="b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JSA风险评估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eyJfdGVtcGxhdGVEYXRhIjp7ImNvbnRlbnRUeXBlIjoiJGl0ZW0yX3RpdGxlIiwibGluZUNvdW50IjoiMSIsIndvcmRDb3VudCI6IjIxIn0sInRhZyI6IiRpdGVtMl90aXRsZSJ9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537512" y="510495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1300882" y="4920230"/>
            <a:ext cx="6886575" cy="734184"/>
          </a:xfrm>
          <a:prstGeom prst="rect">
            <a:avLst/>
          </a:prstGeom>
          <a:ln/>
        </p:spPr>
        <p:txBody>
          <a:bodyPr anchor="b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许可证时效与变更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eyJfdGVtcGxhdGVEYXRhIjp7ImNvbnRlbnRUeXBlIjoiJGl0ZW0zX3RpdGxlIiwibGluZUNvdW50IjoiMSIsIndvcmRDb3VudCI6IjIxIn0sInRhZyI6IiRpdGVtM190aXRsZSJ9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1300882" y="3741456"/>
            <a:ext cx="6891292" cy="1074439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作业前必须由作业负责人、安全人员及骨干开展工作安全分析（JSA），辨识危险源并制定风险削减措施，形成书面JSA worksheet作为许可申请依据。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eyJfdGVtcGxhdGVEYXRhIjp7ImNvbnRlbnRUeXBlIjoiJGl0ZW0yX2MiLCJsaW5lQ291bnQiOiIzIiwid29yZENvdW50IjoiMzgifSwidGFnIjoiJGl0ZW0yX2MifQ==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300882" y="5424019"/>
            <a:ext cx="6891292" cy="109292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许可证有效期不超过8小时，可延期两次（每次≤8小时）；作业人员、内容、环境等变更时需重新办理，严禁超范围或超期使用。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eyJfdGVtcGxhdGVEYXRhIjp7ImNvbnRlbnRUeXBlIjoiJGl0ZW0zX2MiLCJsaW5lQ291bnQiOiIzIiwid29yZENvdW50IjoiMzgifSwidGFnIjoiJGl0ZW0zX2MifQ==</bd:templateData>
          </p:ext>
        </p:extLst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>
            <a:off x="8604472" y="1741145"/>
            <a:ext cx="4421505" cy="4421505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cxnSp>
        <p:nvCxnSpPr>
          <p:cNvPr name="Connector 13" id="13"/>
          <p:cNvCxnSpPr/>
          <p:nvPr/>
        </p:nvCxnSpPr>
        <p:spPr>
          <a:xfrm>
            <a:off x="856577" y="2403263"/>
            <a:ext cx="0" cy="896335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name="Connector 14" id="14"/>
          <p:cNvCxnSpPr/>
          <p:nvPr/>
        </p:nvCxnSpPr>
        <p:spPr>
          <a:xfrm>
            <a:off x="856577" y="4124852"/>
            <a:ext cx="0" cy="896335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name="TextBox 15" id="15"/>
          <p:cNvSpPr txBox="true"/>
          <p:nvPr/>
        </p:nvSpPr>
        <p:spPr>
          <a:xfrm rot="0">
            <a:off x="688937" y="1685237"/>
            <a:ext cx="335280" cy="5962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588925" y="3405562"/>
            <a:ext cx="535305" cy="5962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7" id="17"/>
          <p:cNvSpPr txBox="true"/>
          <p:nvPr/>
        </p:nvSpPr>
        <p:spPr>
          <a:xfrm rot="0">
            <a:off x="588925" y="5125887"/>
            <a:ext cx="535305" cy="5962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rmOWkhOS9nOS4muiuuOWPr+WItuW6pua1geeoi1xuIyMjIOWIhue6p+eUs+ivt+S4juWuoeaJuVxu5qC55o2u5L2c5Lia6auY5bqm5YiG5Li65LiA57qn77yIMi0157Gz77yJ44CB5LqM57qn77yINS0xNeexs++8ieOAgeS4iee6p++8iDE1LTMw57Gz77yJ5Y+K54m557qn77yIMzDnsbPku6XkuIrvvInvvIzkuIDnuqfjgIHkuoznuqfnlLHkvZzkuJrpg6jpl6jotJ/otKPkurrlkozlronlhajlkZjlrqHmoLjvvIzkuInnuqfpnIDlronlhajnrqHnkIbpg6jpl6jnjrDlnLrli5jmn6XlkI7nlLHlronlhajmgLvnm5Hnrb7lj5HvvIznibnnuqfpnIDliIbnrqHlia/mgLvmibnlh4blubbnu4Tnu4fkuJPlrrborrror4HjgIJcbiMjIyBKU0Hpo47pmanor4TkvLBcbuS9nOS4muWJjeW/hemhu+eUseS9nOS4mui0n+i0o+S6uuOAgeWuieWFqOS6uuWRmOWPiumqqOW5suW8gOWxleW3peS9nOWuieWFqOWIhuaekO+8iEpTQe+8ie+8jOi+qOivhuWNsemZqea6kOW5tuWItuWumumjjumZqeWJiuWHj+aOquaWve+8jOW9ouaIkOS5pumdokpTQSB3b3Jrc2hlZXTkvZzkuLrorrjlj6/nlLPor7fkvp3mja7jgIJcbiMjIyDorrjlj6/or4Hml7bmlYjkuI7lj5jmm7RcbuiuuOWPr+ivgeacieaViOacn+S4jei2hei/hzjlsI/ml7bvvIzlj6/lu7bmnJ/kuKTmrKHvvIjmr4/mrKHiiaQ45bCP5pe277yJ77yb5L2c5Lia5Lq65ZGY44CB5YaF5a6544CB546v5aKD562J5Y+Y5pu05pe26ZyA6YeN5paw5Yqe55CG77yM5Lil56aB6LaF6IyD5Zu05oiW6LaF5pyf5L2/55So44CCIiwidHBsaWQiOiIxMDIzMjIiLCJ0cGxOYW1lIjoibGlzdDNfSW1nOCIsImVkaXRlZCI6ImZhbHNlIn0=</bd:templateData>
    </p:ext>
  </p:extLst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作业前安全交底与风险分析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1297192" y="1308287"/>
            <a:ext cx="4348638" cy="60579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全员安全培训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eyJfdGVtcGxhdGVEYXRhIjp7ImNvbnRlbnRUeXBlIjoiJGl0ZW0xX3RpdGxlIiwibGluZUNvdW50IjoiMSIsIndvcmRDb3VudCI6IjE1In0sInRhZyI6IiRpdGVtMV90aXRsZSJ9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1297192" y="1833343"/>
            <a:ext cx="10311874" cy="708938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作业前需对全体参与人员进行专项安全交底，明确作业风险、防护措施及应急流程，并留存签字记录，确保人员熟知高处作业禁忌（如未系安全带、酒后作业等）。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eyJfdGVtcGxhdGVEYXRhIjp7ImNvbnRlbnRUeXBlIjoiJGl0ZW0xX2MiLCJsaW5lQ291bnQiOiIyIiwid29yZENvdW50IjoiNTIifSwidGFnIjoiJGl0ZW0xX2MifQ==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839115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839115" y="2734848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839115" y="5185395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name="Connector 8" id="8"/>
          <p:cNvCxnSpPr/>
          <p:nvPr/>
        </p:nvCxnSpPr>
        <p:spPr>
          <a:xfrm>
            <a:off x="937708" y="1624780"/>
            <a:ext cx="0" cy="5245143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name="AutoShape 9" id="9"/>
          <p:cNvSpPr/>
          <p:nvPr/>
        </p:nvSpPr>
        <p:spPr>
          <a:xfrm rot="0">
            <a:off x="839115" y="395848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1297192" y="2503866"/>
            <a:ext cx="4348638" cy="60579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防护设施验收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eyJfdGVtcGxhdGVEYXRhIjp7ImNvbnRlbnRUeXBlIjoiJGl0ZW0yX3RpdGxlIiwibGluZUNvdW50IjoiMSIsIndvcmRDb3VudCI6IjE1In0sInRhZyI6IiRpdGVtMl90aXRsZSJ9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297192" y="3028921"/>
            <a:ext cx="10311874" cy="708938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检查脚手架验收牌、生命线设置、安全网张挂等硬件是否符合标准（如防护栏杆需承受1000N集中载荷），孔洞盖板需防滑固定，验收不合格禁止作业。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eyJfdGVtcGxhdGVEYXRhIjp7ImNvbnRlbnRUeXBlIjoiJGl0ZW0yX2MiLCJsaW5lQ291bnQiOiIyIiwid29yZENvdW50IjoiNTIifSwidGFnIjoiJGl0ZW0yX2MifQ==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1297192" y="3735521"/>
            <a:ext cx="4348638" cy="60579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个人防护装备核查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eyJfdGVtcGxhdGVEYXRhIjp7ImNvbnRlbnRUeXBlIjoiJGl0ZW0zX3RpdGxlIiwibGluZUNvdW50IjoiMSIsIndvcmRDb3VudCI6IjE1In0sInRhZyI6IiRpdGVtM190aXRsZSJ9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1297192" y="4260576"/>
            <a:ext cx="10311874" cy="708938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逐一检查安全帽（GB2811-2019标准）、全身式安全带（D形环位于背部）、防滑鞋（GB21148标准）等装备完好性，确保无磨损或变形。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eyJfdGVtcGxhdGVEYXRhIjp7ImNvbnRlbnRUeXBlIjoiJGl0ZW0zX2MiLCJsaW5lQ291bnQiOiIyIiwid29yZENvdW50IjoiNTIifSwidGFnIjoiJGl0ZW0zX2MifQ==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1297192" y="4980154"/>
            <a:ext cx="4348638" cy="60579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环境条件评估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eyJfdGVtcGxhdGVEYXRhIjp7ImNvbnRlbnRUeXBlIjoiJGl0ZW00X3RpdGxlIiwibGluZUNvdW50IjoiMSIsIndvcmRDb3VudCI6IjE1In0sInRhZyI6IiRpdGVtNF90aXRsZSJ9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1297192" y="5505210"/>
            <a:ext cx="10311874" cy="708938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监测风速（超过10.8m/s停止作业）、雷电、大雾等天气，高温环境下需安排轮休并配备防暑药品，夜间作业需确保照明覆盖无死角。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eyJfdGVtcGxhdGVEYXRhIjp7ImNvbnRlbnRUeXBlIjoiJGl0ZW00X2MiLCJsaW5lQ291bnQiOiIyIiwid29yZENvdW50IjoiNTIifSwidGFnIjoiJGl0ZW00X2MifQ==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9nOS4muWJjeWuieWFqOS6pOW6leS4jumjjumZqeWIhuaekFxuIyMjIOWFqOWRmOWuieWFqOWfueiurVxu5L2c5Lia5YmN6ZyA5a+55YWo5L2T5Y+C5LiO5Lq65ZGY6L+b6KGM5LiT6aG55a6J5YWo5Lqk5bqV77yM5piO56Gu5L2c5Lia6aOO6Zmp44CB6Ziy5oqk5o6q5pa95Y+K5bqU5oCl5rWB56iL77yM5bm255WZ5a2Y562+5a2X6K6w5b2V77yM56Gu5L+d5Lq65ZGY54af55+l6auY5aSE5L2c5Lia56aB5b+M77yI5aaC5pyq57O75a6J5YWo5bim44CB6YWS5ZCO5L2c5Lia562J77yJ44CCXG4jIyMg6Ziy5oqk6K6+5pa96aqM5pS2XG7mo4Dmn6XohJrmiYvmnrbpqozmlLbniYzjgIHnlJ/lkb3nur/orr7nva7jgIHlronlhajnvZHlvKDmjILnrYnnoazku7bmmK/lkKbnrKblkIjmoIflh4bvvIjlpoLpmLLmiqTmoI/mnYbpnIDmib/lj5cxMDAwTumbhuS4rei9veiNt++8ie+8jOWtlOa0nuebluadv+mcgOmYsua7keWbuuWumu+8jOmqjOaUtuS4jeWQiOagvOemgeatouS9nOS4muOAglxuIyMjIOS4quS6uumYsuaKpOijheWkh+aguOafpVxu6YCQ5LiA5qOA5p+l5a6J5YWo5bi977yIR0IyODExLTIwMTnmoIflh4bvvInjgIHlhajouqvlvI/lronlhajluKbvvIhE5b2i546v5L2N5LqO6IOM6YOo77yJ44CB6Ziy5ruR6Z6L77yIR0IyMTE0OOagh+WHhu+8ieetieijheWkh+WujOWlveaAp++8jOehruS/neaXoOejqOaNn+aIluWPmOW9ouOAglxuIyMjIOeOr+Wig+adoeS7tuivhOS8sFxu55uR5rWL6aOO6YCf77yI6LaF6L+HMTAuOG0vc+WBnOatouS9nOS4mu+8ieOAgembt+eUteOAgeWkp+mbvuetieWkqeawlO+8jOmrmOa4qeeOr+Wig+S4i+mcgOWuieaOkui9ruS8keW5tumFjeWkh+mYsuaakeiNr+WTge+8jOWknOmXtOS9nOS4mumcgOehruS/neeFp+aYjuimhuebluaXoOatu+inkuOAgiIsInRwbGlkIjoiMTAyMzIyIiwidHBsTmFtZSI6Imxpc3Q0X3NhbWVTdHlsZTBwaWMyIiwiZWRpdGVkIjoiZmFsc2UifQ==</bd:templateData>
    </p:ext>
  </p:extLst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作业中的行为规范与禁止事项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 t="2385" b="2385"/>
          <a:stretch>
            <a:fillRect/>
          </a:stretch>
        </p:blipFill>
        <p:spPr>
          <a:xfrm rot="0" flipH="false">
            <a:off x="7991940" y="1518027"/>
            <a:ext cx="3605507" cy="228902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00000"/>
          </a:blip>
          <a:srcRect l="12737" r="12737"/>
          <a:stretch>
            <a:fillRect/>
          </a:stretch>
        </p:blipFill>
        <p:spPr>
          <a:xfrm rot="0" flipH="false">
            <a:off x="7991940" y="3957279"/>
            <a:ext cx="3605507" cy="228902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100000"/>
          </a:blip>
          <a:srcRect t="897" b="897"/>
          <a:stretch>
            <a:fillRect/>
          </a:stretch>
        </p:blipFill>
        <p:spPr>
          <a:xfrm rot="0" flipH="false">
            <a:off x="638095" y="3957279"/>
            <a:ext cx="3496249" cy="228902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name="AutoShape 6" id="6"/>
          <p:cNvSpPr/>
          <p:nvPr/>
        </p:nvSpPr>
        <p:spPr>
          <a:xfrm rot="0">
            <a:off x="638095" y="1518027"/>
            <a:ext cx="3496249" cy="2289021"/>
          </a:xfrm>
          <a:prstGeom prst="rect">
            <a:avLst/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anchor="ctr" rtlCol="false" anchorCtr="false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eyJfdGVtcGxhdGVEYXRhIjp7ImxpbmVDb3VudCI6IjE1Iiwid29yZENvdW50IjoiMjcifSwidGFnIjoibm9FZGl0In0=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625301" y="1689543"/>
            <a:ext cx="3083593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839326" y="1723147"/>
            <a:ext cx="2596996" cy="397304"/>
          </a:xfrm>
          <a:prstGeom prst="rect">
            <a:avLst/>
          </a:prstGeom>
          <a:noFill/>
          <a:ln/>
        </p:spPr>
        <p:txBody>
          <a:bodyPr anchor="ctr" rtlCol="false" lIns="0" rIns="0" tIns="0" bIns="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禁止交叉作业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839326" y="2347530"/>
            <a:ext cx="3143676" cy="1342172"/>
          </a:xfrm>
          <a:prstGeom prst="rect">
            <a:avLst/>
          </a:prstGeom>
          <a:ln/>
        </p:spPr>
        <p:txBody>
          <a:bodyPr anchor="t" rtlCol="false" lIns="0" rIns="0" tIns="0" bIns="0" anchorCtr="false" vert="horz" wrap="square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同一垂直空间内严禁上下层同时作业，确需立体交叉作业时需设置硬质隔离层并安排专人监护。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4311405" y="1518027"/>
            <a:ext cx="3496249" cy="2289021"/>
          </a:xfrm>
          <a:prstGeom prst="rect">
            <a:avLst/>
          </a:prstGeom>
          <a:grp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5549481" y="1689543"/>
            <a:ext cx="1619808" cy="493623"/>
          </a:xfrm>
          <a:prstGeom prst="rect">
            <a:avLst/>
          </a:prstGeom>
          <a:grpFill/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2" id="12"/>
          <p:cNvSpPr/>
          <p:nvPr/>
        </p:nvSpPr>
        <p:spPr>
          <a:xfrm rot="0">
            <a:off x="4311405" y="3957279"/>
            <a:ext cx="3496249" cy="2289021"/>
          </a:xfrm>
          <a:prstGeom prst="rect">
            <a:avLst/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anchor="ctr" rtlCol="false" anchorCtr="false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eyJfdGVtcGxhdGVEYXRhIjp7ImxpbmVDb3VudCI6IjE1Iiwid29yZENvdW50IjoiMjcifSwidGFnIjoibm9FZGl0In0=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4311405" y="1689543"/>
            <a:ext cx="3083593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4" id="14"/>
          <p:cNvSpPr/>
          <p:nvPr/>
        </p:nvSpPr>
        <p:spPr>
          <a:xfrm rot="0">
            <a:off x="4298610" y="4128795"/>
            <a:ext cx="3017058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4512635" y="4176954"/>
            <a:ext cx="2596996" cy="397304"/>
          </a:xfrm>
          <a:prstGeom prst="rect">
            <a:avLst/>
          </a:prstGeom>
          <a:noFill/>
          <a:ln/>
        </p:spPr>
        <p:txBody>
          <a:bodyPr anchor="ctr" rtlCol="false" lIns="0" rIns="0" tIns="0" bIns="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禁止无防护攀爬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4512635" y="4786783"/>
            <a:ext cx="3143676" cy="1355479"/>
          </a:xfrm>
          <a:prstGeom prst="rect">
            <a:avLst/>
          </a:prstGeom>
          <a:ln/>
        </p:spPr>
        <p:txBody>
          <a:bodyPr anchor="t" rtlCol="false" lIns="0" rIns="0" tIns="0" bIns="0" anchorCtr="false" vert="horz" wrap="square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上下高处必须使用验收合格的梯子或脚手架，严禁攀爬结构立柱、管道等非专用攀登设施。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name="TextBox 17" id="17"/>
          <p:cNvSpPr txBox="true"/>
          <p:nvPr/>
        </p:nvSpPr>
        <p:spPr>
          <a:xfrm rot="0">
            <a:off x="4487691" y="2296401"/>
            <a:ext cx="3143676" cy="1393300"/>
          </a:xfrm>
          <a:prstGeom prst="rect">
            <a:avLst/>
          </a:prstGeom>
          <a:ln/>
        </p:spPr>
        <p:txBody>
          <a:bodyPr anchor="t" rtlCol="false" lIns="0" rIns="0" tIns="0" bIns="0" anchorCtr="false" vert="horz" wrap="square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所有工具必须系防坠绳或使用工具袋，重量超过0.5kg的物件禁止徒手传递，需通过吊索或滑轮系统运输。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name="TextBox 18" id="18"/>
          <p:cNvSpPr txBox="true"/>
          <p:nvPr/>
        </p:nvSpPr>
        <p:spPr>
          <a:xfrm rot="0">
            <a:off x="4487691" y="1723147"/>
            <a:ext cx="2596996" cy="397304"/>
          </a:xfrm>
          <a:prstGeom prst="rect">
            <a:avLst/>
          </a:prstGeom>
          <a:noFill/>
          <a:ln/>
        </p:spPr>
        <p:txBody>
          <a:bodyPr anchor="ctr" rtlCol="false" lIns="0" rIns="0" tIns="0" bIns="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工具防坠落管理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eyJfdGVtcGxhdGVEYXRhIjp7ImNvbnRlbnRUeXBlIjoiJGl0ZW0yX3RpdGxlIiwibGluZUNvdW50IjoiMSIsIndvcmRDb3VudCI6IjgifSwidGFnIjoiJGl0ZW0yX3RpdGxlIn0=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9nOS4muS4reeahOihjOS4uuinhOiMg+S4juemgeatouS6i+mhuVxuIyMjIOemgeatouS6pOWPieS9nOS4mlxu5ZCM5LiA5Z6C55u056m66Ze05YaF5Lil56aB5LiK5LiL5bGC5ZCM5pe25L2c5Lia77yM56Gu6ZyA56uL5L2T5Lqk5Y+J5L2c5Lia5pe26ZyA6K6+572u56Gs6LSo6ZqU56a75bGC5bm25a6J5o6S5LiT5Lq655uR5oqk44CCXG4jIyMg5bel5YW36Ziy5Z2g6JC9566h55CGXG7miYDmnInlt6Xlhbflv4Xpobvns7vpmLLlnaDnu7PmiJbkvb/nlKjlt6XlhbfooovvvIzph43ph4/otoXov4cwLjVrZ+eahOeJqeS7tuemgeatouW+kuaJi+S8oOmAku+8jOmcgOmAmui/h+WQiue0ouaIlua7kei9ruezu+e7n+i/kOi+k+OAglxuIyMjIOemgeatouaXoOmYsuaKpOaUgOeIrFxu5LiK5LiL6auY5aSE5b+F6aG75L2/55So6aqM5pS25ZCI5qC855qE5qKv5a2Q5oiW6ISa5omL5p6277yM5Lil56aB5pSA54is57uT5p6E56uL5p+x44CB566h6YGT562J6Z2e5LiT55So5pSA55m76K6+5pa944CCIiwidHBsaWQiOiIxMDIzMjIiLCJ0cGxOYW1lIjoibGlzdDNfMjAyNTA3MDMyMyIsImVkaXRlZCI6ImZhbHNlIn0=</bd:templateData>
    </p:ext>
  </p:extLst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5133975" y="3111977"/>
            <a:ext cx="1394901" cy="634046"/>
          </a:xfrm>
          <a:prstGeom prst="triangl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0" y="0"/>
            <a:ext cx="551840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恶劣天气及特殊环境作业要求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6320801" y="2912195"/>
            <a:ext cx="5048887" cy="674827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作业面照度不低于150勒克斯，需配置应急照明设备，照明方向避免直射作业人员眼睛。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eyJfdGVtcGxhdGVEYXRhIjp7ImNvbnRlbnRUeXBlIjoiJGl0ZW0yX2MiLCJsaW5lQ291bnQiOiIyIiwid29yZENvdW50IjoiMjYifSwidGFnIjoiJGl0ZW0yX2MifQ==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6320801" y="1552233"/>
            <a:ext cx="5048887" cy="632410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风速达6级（10.8m/s）时立即停止作业，临边材料需固定，防止飞落；雷雨天气需撤离至安全区域并断开电源。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eyJfdGVtcGxhdGVEYXRhIjp7ImNvbnRlbnRUeXBlIjoiJGl0ZW0xX2MiLCJsaW5lQ291bnQiOiIyIiwid29yZENvdW50IjoiMjYifSwidGFnIjoiJGl0ZW0xX2MifQ==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320801" y="4240817"/>
            <a:ext cx="5048887" cy="660590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接近带电体作业时需保持安全距离（10kV以下≥1.7米），使用绝缘工具并穿戴绝缘防护用品，设置警示隔离区。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eyJfdGVtcGxhdGVEYXRhIjp7ImNvbnRlbnRUeXBlIjoiJGl0ZW0zX2MiLCJsaW5lQ291bnQiOiIyIiwid29yZENvdW50IjoiMjYifSwidGFnIjoiJGl0ZW0zX2MifQ==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6320801" y="5594674"/>
            <a:ext cx="5048887" cy="660590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无可靠立足点时需设置双挂点生命线，坠落制动距离不超过1.8米，每名作业人员独立使用锚点。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eyJfdGVtcGxhdGVEYXRhIjp7ImNvbnRlbnRUeXBlIjoiJGl0ZW00X2MiLCJsaW5lQ291bnQiOiIyIiwid29yZENvdW50IjoiMjYifSwidGFnIjoiJGl0ZW00X2MifQ==</bd:templateData>
          </p:ext>
        </p:extLst>
      </p:sp>
      <p:cxnSp>
        <p:nvCxnSpPr>
          <p:cNvPr name="Connector 9" id="9"/>
          <p:cNvCxnSpPr/>
          <p:nvPr/>
        </p:nvCxnSpPr>
        <p:spPr>
          <a:xfrm>
            <a:off x="6440470" y="2438060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name="Connector 10" id="10"/>
          <p:cNvCxnSpPr/>
          <p:nvPr/>
        </p:nvCxnSpPr>
        <p:spPr>
          <a:xfrm>
            <a:off x="6449960" y="3753923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name="Connector 11" id="11"/>
          <p:cNvCxnSpPr/>
          <p:nvPr/>
        </p:nvCxnSpPr>
        <p:spPr>
          <a:xfrm>
            <a:off x="6449960" y="5081946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17163" r="17163"/>
          <a:stretch>
            <a:fillRect/>
          </a:stretch>
        </p:blipFill>
        <p:spPr>
          <a:xfrm rot="0" flipH="false">
            <a:off x="1317535" y="1990725"/>
            <a:ext cx="2876550" cy="28765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13" id="13"/>
          <p:cNvSpPr/>
          <p:nvPr/>
        </p:nvSpPr>
        <p:spPr>
          <a:xfrm rot="0">
            <a:off x="6450879" y="1179728"/>
            <a:ext cx="4282862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大风天气限制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eyJfdGVtcGxhdGVEYXRhIjp7ImNvbnRlbnRUeXBlIjoiJGl0ZW0xX3RpdGxlIiwibGluZUNvdW50IjoiMSIsIndvcmRDb3VudCI6IjE2In0sInRhZyI6IiRpdGVtMV90aXRsZSJ9</bd:templateData>
          </p:ext>
        </p:extLst>
      </p:sp>
      <p:sp>
        <p:nvSpPr>
          <p:cNvPr name="AutoShape 14" id="14"/>
          <p:cNvSpPr/>
          <p:nvPr/>
        </p:nvSpPr>
        <p:spPr>
          <a:xfrm rot="0">
            <a:off x="6450879" y="2575756"/>
            <a:ext cx="4282862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夜间作业照明标准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eyJfdGVtcGxhdGVEYXRhIjp7ImNvbnRlbnRUeXBlIjoiJGl0ZW0yX3RpdGxlIiwibGluZUNvdW50IjoiMSIsIndvcmRDb3VudCI6IjE2In0sInRhZyI6IiRpdGVtMl90aXRsZSJ9</bd:templateData>
          </p:ext>
        </p:extLst>
      </p:sp>
      <p:sp>
        <p:nvSpPr>
          <p:cNvPr name="AutoShape 15" id="15"/>
          <p:cNvSpPr/>
          <p:nvPr/>
        </p:nvSpPr>
        <p:spPr>
          <a:xfrm rot="0">
            <a:off x="6450879" y="3899082"/>
            <a:ext cx="4282862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带电作业防护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eyJfdGVtcGxhdGVEYXRhIjp7ImNvbnRlbnRUeXBlIjoiJGl0ZW0zX3RpdGxlIiwibGluZUNvdW50IjoiMSIsIndvcmRDb3VudCI6IjE2In0sInRhZyI6IiRpdGVtM190aXRsZSJ9</bd:templateData>
          </p:ext>
        </p:extLst>
      </p:sp>
      <p:sp>
        <p:nvSpPr>
          <p:cNvPr name="AutoShape 16" id="16"/>
          <p:cNvSpPr/>
          <p:nvPr/>
        </p:nvSpPr>
        <p:spPr>
          <a:xfrm rot="0">
            <a:off x="6450879" y="5195893"/>
            <a:ext cx="4282862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悬空作业锚固点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eyJfdGVtcGxhdGVEYXRhIjp7ImNvbnRlbnRUeXBlIjoiJGl0ZW00X3RpdGxlIiwibGluZUNvdW50IjoiMSIsIndvcmRDb3VudCI6IjE2In0sInRhZyI6IiRpdGVtNF90aXRsZSJ9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BtuWKo+WkqeawlOWPiueJueauiueOr+Wig+S9nOS4muimgeaxglxuIyMjIOWkp+mjjuWkqeawlOmZkOWItlxu6aOO6YCf6L6+Nue6p++8iDEwLjhtL3PvvInml7bnq4vljbPlgZzmraLkvZzkuJrvvIzkuLTovrnmnZDmlpnpnIDlm7rlrprvvIzpmLLmraLpo57okL3vvJvpm7fpm6jlpKnmsJTpnIDmkqTnprvoh7PlronlhajljLrln5/lubbmlq3lvIDnlLXmupDjgIJcbiMjIyDlpJzpl7TkvZzkuJrnhafmmI7moIflh4ZcbuS9nOS4mumdoueFp+W6puS4jeS9juS6jjE1MOWLkuWFi+aWr++8jOmcgOmFjee9ruW6lOaApeeFp+aYjuiuvuWkh++8jOeFp+aYjuaWueWQkemBv+WFjeebtOWwhOS9nOS4muS6uuWRmOecvOedm+OAglxuIyMjIOW4pueUteS9nOS4mumYsuaKpFxu5o6l6L+R5bim55S15L2T5L2c5Lia5pe26ZyA5L+d5oyB5a6J5YWo6Led56a777yIMTBrVuS7peS4i+KJpTEuN+exs++8ie+8jOS9v+eUqOe7nee8mOW3peWFt+W5tuepv+aItOe7nee8mOmYsuaKpOeUqOWTge+8jOiuvue9ruitpuekuumalOemu+WMuuOAglxuIyMjIOaCrOepuuS9nOS4mumUmuWbuueCuVxu5peg5Y+v6Z2g56uL6Laz54K55pe26ZyA6K6+572u5Y+M5oyC54K555Sf5ZG957q/77yM5Z2g6JC95Yi25Yqo6Led56a75LiN6LaF6L+HMS4457Gz77yM5q+P5ZCN5L2c5Lia5Lq65ZGY54us56uL5L2/55So6ZSa54K544CCIiwidHBsaWQiOiIxMDIzMjIiLCJ0cGxOYW1lIjoibGlzdDRfMjAyNTA2MjYwOCIsImVkaXRlZCI6ImZhbHNlIn0=</bd:templateData>
    </p:ext>
  </p:extLst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42508" y="4938029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4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工具与材料传递的安全要点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1145518" y="1368625"/>
            <a:ext cx="9900511" cy="4391356"/>
          </a:xfrm>
          <a:prstGeom prst="roundRect">
            <a:avLst>
              <a:gd fmla="val 6364" name="adj"/>
            </a:avLst>
          </a:prstGeom>
          <a:gradFill>
            <a:gsLst>
              <a:gs pos="0">
                <a:schemeClr val="lt2">
                  <a:alpha val="0"/>
                </a:schemeClr>
              </a:gs>
              <a:gs pos="96000">
                <a:schemeClr val="lt2">
                  <a:alpha val="100000"/>
                </a:schemeClr>
              </a:gs>
            </a:gsLst>
            <a:lin ang="16200000"/>
          </a:gradFill>
          <a:ln w="190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642508" y="5173915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1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7861021" y="1599594"/>
            <a:ext cx="2967836" cy="492557"/>
          </a:xfrm>
          <a:prstGeom prst="rect">
            <a:avLst/>
          </a:prstGeom>
          <a:noFill/>
          <a:ln/>
        </p:spPr>
        <p:txBody>
          <a:bodyPr anchor="t" rtlCol="false" tIns="45720" lIns="76200" bIns="45720" rIns="91440" anchorCtr="true" vert="horz" wrap="square">
            <a:noAutofit/>
          </a:bodyPr>
          <a:lstStyle/>
          <a:p>
            <a:pPr algn="ctr"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防滑防散落措施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7861021" y="2092152"/>
            <a:ext cx="2967836" cy="155638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松散材料（如螺栓、垫片）需用容器盛装并封盖，钢管等长件物料两端需绑扎平衡，防止滑脱或旋转失控。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eyJfdGVtcGxhdGVEYXRhIjp7ImNvbnRlbnRUeXBlIjoiJGl0ZW0zX2MiLCJsaW5lQ291bnQiOiI1Iiwid29yZENvdW50IjoiMTUifSwidGFnIjoiJGl0ZW0zX2MifQ==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8150097" y="3815610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alphaModFix amt="100000"/>
          </a:blip>
          <a:srcRect t="12116" b="12116"/>
          <a:stretch>
            <a:fillRect/>
          </a:stretch>
        </p:blipFill>
        <p:spPr>
          <a:xfrm rot="0" flipH="false">
            <a:off x="8089903" y="3872142"/>
            <a:ext cx="2510071" cy="12678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name="AutoShape 10" id="10"/>
          <p:cNvSpPr/>
          <p:nvPr/>
        </p:nvSpPr>
        <p:spPr>
          <a:xfrm rot="0">
            <a:off x="8868689" y="480748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4619178" y="1616124"/>
            <a:ext cx="2913571" cy="492557"/>
          </a:xfrm>
          <a:prstGeom prst="rect">
            <a:avLst/>
          </a:prstGeom>
          <a:noFill/>
          <a:ln/>
        </p:spPr>
        <p:txBody>
          <a:bodyPr anchor="t" rtlCol="false" tIns="45720" lIns="76200" bIns="45720" rIns="91440" anchorCtr="true" vert="horz" wrap="square">
            <a:noAutofit/>
          </a:bodyPr>
          <a:lstStyle/>
          <a:p>
            <a:pPr algn="ctr"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传递区域隔离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eyJfdGVtcGxhdGVEYXRhIjp7ImNvbnRlbnRUeXBlIjoiJGl0ZW0yX3RpdGxlIiwibGluZUNvdW50IjoiMSIsIndvcmRDb3VudCI6IjgifSwidGFnIjoiJGl0ZW0yX3RpdGxlIn0=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619178" y="2108682"/>
            <a:ext cx="2913571" cy="155638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物料传递下方设置警戒区（半径≥1.5倍作业高度），专人监护禁止交叉通行，小型工具使用工具桶垂直运输。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eyJfdGVtcGxhdGVEYXRhIjp7ImNvbnRlbnRUeXBlIjoiJGl0ZW0yX2MiLCJsaW5lQ291bnQiOiI1Iiwid29yZENvdW50IjoiMTUifSwidGFnIjoiJGl0ZW0yX2MifQ==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4908116" y="3803564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alphaModFix amt="100000"/>
          </a:blip>
          <a:srcRect t="4744" b="4744"/>
          <a:stretch>
            <a:fillRect/>
          </a:stretch>
        </p:blipFill>
        <p:spPr>
          <a:xfrm rot="0" flipH="false">
            <a:off x="4806514" y="3896014"/>
            <a:ext cx="2726235" cy="148465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AutoShape 15" id="15"/>
          <p:cNvSpPr/>
          <p:nvPr/>
        </p:nvSpPr>
        <p:spPr>
          <a:xfrm rot="0">
            <a:off x="7694254" y="232059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6" id="16"/>
          <p:cNvSpPr/>
          <p:nvPr/>
        </p:nvSpPr>
        <p:spPr>
          <a:xfrm rot="0">
            <a:off x="5693382" y="508670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7" id="17"/>
          <p:cNvSpPr/>
          <p:nvPr/>
        </p:nvSpPr>
        <p:spPr>
          <a:xfrm rot="0">
            <a:off x="5972877" y="5366195"/>
            <a:ext cx="393511" cy="393511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8" id="18"/>
          <p:cNvSpPr/>
          <p:nvPr/>
        </p:nvSpPr>
        <p:spPr>
          <a:xfrm rot="0">
            <a:off x="9165292" y="5094559"/>
            <a:ext cx="359293" cy="359293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130883" y="184766"/>
                </a:moveTo>
                <a:lnTo>
                  <a:pt x="35557" y="89516"/>
                </a:lnTo>
                <a:cubicBezTo>
                  <a:pt x="-11849" y="144323"/>
                  <a:pt x="-11849" y="225219"/>
                  <a:pt x="35557" y="280016"/>
                </a:cubicBezTo>
                <a:lnTo>
                  <a:pt x="130883" y="184766"/>
                </a:lnTo>
                <a:close/>
              </a:path>
              <a:path h="304800" w="304800">
                <a:moveTo>
                  <a:pt x="190510" y="39605"/>
                </a:moveTo>
                <a:lnTo>
                  <a:pt x="190510" y="179108"/>
                </a:lnTo>
                <a:lnTo>
                  <a:pt x="91907" y="277749"/>
                </a:lnTo>
                <a:cubicBezTo>
                  <a:pt x="114081" y="294303"/>
                  <a:pt x="141018" y="304800"/>
                  <a:pt x="170783" y="304800"/>
                </a:cubicBezTo>
                <a:cubicBezTo>
                  <a:pt x="244821" y="304800"/>
                  <a:pt x="304800" y="244897"/>
                  <a:pt x="304800" y="170888"/>
                </a:cubicBezTo>
                <a:cubicBezTo>
                  <a:pt x="304810" y="103661"/>
                  <a:pt x="254965" y="49187"/>
                  <a:pt x="190510" y="39605"/>
                </a:cubicBezTo>
                <a:close/>
              </a:path>
              <a:path h="304800" w="304800">
                <a:moveTo>
                  <a:pt x="152400" y="152552"/>
                </a:moveTo>
                <a:lnTo>
                  <a:pt x="152400" y="0"/>
                </a:lnTo>
                <a:cubicBezTo>
                  <a:pt x="110881" y="2572"/>
                  <a:pt x="73371" y="18459"/>
                  <a:pt x="43082" y="43215"/>
                </a:cubicBezTo>
                <a:lnTo>
                  <a:pt x="152400" y="152552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9" id="19"/>
          <p:cNvSpPr/>
          <p:nvPr/>
        </p:nvSpPr>
        <p:spPr>
          <a:xfrm rot="0">
            <a:off x="1378393" y="1632654"/>
            <a:ext cx="2955042" cy="492557"/>
          </a:xfrm>
          <a:prstGeom prst="rect">
            <a:avLst/>
          </a:prstGeom>
          <a:noFill/>
          <a:ln/>
        </p:spPr>
        <p:txBody>
          <a:bodyPr anchor="t" rtlCol="false" tIns="45720" lIns="76200" bIns="45720" rIns="91440" anchorCtr="true" vert="horz" wrap="square">
            <a:noAutofit/>
          </a:bodyPr>
          <a:lstStyle/>
          <a:p>
            <a:pPr algn="ctr"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吊运方案审核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name="TextBox 20" id="20"/>
          <p:cNvSpPr txBox="true"/>
          <p:nvPr/>
        </p:nvSpPr>
        <p:spPr>
          <a:xfrm rot="0">
            <a:off x="1471799" y="2125212"/>
            <a:ext cx="2768229" cy="155638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重量超过50kg的物料需制定专项吊运方案，明确吊点、索具规格及信号指挥人员，经安全部门批准后实施。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eyJfdGVtcGxhdGVEYXRhIjp7ImNvbnRlbnRUeXBlIjoiJGl0ZW0xX2MiLCJsaW5lQ291bnQiOiI1Iiwid29yZENvdW50IjoiMTQifSwidGFnIjoiJGl0ZW0xX2MifQ==</bd:templateData>
          </p:ext>
        </p:extLst>
      </p:sp>
      <p:sp>
        <p:nvSpPr>
          <p:cNvPr name="AutoShape 21" id="21"/>
          <p:cNvSpPr/>
          <p:nvPr/>
        </p:nvSpPr>
        <p:spPr>
          <a:xfrm rot="0">
            <a:off x="1537210" y="3848669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>
            <a:alphaModFix amt="100000"/>
          </a:blip>
          <a:srcRect t="32811" b="32811"/>
          <a:stretch>
            <a:fillRect/>
          </a:stretch>
        </p:blipFill>
        <p:spPr>
          <a:xfrm rot="0" flipH="false">
            <a:off x="1617020" y="3905202"/>
            <a:ext cx="2458663" cy="12678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23" id="23"/>
          <p:cNvSpPr/>
          <p:nvPr/>
        </p:nvSpPr>
        <p:spPr>
          <a:xfrm rot="0">
            <a:off x="4466364" y="233712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4" id="24"/>
          <p:cNvSpPr/>
          <p:nvPr/>
        </p:nvSpPr>
        <p:spPr>
          <a:xfrm rot="0">
            <a:off x="2370102" y="484054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25" id="25"/>
          <p:cNvSpPr/>
          <p:nvPr/>
        </p:nvSpPr>
        <p:spPr>
          <a:xfrm rot="0">
            <a:off x="2582871" y="5053309"/>
            <a:ext cx="526963" cy="526963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3peWFt+S4juadkOaWmeS8oOmAkueahOWuieWFqOimgeeCuVxuIyMjIOWQiui/kOaWueahiOWuoeaguFxu6YeN6YeP6LaF6L+HNTBrZ+eahOeJqeaWmemcgOWItuWumuS4k+mhueWQiui/kOaWueahiO+8jOaYjuehruWQiueCueOAgee0ouWFt+inhOagvOWPiuS/oeWPt+aMh+aMpeS6uuWRmO+8jOe7j+WuieWFqOmDqOmXqOaJueWHhuWQjuWunuaWveOAglxuIyMjIOS8oOmAkuWMuuWfn+malOemu1xu54mp5paZ5Lyg6YCS5LiL5pa56K6+572u6K2m5oiS5Yy677yI5Y2K5b6E4omlMS415YCN5L2c5Lia6auY5bqm77yJ77yM5LiT5Lq655uR5oqk56aB5q2i5Lqk5Y+J6YCa6KGM77yM5bCP5Z6L5bel5YW35L2/55So5bel5YW35qG25Z6C55u06L+Q6L6T44CCXG4jIyMg6Ziy5ruR6Ziy5pWj6JC95o6q5pa9XG7mnb7mlaPmnZDmlpnvvIjlpoLonrrmoJPjgIHlnqvniYfvvInpnIDnlKjlrrnlmajnm5voo4XlubblsIHnm5bvvIzpkqLnrqHnrYnplb/ku7bnianmlpnkuKTnq6/pnIDnu5HmiY7lubPooaHvvIzpmLLmraLmu5HohLHmiJbml4vovazlpLHmjqfjgIIiLCJ0cGxpZCI6IjEwMjMyMiIsInRwbE5hbWUiOiJsaXN0M18yMDI1MDcwMTA3IiwiZWRpdGVkIjoiZmFsc2UifQ==</bd:templateData>
    </p:ext>
  </p:extLst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事故预防与应急措施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eyJtZCI6IiMjIOS6i+aVhemihOmYsuS4juW6lOaApeaOquaWvSIsInRwbGlkIjoiMTAyMzIyIiwidHBsTmFtZSI6ImgydGl0bGVfMTAyMzIyIiwiZWRpdGVkIjoiZmFsc2UifQ==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>
            <a:off x="4394200" y="1962150"/>
            <a:ext cx="1685925" cy="1676400"/>
          </a:xfrm>
          <a:custGeom>
            <a:avLst/>
            <a:gdLst/>
            <a:ahLst/>
            <a:cxnLst/>
            <a:rect r="r" b="b" t="t" l="l"/>
            <a:pathLst>
              <a:path h="1676401" w="1685845">
                <a:moveTo>
                  <a:pt x="1685845" y="27"/>
                </a:moveTo>
                <a:cubicBezTo>
                  <a:pt x="1684537" y="232115"/>
                  <a:pt x="1683230" y="464204"/>
                  <a:pt x="1681922" y="696292"/>
                </a:cubicBezTo>
                <a:cubicBezTo>
                  <a:pt x="1421024" y="694822"/>
                  <a:pt x="1170307" y="797433"/>
                  <a:pt x="985303" y="981399"/>
                </a:cubicBezTo>
                <a:cubicBezTo>
                  <a:pt x="800299" y="1165364"/>
                  <a:pt x="696276" y="1415499"/>
                  <a:pt x="696276" y="1676401"/>
                </a:cubicBezTo>
                <a:lnTo>
                  <a:pt x="0" y="1676400"/>
                </a:lnTo>
                <a:cubicBezTo>
                  <a:pt x="0" y="1341716"/>
                  <a:pt x="100080" y="1017391"/>
                  <a:pt x="283614" y="743402"/>
                </a:cubicBezTo>
                <a:lnTo>
                  <a:pt x="326098" y="686287"/>
                </a:lnTo>
                <a:lnTo>
                  <a:pt x="222801" y="399824"/>
                </a:lnTo>
                <a:lnTo>
                  <a:pt x="531767" y="453989"/>
                </a:lnTo>
                <a:lnTo>
                  <a:pt x="618095" y="376276"/>
                </a:lnTo>
                <a:cubicBezTo>
                  <a:pt x="918260" y="131924"/>
                  <a:pt x="1295386" y="-2173"/>
                  <a:pt x="1685845" y="27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3" id="3"/>
          <p:cNvSpPr/>
          <p:nvPr/>
        </p:nvSpPr>
        <p:spPr>
          <a:xfrm rot="5400000">
            <a:off x="6143625" y="1966913"/>
            <a:ext cx="1685925" cy="1676400"/>
          </a:xfrm>
          <a:custGeom>
            <a:avLst/>
            <a:gdLst/>
            <a:ahLst/>
            <a:cxnLst/>
            <a:rect r="r" b="b" t="t" l="l"/>
            <a:pathLst>
              <a:path h="1676401" w="1685845">
                <a:moveTo>
                  <a:pt x="0" y="1676400"/>
                </a:moveTo>
                <a:cubicBezTo>
                  <a:pt x="0" y="1285935"/>
                  <a:pt x="136219" y="909570"/>
                  <a:pt x="382258" y="610787"/>
                </a:cubicBezTo>
                <a:lnTo>
                  <a:pt x="437390" y="550233"/>
                </a:lnTo>
                <a:lnTo>
                  <a:pt x="357434" y="249447"/>
                </a:lnTo>
                <a:lnTo>
                  <a:pt x="675579" y="334017"/>
                </a:lnTo>
                <a:lnTo>
                  <a:pt x="751263" y="278380"/>
                </a:lnTo>
                <a:cubicBezTo>
                  <a:pt x="1026282" y="96392"/>
                  <a:pt x="1351166" y="-1859"/>
                  <a:pt x="1685845" y="27"/>
                </a:cubicBezTo>
                <a:cubicBezTo>
                  <a:pt x="1684537" y="232115"/>
                  <a:pt x="1683230" y="464204"/>
                  <a:pt x="1681922" y="696292"/>
                </a:cubicBezTo>
                <a:cubicBezTo>
                  <a:pt x="1421024" y="694822"/>
                  <a:pt x="1170307" y="797433"/>
                  <a:pt x="985303" y="981399"/>
                </a:cubicBezTo>
                <a:cubicBezTo>
                  <a:pt x="800299" y="1165364"/>
                  <a:pt x="696276" y="1415499"/>
                  <a:pt x="696276" y="1676401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4" id="4"/>
          <p:cNvSpPr/>
          <p:nvPr/>
        </p:nvSpPr>
        <p:spPr>
          <a:xfrm rot="10800000">
            <a:off x="6138863" y="3733800"/>
            <a:ext cx="1685925" cy="1676400"/>
          </a:xfrm>
          <a:custGeom>
            <a:avLst/>
            <a:gdLst/>
            <a:ahLst/>
            <a:cxnLst/>
            <a:rect r="r" b="b" t="t" l="l"/>
            <a:pathLst>
              <a:path h="1676401" w="1685845">
                <a:moveTo>
                  <a:pt x="696276" y="1676401"/>
                </a:moveTo>
                <a:lnTo>
                  <a:pt x="0" y="1676400"/>
                </a:lnTo>
                <a:cubicBezTo>
                  <a:pt x="0" y="1341716"/>
                  <a:pt x="100080" y="1017391"/>
                  <a:pt x="283614" y="743402"/>
                </a:cubicBezTo>
                <a:lnTo>
                  <a:pt x="284783" y="741830"/>
                </a:lnTo>
                <a:lnTo>
                  <a:pt x="159770" y="469217"/>
                </a:lnTo>
                <a:lnTo>
                  <a:pt x="484566" y="498419"/>
                </a:lnTo>
                <a:lnTo>
                  <a:pt x="494350" y="487672"/>
                </a:lnTo>
                <a:cubicBezTo>
                  <a:pt x="810781" y="173019"/>
                  <a:pt x="1239606" y="-2487"/>
                  <a:pt x="1685845" y="27"/>
                </a:cubicBezTo>
                <a:cubicBezTo>
                  <a:pt x="1684537" y="232115"/>
                  <a:pt x="1683230" y="464204"/>
                  <a:pt x="1681922" y="696292"/>
                </a:cubicBezTo>
                <a:cubicBezTo>
                  <a:pt x="1421024" y="694822"/>
                  <a:pt x="1170307" y="797433"/>
                  <a:pt x="985303" y="981399"/>
                </a:cubicBezTo>
                <a:cubicBezTo>
                  <a:pt x="800299" y="1165364"/>
                  <a:pt x="696276" y="1415499"/>
                  <a:pt x="696276" y="1676401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5" id="5"/>
          <p:cNvSpPr/>
          <p:nvPr/>
        </p:nvSpPr>
        <p:spPr>
          <a:xfrm rot="16200000">
            <a:off x="4389437" y="3729038"/>
            <a:ext cx="1685925" cy="1676400"/>
          </a:xfrm>
          <a:custGeom>
            <a:avLst/>
            <a:gdLst/>
            <a:ahLst/>
            <a:cxnLst/>
            <a:rect r="r" b="b" t="t" l="l"/>
            <a:pathLst>
              <a:path h="1676401" w="1685845">
                <a:moveTo>
                  <a:pt x="1685845" y="27"/>
                </a:moveTo>
                <a:cubicBezTo>
                  <a:pt x="1684537" y="232115"/>
                  <a:pt x="1683230" y="464204"/>
                  <a:pt x="1681922" y="696292"/>
                </a:cubicBezTo>
                <a:cubicBezTo>
                  <a:pt x="1421024" y="694822"/>
                  <a:pt x="1170307" y="797433"/>
                  <a:pt x="985303" y="981399"/>
                </a:cubicBezTo>
                <a:cubicBezTo>
                  <a:pt x="800299" y="1165364"/>
                  <a:pt x="696276" y="1415499"/>
                  <a:pt x="696276" y="1676401"/>
                </a:cubicBezTo>
                <a:lnTo>
                  <a:pt x="0" y="1676400"/>
                </a:lnTo>
                <a:cubicBezTo>
                  <a:pt x="0" y="1230154"/>
                  <a:pt x="177919" y="802325"/>
                  <a:pt x="494350" y="487672"/>
                </a:cubicBezTo>
                <a:lnTo>
                  <a:pt x="548831" y="438628"/>
                </a:lnTo>
                <a:lnTo>
                  <a:pt x="466941" y="130569"/>
                </a:lnTo>
                <a:lnTo>
                  <a:pt x="835339" y="228498"/>
                </a:lnTo>
                <a:lnTo>
                  <a:pt x="892743" y="194440"/>
                </a:lnTo>
                <a:cubicBezTo>
                  <a:pt x="1134849" y="66424"/>
                  <a:pt x="1406946" y="-1544"/>
                  <a:pt x="1685845" y="27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16675" r="16675" t="0" b="0"/>
          <a:stretch>
            <a:fillRect/>
          </a:stretch>
        </p:blipFill>
        <p:spPr>
          <a:xfrm rot="0">
            <a:off x="5175250" y="2743200"/>
            <a:ext cx="1885950" cy="1885950"/>
          </a:xfrm>
          <a:prstGeom prst="ellipse">
            <a:avLst/>
          </a:prstGeom>
          <a:noFill/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7" id="7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坠落防护双重保护原则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863500" y="1773916"/>
            <a:ext cx="3313333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个人防护与集体防护结合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eyJfdGVtcGxhdGVEYXRhIjp7ImNvbnRlbnRUeXBlIjoiJGl0ZW0xX3RpdGxlIiwibGluZUNvdW50IjoiMSIsIndvcmRDb3VudCI6IjExIn0sInRhZyI6IiRpdGVtMV90aXRsZSJ9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863500" y="2191669"/>
            <a:ext cx="3313333" cy="1449697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高空作业必须同时使用安全带（个人防护）和安全网/防护栏（集体防护），确保一种防护失效时另一种仍能提供保护。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6723094" y="2303033"/>
            <a:ext cx="792249" cy="792480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b="true" sz="2975">
                <a:solidFill>
                  <a:srgbClr val="FDFE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eyJfdGVtcGxhdGVEYXRhIjp7ImNvbnRlbnRUeXBlIjoiIiwibGluZUNvdW50IjoiMSIsIndvcmRDb3VudCI6IjEifSwidGFnIjoibm9FZGl0In0=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6770719" y="4166235"/>
            <a:ext cx="792249" cy="792480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b="true" sz="2975">
                <a:solidFill>
                  <a:srgbClr val="FDFE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eyJfdGVtcGxhdGVEYXRhIjp7ImNvbnRlbnRUeXBlIjoiIiwibGluZUNvdW50IjoiMSIsIndvcmRDb3VudCI6IjEifSwidGFnIjoibm9FZGl0In0=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624560" y="4097553"/>
            <a:ext cx="792249" cy="792480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b="true" sz="2975">
                <a:solidFill>
                  <a:srgbClr val="FDFE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eyJfdGVtcGxhdGVEYXRhIjp7ImNvbnRlbnRUeXBlIjoiIiwibGluZUNvdW50IjoiMSIsIndvcmRDb3VudCI6IjEifSwidGFnIjoibm9FZGl0In0=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4702127" y="2312558"/>
            <a:ext cx="792249" cy="792480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b="true" sz="2975">
                <a:solidFill>
                  <a:srgbClr val="FDFE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eyJfdGVtcGxhdGVEYXRhIjp7ImNvbnRlbnRUeXBlIjoiIiwibGluZUNvdW50IjoiMSIsIndvcmRDb3VudCI6IjEifSwidGFnIjoibm9FZGl0In0=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863500" y="4180585"/>
            <a:ext cx="3313333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双钩交替作业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eyJfdGVtcGxhdGVEYXRhIjp7ImNvbnRlbnRUeXBlIjoiJGl0ZW0zX3RpdGxlIiwibGluZUNvdW50IjoiMSIsIndvcmRDb3VudCI6IjExIn0sInRhZyI6IiRpdGVtM190aXRsZSJ9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863500" y="4598338"/>
            <a:ext cx="3313333" cy="1502926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使用两根安全绳交替固定，确保移动时始终有一根处于锚固状态，防止无保护间隙。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7983514" y="1781391"/>
            <a:ext cx="3313333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高挂低用原则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eyJfdGVtcGxhdGVEYXRhIjp7ImNvbnRlbnRUeXBlIjoiJGl0ZW0yX3RpdGxlIiwibGluZUNvdW50IjoiMSIsIndvcmRDb3VudCI6IjExIn0sInRhZyI6IiRpdGVtMl90aXRsZSJ9</bd:templateData>
          </p:ext>
        </p:extLst>
      </p:sp>
      <p:sp>
        <p:nvSpPr>
          <p:cNvPr name="TextBox 17" id="17"/>
          <p:cNvSpPr txBox="true"/>
          <p:nvPr/>
        </p:nvSpPr>
        <p:spPr>
          <a:xfrm rot="0">
            <a:off x="7983514" y="2199144"/>
            <a:ext cx="3313333" cy="1442222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安全绳挂点应位于作业人员正上方或斜上方坚固结构（如钢梁、预埋挂点），减少坠落冲击距离，避免大幅摆动。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name="TextBox 18" id="18"/>
          <p:cNvSpPr txBox="true"/>
          <p:nvPr/>
        </p:nvSpPr>
        <p:spPr>
          <a:xfrm rot="0">
            <a:off x="7983514" y="4188059"/>
            <a:ext cx="3313333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挂点强度验证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eyJfdGVtcGxhdGVEYXRhIjp7ImNvbnRlbnRUeXBlIjoiJGl0ZW00X3RpdGxlIiwibGluZUNvdW50IjoiMSIsIndvcmRDb3VudCI6IjExIn0sInRhZyI6IiRpdGVtNF90aXRsZSJ9</bd:templateData>
          </p:ext>
        </p:extLst>
      </p:sp>
      <p:sp>
        <p:nvSpPr>
          <p:cNvPr name="TextBox 19" id="19"/>
          <p:cNvSpPr txBox="true"/>
          <p:nvPr/>
        </p:nvSpPr>
        <p:spPr>
          <a:xfrm rot="0">
            <a:off x="7983514" y="4605812"/>
            <a:ext cx="3313333" cy="155615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锚固点需能承受≥22kN（约2.2吨）的静态拉力，临时挂点（如膨胀螺栓）需经拉力测试合格后方可使用。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eyJfdGVtcGxhdGVEYXRhIjp7ImNvbnRlbnRUeXBlIjoiJGl0ZW00X2MiLCJsaW5lQ291bnQiOiI0Iiwid29yZENvdW50IjoiMTUifSwidGFnIjoiJGl0ZW00X2MifQ==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doOiQvemYsuaKpOWPjOmHjeS/neaKpOWOn+WImVxuIyMjIOS4quS6uumYsuaKpOS4jumbhuS9k+mYsuaKpOe7k+WQiFxu6auY56m65L2c5Lia5b+F6aG75ZCM5pe25L2/55So5a6J5YWo5bim77yI5Liq5Lq66Ziy5oqk77yJ5ZKM5a6J5YWo572RL+mYsuaKpOagj++8iOmbhuS9k+mYsuaKpO+8ie+8jOehruS/neS4gOenjemYsuaKpOWkseaViOaXtuWPpuS4gOenjeS7jeiDveaPkOS+m+S/neaKpOOAglxuIyMjIOmrmOaMguS9jueUqOWOn+WImVxu5a6J5YWo57uz5oyC54K55bqU5L2N5LqO5L2c5Lia5Lq65ZGY5q2j5LiK5pa55oiW5pac5LiK5pa55Z2a5Zu657uT5p6E77yI5aaC6ZKi5qKB44CB6aKE5Z+L5oyC54K577yJ77yM5YeP5bCR5Z2g6JC95Yay5Ye76Led56a777yM6YG/5YWN5aSn5bmF5pGG5Yqo44CCXG4jIyMg5Y+M6ZKp5Lqk5pu/5L2c5LiaXG7kvb/nlKjkuKTmoLnlronlhajnu7PkuqTmm7/lm7rlrprvvIznoa7kv53np7vliqjml7blp4vnu4jmnInkuIDmoLnlpITkuo7plJrlm7rnirbmgIHvvIzpmLLmraLml6Dkv53miqTpl7TpmpnjgIJcbiMjIyDmjILngrnlvLrluqbpqozor4FcbumUmuWbuueCuemcgOiDveaJv+WPl+KJpTIya07vvIjnuqYyLjLlkKjvvInnmoTpnZnmgIHmi4nlipvvvIzkuLTml7bmjILngrnvvIjlpoLohqjog4DonrrmoJPvvInpnIDnu4/mi4nlipvmtYvor5XlkIjmoLzlkI7mlrnlj6/kvb/nlKjjgIIiLCJ0cGxpZCI6IjEwMjMyMiIsInRwbE5hbWUiOiJsaXN0NF9JbWdrbTI0MDMxMjAyIiwiZWRpdGVkIjoiZmFsc2UifQ==</bd:templateData>
    </p:ext>
  </p:extLst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4915035" y="4715149"/>
            <a:ext cx="6480577" cy="1472880"/>
          </a:xfrm>
          <a:prstGeom prst="roundRect">
            <a:avLst>
              <a:gd fmla="val 16667" name="adj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4918415" y="3060483"/>
            <a:ext cx="6480577" cy="1472880"/>
          </a:xfrm>
          <a:prstGeom prst="roundRect">
            <a:avLst>
              <a:gd fmla="val 16667" name="adj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4" id="4"/>
          <p:cNvSpPr/>
          <p:nvPr/>
        </p:nvSpPr>
        <p:spPr>
          <a:xfrm rot="0">
            <a:off x="3999788" y="1823026"/>
            <a:ext cx="891411" cy="3949143"/>
          </a:xfrm>
          <a:custGeom>
            <a:avLst/>
            <a:gdLst/>
            <a:ahLst/>
            <a:cxnLst/>
            <a:rect r="r" b="b" t="t" l="l"/>
            <a:pathLst>
              <a:path h="3949143" w="891411">
                <a:moveTo>
                  <a:pt x="891411" y="0"/>
                </a:moveTo>
                <a:quadBezTo>
                  <a:pt x="445706" y="0"/>
                  <a:pt x="445706" y="394914"/>
                </a:quadBezTo>
                <a:lnTo>
                  <a:pt x="445706" y="1579657"/>
                </a:lnTo>
                <a:quadBezTo>
                  <a:pt x="445706" y="1974572"/>
                  <a:pt x="0" y="1974572"/>
                </a:quadBezTo>
                <a:quadBezTo>
                  <a:pt x="445706" y="1974572"/>
                  <a:pt x="445706" y="2369486"/>
                </a:quadBezTo>
                <a:lnTo>
                  <a:pt x="445706" y="3554229"/>
                </a:lnTo>
                <a:quadBezTo>
                  <a:pt x="445706" y="3949143"/>
                  <a:pt x="891411" y="3949143"/>
                </a:quadBezTo>
              </a:path>
            </a:pathLst>
          </a:custGeom>
          <a:noFill/>
          <a:ln w="127000">
            <a:gradFill>
              <a:gsLst>
                <a:gs pos="0">
                  <a:schemeClr val="accent1">
                    <a:alpha val="0"/>
                    <a:lumMod val="5000"/>
                    <a:lumOff val="95000"/>
                  </a:schemeClr>
                </a:gs>
                <a:gs pos="62000">
                  <a:schemeClr val="accent1">
                    <a:alpha val="20000"/>
                  </a:schemeClr>
                </a:gs>
                <a:gs pos="100000">
                  <a:schemeClr val="accent1">
                    <a:alpha val="20000"/>
                    <a:lumMod val="40000"/>
                    <a:lumOff val="60000"/>
                  </a:schemeClr>
                </a:gs>
              </a:gsLst>
              <a:lin ang="108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现场隐患识别与整改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829525" y="2300544"/>
            <a:ext cx="2994106" cy="2994106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1015825" y="2486844"/>
            <a:ext cx="2621506" cy="2621506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 flipH="false">
            <a:off x="1147718" y="2618737"/>
            <a:ext cx="2357721" cy="2357721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9" id="9"/>
          <p:cNvSpPr/>
          <p:nvPr/>
        </p:nvSpPr>
        <p:spPr>
          <a:xfrm rot="0">
            <a:off x="4929622" y="1421605"/>
            <a:ext cx="6480577" cy="1472880"/>
          </a:xfrm>
          <a:prstGeom prst="roundRect">
            <a:avLst>
              <a:gd fmla="val 16667" name="adj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5163786" y="1545356"/>
            <a:ext cx="4410330" cy="49255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防护设施缺陷检查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5135211" y="2009338"/>
            <a:ext cx="5964430" cy="60939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排查洞口、临边是否设置合格护栏或盖板，脚手架、作业平台是否稳固，安全网有无破损。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eyJfdGVtcGxhdGVEYXRhIjp7ImNvbnRlbnRUeXBlIjoiJGl0ZW0xX2MiLCJsaW5lQ291bnQiOiIyIiwid29yZENvdW50IjoiMzMifSwidGFnIjoiJGl0ZW0xX2MifQ==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5124004" y="3648216"/>
            <a:ext cx="5964430" cy="60939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检查安全带、安全绳是否磨损或老化，电动工具绝缘性能是否完好，高空车支腿是否平稳。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eyJfdGVtcGxhdGVEYXRhIjp7ImNvbnRlbnRUeXBlIjoiJGl0ZW0yX2MiLCJsaW5lQ291bnQiOiIyIiwid29yZENvdW50IjoiMzMifSwidGFnIjoiJGl0ZW0yX2MifQ==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5120625" y="5302882"/>
            <a:ext cx="5964430" cy="609398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识别强风、雨雪等恶劣天气影响，评估彩钢瓦屋面坡度、承重能力及障碍物分布，制定针对性防护方案。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eyJfdGVtcGxhdGVEYXRhIjp7ImNvbnRlbnRUeXBlIjoiJGl0ZW0zX2MiLCJsaW5lQ291bnQiOiIyIiwid29yZENvdW50IjoiMzMifSwidGFnIjoiJGl0ZW0zX2MifQ==</bd:templateData>
          </p:ext>
        </p:extLst>
      </p:sp>
      <p:sp>
        <p:nvSpPr>
          <p:cNvPr name="AutoShape 14" id="14"/>
          <p:cNvSpPr/>
          <p:nvPr/>
        </p:nvSpPr>
        <p:spPr>
          <a:xfrm rot="0">
            <a:off x="10540951" y="1696385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5" id="15"/>
          <p:cNvSpPr/>
          <p:nvPr/>
        </p:nvSpPr>
        <p:spPr>
          <a:xfrm rot="0">
            <a:off x="10674301" y="1696385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6" id="16"/>
          <p:cNvSpPr/>
          <p:nvPr/>
        </p:nvSpPr>
        <p:spPr>
          <a:xfrm rot="0">
            <a:off x="10807651" y="1696385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7" id="17"/>
          <p:cNvSpPr/>
          <p:nvPr/>
        </p:nvSpPr>
        <p:spPr>
          <a:xfrm rot="0">
            <a:off x="10540951" y="3335263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8" id="18"/>
          <p:cNvSpPr/>
          <p:nvPr/>
        </p:nvSpPr>
        <p:spPr>
          <a:xfrm rot="0">
            <a:off x="10674301" y="3335263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9" id="19"/>
          <p:cNvSpPr/>
          <p:nvPr/>
        </p:nvSpPr>
        <p:spPr>
          <a:xfrm rot="0">
            <a:off x="10807651" y="3335263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0" id="20"/>
          <p:cNvSpPr/>
          <p:nvPr/>
        </p:nvSpPr>
        <p:spPr>
          <a:xfrm rot="0">
            <a:off x="10588296" y="4989928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1" id="21"/>
          <p:cNvSpPr/>
          <p:nvPr/>
        </p:nvSpPr>
        <p:spPr>
          <a:xfrm rot="0">
            <a:off x="10721646" y="4989928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2" id="22"/>
          <p:cNvSpPr/>
          <p:nvPr/>
        </p:nvSpPr>
        <p:spPr>
          <a:xfrm rot="0">
            <a:off x="10854996" y="4989928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23" id="23"/>
          <p:cNvSpPr/>
          <p:nvPr/>
        </p:nvSpPr>
        <p:spPr>
          <a:xfrm rot="0">
            <a:off x="5163786" y="3184234"/>
            <a:ext cx="4410330" cy="49255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400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设备与工具状态评估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name="AutoShape 24" id="24"/>
          <p:cNvSpPr/>
          <p:nvPr/>
        </p:nvSpPr>
        <p:spPr>
          <a:xfrm rot="0">
            <a:off x="5163786" y="4862072"/>
            <a:ext cx="4410330" cy="49255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2400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环境风险管控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OsOWcuumakOaCo+ivhuWIq+S4juaVtOaUuVxuIyMjIOmYsuaKpOiuvuaWvee8uumZt+ajgOafpVxu5o6S5p+l5rSe5Y+j44CB5Li06L655piv5ZCm6K6+572u5ZCI5qC85oqk5qCP5oiW55uW5p2/77yM6ISa5omL5p6244CB5L2c5Lia5bmz5Y+w5piv5ZCm56iz5Zu677yM5a6J5YWo572R5pyJ5peg56C05o2f44CCXG4jIyMg6K6+5aSH5LiO5bel5YW354q25oCB6K+E5LywXG7mo4Dmn6XlronlhajluKbjgIHlronlhajnu7PmmK/lkKbno6jmjZ/miJbogIHljJbvvIznlLXliqjlt6Xlhbfnu53nvJjmgKfog73mmK/lkKblrozlpb3vvIzpq5jnqbrovabmlK/ohb/mmK/lkKblubPnqLPjgIJcbiMjIyDnjq/looPpo47pmannrqHmjqdcbuivhuWIq+W8uumjjuOAgembqOmbquetieaBtuWKo+WkqeawlOW9seWTje+8jOivhOS8sOW9qemSoueTpuWxi+mdouWdoeW6puOAgeaJv+mHjeiDveWKm+WPiumanOeijeeJqeWIhuW4g++8jOWItuWumumSiOWvueaAp+mYsuaKpOaWueahiOOAgiIsInRwbGlkIjoiMTAyMzIyIiwidHBsTmFtZSI6Imxpc3QzXzIwMjUwNzAxMDYiLCJlZGl0ZWQiOiJmYWxzZSJ9</bd:templateData>
    </p:ext>
  </p:extLst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常见违规行为及处罚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839115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839115" y="2734848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839115" y="5185395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name="Connector 6" id="6"/>
          <p:cNvCxnSpPr/>
          <p:nvPr/>
        </p:nvCxnSpPr>
        <p:spPr>
          <a:xfrm>
            <a:off x="937708" y="1624780"/>
            <a:ext cx="0" cy="5245143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name="AutoShape 7" id="7"/>
          <p:cNvSpPr/>
          <p:nvPr/>
        </p:nvSpPr>
        <p:spPr>
          <a:xfrm rot="0">
            <a:off x="839115" y="395848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16806" r="16806"/>
          <a:stretch>
            <a:fillRect/>
          </a:stretch>
        </p:blipFill>
        <p:spPr>
          <a:xfrm rot="0">
            <a:off x="6871622" y="1611182"/>
            <a:ext cx="4449637" cy="446723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9" id="9"/>
          <p:cNvSpPr txBox="true"/>
          <p:nvPr/>
        </p:nvSpPr>
        <p:spPr>
          <a:xfrm rot="0">
            <a:off x="1297192" y="1308287"/>
            <a:ext cx="4348638" cy="60579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无证或超范围作业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eyJfdGVtcGxhdGVEYXRhIjp7ImNvbnRlbnRUeXBlIjoiJGl0ZW0xX3RpdGxlIiwibGluZUNvdW50IjoiMSIsIndvcmRDb3VudCI6IjE1In0sInRhZyI6IiRpdGVtMV90aXRsZSJ9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1297192" y="3754179"/>
            <a:ext cx="4414526" cy="62484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擅自拆除安全设施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eyJfdGVtcGxhdGVEYXRhIjp7ImNvbnRlbnRUeXBlIjoiJGl0ZW0zX3RpdGxlIiwibGluZUNvdW50IjoiMSIsIndvcmRDb3VudCI6IjE1In0sInRhZyI6IiRpdGVtM190aXRsZSJ9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297192" y="2533342"/>
            <a:ext cx="4348638" cy="60579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防护用品缺失或错误使用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eyJfdGVtcGxhdGVEYXRhIjp7ImNvbnRlbnRUeXBlIjoiJGl0ZW0yX3RpdGxlIiwibGluZUNvdW50IjoiMSIsIndvcmRDb3VudCI6IjE1In0sInRhZyI6IiRpdGVtMl90aXRsZSJ9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1297192" y="4976754"/>
            <a:ext cx="4414526" cy="62484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交叉作业未隔离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eyJfdGVtcGxhdGVEYXRhIjp7ImNvbnRlbnRUeXBlIjoiJGl0ZW00X3RpdGxlIiwibGluZUNvdW50IjoiMSIsIndvcmRDb3VudCI6IjE1In0sInRhZyI6IiRpdGVtNF90aXRsZSJ9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1297192" y="1813874"/>
            <a:ext cx="4798808" cy="871282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未取得高空作业资格人员上岗，或超越许可范围施工，将面临停工整改及行政处罚。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eyJfdGVtcGxhdGVEYXRhIjp7ImNvbnRlbnRUeXBlIjoiJGl0ZW0xX2MiLCJsaW5lQ291bnQiOiIyIiwid29yZENvdW50IjoiMjMifSwidGFnIjoiJGl0ZW0xX2MifQ==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1297192" y="3060491"/>
            <a:ext cx="4798808" cy="806539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未佩戴安全带、安全帽，或安全带未高挂低用，按《安全生产法》罚款并追责。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eyJfdGVtcGxhdGVEYXRhIjp7ImNvbnRlbnRUeXBlIjoiJGl0ZW0yX2MiLCJsaW5lQ291bnQiOiIyIiwid29yZENvdW50IjoiMjMifSwidGFnIjoiJGl0ZW0yX2MifQ==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1297192" y="4284150"/>
            <a:ext cx="4798808" cy="806539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作业人员私自移除防护栏、安全网等，导致隐患的，需承担事故主要责任。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eyJfdGVtcGxhdGVEYXRhIjp7ImNvbnRlbnRUeXBlIjoiJGl0ZW0zX2MiLCJsaW5lQ291bnQiOiIyIiwid29yZENvdW50IjoiMjMifSwidGFnIjoiJGl0ZW0zX2MifQ==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1297192" y="5506725"/>
            <a:ext cx="4798808" cy="806539"/>
          </a:xfrm>
          <a:prstGeom prst="rect">
            <a:avLst/>
          </a:prstGeom>
          <a:ln/>
        </p:spPr>
        <p:txBody>
          <a:bodyPr anchor="t" rtlCol="false" lIns="123825" rIns="57150" tIns="0" bIns="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上下垂直作业未设置隔离层或警示区，造成物体打击风险的，对责任单位处以罚款。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eyJfdGVtcGxhdGVEYXRhIjp7ImNvbnRlbnRUeXBlIjoiJGl0ZW00X2MiLCJsaW5lQ291bnQiOiIyIiwid29yZENvdW50IjoiMjMifSwidGFnIjoiJGl0ZW00X2MifQ==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4uOingei/neinhOihjOS4uuWPiuWkhOe9mlxuIyMjIOaXoOivgeaIlui2heiMg+WbtOS9nOS4mlxu5pyq5Y+W5b6X6auY56m65L2c5Lia6LWE5qC85Lq65ZGY5LiK5bKX77yM5oiW6LaF6LaK6K645Y+v6IyD5Zu05pa95bel77yM5bCG6Z2i5Li05YGc5bel5pW05pS55Y+K6KGM5pS/5aSE572a44CCXG4jIyMg6Ziy5oqk55So5ZOB57y65aSx5oiW6ZSZ6K+v5L2/55SoXG7mnKrkvanmiLTlronlhajluKbjgIHlronlhajluL3vvIzmiJblronlhajluKbmnKrpq5jmjILkvY7nlKjvvIzmjInjgIrlronlhajnlJ/kuqfms5XjgIvnvZrmrL7lubbov73otKPjgIJcbiMjIyDmk4Xoh6rmi4bpmaTlronlhajorr7mlr1cbuS9nOS4muS6uuWRmOengeiHquenu+mZpOmYsuaKpOagj+OAgeWuieWFqOe9keetie+8jOWvvOiHtOmakOaCo+eahO+8jOmcgOaJv+aLheS6i+aVheS4u+imgei0o+S7u+OAglxuIyMjIOS6pOWPieS9nOS4muacqumalOemu1xu5LiK5LiL5Z6C55u05L2c5Lia5pyq6K6+572u6ZqU56a75bGC5oiW6K2m56S65Yy677yM6YCg5oiQ54mp5L2T5omT5Ye76aOO6Zmp55qE77yM5a+56LSj5Lu75Y2V5L2N5aSE5Lul572a5qy+44CCIiwidHBsaWQiOiIxMDIzMjIiLCJ0cGxOYW1lIjoibGlzdDRfc2FtZVN0eWxlMXBpYzIiLCJlZGl0ZWQiOiJmYWxzZSJ9</bd:templateData>
    </p:ext>
  </p:extLst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3440000" y="1779722"/>
            <a:ext cx="8170666" cy="4352000"/>
          </a:xfrm>
          <a:prstGeom prst="roundRect">
            <a:avLst>
              <a:gd fmla="val 6990" name="adj"/>
            </a:avLst>
          </a:prstGeom>
          <a:solidFill>
            <a:srgbClr val="FFFFFF">
              <a:alpha val="100000"/>
            </a:srgbClr>
          </a:solidFill>
          <a:ln/>
          <a:effectLst>
            <a:outerShdw dir="0" blurRad="323850" dist="0">
              <a:srgbClr val="000000">
                <a:alpha val="6000"/>
              </a:srgbClr>
            </a:outerShdw>
          </a:effectLst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4499347" y="2947026"/>
            <a:ext cx="3057680" cy="1134307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事故发生后，现场负责人须1小时内向属地安监部门报告，同时启动应急预案，保护现场。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eyJfdGVtcGxhdGVEYXRhIjp7ImNvbnRlbnRUeXBlIjoiJGl0ZW0xX2MiLCJsaW5lQ291bnQiOiIzIiwid29yZENvdW50IjoiMTQifSwidGFnIjoiJGl0ZW0xX2MifQ==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4499347" y="2385880"/>
            <a:ext cx="2790224" cy="473742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即时报告机制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eyJfdGVtcGxhdGVEYXRhIjp7ImNvbnRlbnRUeXBlIjoiJGl0ZW0xX3RpdGxlIiwibGluZUNvdW50IjoiMSIsIndvcmRDb3VudCI6IjcifSwidGFnIjoiJGl0ZW0xX3RpdGxlIn0=</bd:templateData>
          </p:ext>
        </p:extLst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612337" y="1530216"/>
            <a:ext cx="3483952" cy="485101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6" id="6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事故报告流程与应急响应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8178597" y="2914276"/>
            <a:ext cx="3057680" cy="1167057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根据伤亡情况划分响应等级，轻伤由项目组处置，重伤或死亡事故需上报省级监管部门。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eyJfdGVtcGxhdGVEYXRhIjp7ImNvbnRlbnRUeXBlIjoiJGl0ZW0yX2MiLCJsaW5lQ291bnQiOiIzIiwid29yZENvdW50IjoiMTQifSwidGFnIjoiJGl0ZW0yX2MifQ==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8178597" y="2385880"/>
            <a:ext cx="2790224" cy="473742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分级响应程序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eyJfdGVtcGxhdGVEYXRhIjp7ImNvbnRlbnRUeXBlIjoiJGl0ZW0yX3RpdGxlIiwibGluZUNvdW50IjoiMSIsIndvcmRDb3VudCI6IjcifSwidGFnIjoiJGl0ZW0yX3RpdGxlIn0=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4499347" y="4841909"/>
            <a:ext cx="3057680" cy="1160921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严禁破坏事故现场，需拍照、录像记录坠落点、防护设施状态及设备位置，供调查使用。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eyJfdGVtcGxhdGVEYXRhIjp7ImNvbnRlbnRUeXBlIjoiJGl0ZW0zX2MiLCJsaW5lQ291bnQiOiIzIiwid29yZENvdW50IjoiMTQifSwidGFnIjoiJGl0ZW0zX2MifQ==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499347" y="4280763"/>
            <a:ext cx="2790224" cy="473742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证据保全要求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eyJfdGVtcGxhdGVEYXRhIjp7ImNvbnRlbnRUeXBlIjoiJGl0ZW0zX3RpdGxlIiwibGluZUNvdW50IjoiMSIsIndvcmRDb3VudCI6IjcifSwidGFnIjoiJGl0ZW0zX3RpdGxlIn0=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8178597" y="4809160"/>
            <a:ext cx="3057680" cy="1193671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明确医疗组、疏散组、联络组职责，优先稳定伤员生命体征，避免二次伤害。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eyJfdGVtcGxhdGVEYXRhIjp7ImNvbnRlbnRUeXBlIjoiJGl0ZW00X2MiLCJsaW5lQ291bnQiOiI0Iiwid29yZENvdW50IjoiMTUifSwidGFnIjoiJGl0ZW00X2MifQ==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8178597" y="4280763"/>
            <a:ext cx="2790224" cy="473742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0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协同救援分工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eyJfdGVtcGxhdGVEYXRhIjp7ImNvbnRlbnRUeXBlIjoiJGl0ZW00X3RpdGxlIiwibGluZUNvdW50IjoiMSIsIndvcmRDb3VudCI6IjkifSwidGFnIjoiJGl0ZW00X3RpdGxlIn0=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6i+aVheaKpeWRiua1geeoi+S4juW6lOaApeWTjeW6lFxuIyMjIOWNs+aXtuaKpeWRiuacuuWItlxu5LqL5pWF5Y+R55Sf5ZCO77yM546w5Zy66LSf6LSj5Lq66aG7MeWwj+aXtuWGheWQkeWxnuWcsOWuieebkemDqOmXqOaKpeWRiu+8jOWQjOaXtuWQr+WKqOW6lOaApemihOahiO+8jOS/neaKpOeOsOWcuuOAglxuIyMjIOWIhue6p+WTjeW6lOeoi+W6j1xu5qC55o2u5Lyk5Lqh5oOF5Ya15YiS5YiG5ZON5bqU562J57qn77yM6L275Lyk55Sx6aG555uu57uE5aSE572u77yM6YeN5Lyk5oiW5q275Lqh5LqL5pWF6ZyA5LiK5oql55yB57qn55uR566h6YOo6Zeo44CCXG4jIyMg6K+B5o2u5L+d5YWo6KaB5rGCXG7kuKXnpoHnoLTlnY/kuovmlYXnjrDlnLrvvIzpnIDmi43nhafjgIHlvZXlg4/orrDlvZXlnaDokL3ngrnjgIHpmLLmiqTorr7mlr3nirbmgIHlj4rorr7lpIfkvY3nva7vvIzkvpvosIPmn6Xkvb/nlKjjgIJcbiMjIyDljY/lkIzmlZHmj7TliIblt6VcbuaYjuehruWMu+eWl+e7hOOAgeeWj+aVo+e7hOOAgeiBlOe7nOe7hOiBjOi0o++8jOS8mOWFiOeos+WumuS8pOWRmOeUn+WRveS9k+W+ge+8jOmBv+WFjeS6jOasoeS8pOWus+OAgiIsInRwbGlkIjoiMTAyMzIyIiwidHBsTmFtZSI6Imxpc3Q0X0ltZ1dMTDI0MDMyNzE1IiwiZWRpdGVkIjoiZmFsc2UifQ==</bd:templateData>
    </p:ext>
  </p:extLst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5400000">
            <a:off x="391988" y="1845509"/>
            <a:ext cx="4092893" cy="4092575"/>
          </a:xfrm>
          <a:custGeom>
            <a:avLst/>
            <a:gdLst/>
            <a:ahLst/>
            <a:cxnLst/>
            <a:rect r="r" b="b" t="t" l="l"/>
            <a:pathLst>
              <a:path h="21600" w="21600">
                <a:moveTo>
                  <a:pt x="269" y="10800"/>
                </a:moveTo>
                <a:cubicBezTo>
                  <a:pt x="269" y="4983"/>
                  <a:pt x="4983" y="269"/>
                  <a:pt x="10800" y="269"/>
                </a:cubicBezTo>
                <a:cubicBezTo>
                  <a:pt x="16616" y="268"/>
                  <a:pt x="21330" y="4983"/>
                  <a:pt x="21331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269" y="1080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702027" y="2155390"/>
            <a:ext cx="3472815" cy="3472815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4" id="4"/>
          <p:cNvSpPr txBox="true"/>
          <p:nvPr/>
        </p:nvSpPr>
        <p:spPr>
          <a:xfrm rot="0">
            <a:off x="6097260" y="3180638"/>
            <a:ext cx="5610225" cy="74986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疑似脊柱损伤时，用颈托固定颈部，平移至硬质担架，避免弯曲或扭转动作。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eyJfdGVtcGxhdGVEYXRhIjp7ImNvbnRlbnRUeXBlIjoiJGl0ZW0yX2MiLCJsaW5lQ291bnQiOiIyIiwid29yZENvdW50IjoiMjcifSwidGFnIjoiJGl0ZW0yX2MifQ==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6097260" y="2722499"/>
            <a:ext cx="3280773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脊柱保护措施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6097260" y="4437395"/>
            <a:ext cx="5610225" cy="722772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对多发伤、联合伤（如胸腹联合伤）采取止血、抗休克、封闭开放性气胸等综合措施。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eyJfdGVtcGxhdGVEYXRhIjp7ImNvbnRlbnRUeXBlIjoiJGl0ZW0zX2MiLCJsaW5lQ291bnQiOiIyIiwid29yZENvdW50IjoiMjcifSwidGFnIjoiJGl0ZW0zX2MifQ==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097260" y="3979255"/>
            <a:ext cx="3280773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b="true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复合伤处理原则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5233189" y="2868543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5233189" y="412530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4471189" y="5373364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4471189" y="164220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470237" y="1782217"/>
            <a:ext cx="763905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5232236" y="3008561"/>
            <a:ext cx="763905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5248581" y="4265317"/>
            <a:ext cx="744855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4470237" y="5513381"/>
            <a:ext cx="763905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5418969" y="1989857"/>
            <a:ext cx="5902509" cy="732641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检查伤员意识、呼吸、出血情况，优先处理窒息、大出血等危及生命的损伤。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eyJfdGVtcGxhdGVEYXRhIjp7ImNvbnRlbnRUeXBlIjoiJGl0ZW0xX2MiLCJsaW5lQ291bnQiOiIyIiwid29yZENvdW50IjoiMjkifSwidGFnIjoiJGl0ZW0xX2MifQ==</bd:templateData>
          </p:ext>
        </p:extLst>
      </p:sp>
      <p:sp>
        <p:nvSpPr>
          <p:cNvPr name="TextBox 17" id="17"/>
          <p:cNvSpPr txBox="true"/>
          <p:nvPr/>
        </p:nvSpPr>
        <p:spPr>
          <a:xfrm rot="0">
            <a:off x="5418969" y="1531718"/>
            <a:ext cx="3280773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初步伤情判断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name="TextBox 18" id="18"/>
          <p:cNvSpPr txBox="true"/>
          <p:nvPr/>
        </p:nvSpPr>
        <p:spPr>
          <a:xfrm rot="0">
            <a:off x="5387222" y="5699240"/>
            <a:ext cx="5610225" cy="74986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保持伤员体温，记录伤情变化时间点，途中持续监测生命体征，提前通知医院准备接诊。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eyJfdGVtcGxhdGVEYXRhIjp7ImNvbnRlbnRUeXBlIjoiJGl0ZW00X2MiLCJsaW5lQ291bnQiOiIyIiwid29yZENvdW50IjoiMjcifSwidGFnIjoiJGl0ZW00X2MifQ==</bd:templateData>
          </p:ext>
        </p:extLst>
      </p:sp>
      <p:sp>
        <p:nvSpPr>
          <p:cNvPr name="TextBox 19" id="19"/>
          <p:cNvSpPr txBox="true"/>
          <p:nvPr/>
        </p:nvSpPr>
        <p:spPr>
          <a:xfrm rot="0">
            <a:off x="5387222" y="5241100"/>
            <a:ext cx="3280773" cy="560841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转运注意事项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name="TextBox 20" id="20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急救知识与坠落伤员处置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ApeaVkeefpeivhuS4juWdoOiQveS8pOWRmOWkhOe9rlxuIyMjIOWIneatpeS8pOaDheWIpOaWrVxu5qOA5p+l5Lyk5ZGY5oSP6K+G44CB5ZG85ZC444CB5Ye66KGA5oOF5Ya177yM5LyY5YWI5aSE55CG56qS5oGv44CB5aSn5Ye66KGA562J5Y2x5Y+K55Sf5ZG955qE5o2f5Lyk44CCXG4jIyMg6ISK5p+x5L+d5oqk5o6q5pa9XG7nlpHkvLzohIrmn7HmjZ/kvKTml7bvvIznlKjpoojmiZjlm7rlrprpoojpg6jvvIzlubPnp7voh7PnoazotKjmi4XmnrbvvIzpgb/lhY3lvK/mm7LmiJbmia3ovazliqjkvZzjgIJcbiMjIyDlpI3lkIjkvKTlpITnkIbljp/liJlcbuWvueWkmuWPkeS8pOOAgeiBlOWQiOS8pO+8iOWmguiDuOiFueiBlOWQiOS8pO+8iemHh+WPluatouihgOOAgeaKl+S8keWFi+OAgeWwgemXreW8gOaUvuaAp+awlOiDuOetiee7vOWQiOaOquaWveOAglxuIyMjIOi9rOi/kOazqOaEj+S6i+mhuVxu5L+d5oyB5Lyk5ZGY5L2T5rip77yM6K6w5b2V5Lyk5oOF5Y+Y5YyW5pe26Ze054K577yM6YCU5Lit5oyB57ut55uR5rWL55Sf5ZG95L2T5b6B77yM5o+Q5YmN6YCa55+l5Yy76Zmi5YeG5aSH5o6l6K+K44CCIiwidHBsaWQiOiIxMDIzMjIiLCJ0cGxOYW1lIjoibGlzdDRfSW1nV0xMMjQwMzI4MDEiLCJlZGl0ZWQiOiJmYWxzZSJ9</bd:templateData>
    </p:ext>
  </p:extLst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案例警示与安全责任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eyJtZCI6IiMjIOahiOS+i+itpuekuuS4juWuieWFqOi0o+S7uyIsInRwbGlkIjoiMTAyMzIyIiwidHBsTmFtZSI6ImgydGl0bGVfMTAyMzIyIiwiZWRpdGVkIjoiZmFsc2UifQ==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13621" r="13621"/>
          <a:stretch>
            <a:fillRect/>
          </a:stretch>
        </p:blipFill>
        <p:spPr>
          <a:xfrm rot="0">
            <a:off x="667418" y="1817761"/>
            <a:ext cx="4563024" cy="4180009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典型高处坠落事故剖析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5725621" y="1323135"/>
            <a:ext cx="5687135" cy="470535"/>
          </a:xfrm>
          <a:prstGeom prst="rect">
            <a:avLst/>
          </a:prstGeom>
          <a:ln/>
        </p:spPr>
        <p:txBody>
          <a:bodyPr anchor="b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深圳地铁15号线起重伤害事故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eyJfdGVtcGxhdGVEYXRhIjp7ImNvbnRlbnRUeXBlIjoiJGl0ZW0xX3RpdGxlIiwibGluZUNvdW50IjoiMSIsIndvcmRDb3VudCI6IjE2In0sInRhZyI6IiRpdGVtMV90aXRsZSJ9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5725621" y="1736520"/>
            <a:ext cx="5687135" cy="1146057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工人违章进入起重机回转区，被挤压身亡，暴露出现场安全管理缺失、工人安全意识淡薄等问题，直接经济损失180万元。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eyJfdGVtcGxhdGVEYXRhIjp7ImNvbnRlbnRUeXBlIjoiJGl0ZW0xX2MiLCJsaW5lQ291bnQiOiIzIiwid29yZENvdW50IjoiMjcifSwidGFnIjoiJGl0ZW0xX2MifQ==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5725621" y="2999338"/>
            <a:ext cx="5687135" cy="484316"/>
          </a:xfrm>
          <a:prstGeom prst="rect">
            <a:avLst/>
          </a:prstGeom>
          <a:ln/>
        </p:spPr>
        <p:txBody>
          <a:bodyPr anchor="b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西安空调安装坠落事故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eyJfdGVtcGxhdGVEYXRhIjp7ImNvbnRlbnRUeXBlIjoiJGl0ZW0yX3RpdGxlIiwibGluZUNvdW50IjoiMSIsIndvcmRDb3VudCI6IjE2In0sInRhZyI6IiRpdGVtMl90aXRsZSJ9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5725621" y="3426504"/>
            <a:ext cx="5732727" cy="1144161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作业人员未有效固定安全绳，导致从12楼坠落，争议焦点在于劳务关系界定（无偿帮忙或承包），凸显高空作业防护措施执行不力。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eyJfdGVtcGxhdGVEYXRhIjp7ImNvbnRlbnRUeXBlIjoiJGl0ZW0yX2MiLCJsaW5lQ291bnQiOiIzIiwid29yZENvdW50IjoiMjcifSwidGFnIjoiJGl0ZW0yX2MifQ==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5725621" y="4565914"/>
            <a:ext cx="5687135" cy="529052"/>
          </a:xfrm>
          <a:prstGeom prst="rect">
            <a:avLst/>
          </a:prstGeom>
          <a:ln/>
        </p:spPr>
        <p:txBody>
          <a:bodyPr anchor="b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湘潭门窗公司高处坠落事故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eyJfdGVtcGxhdGVEYXRhIjp7ImNvbnRlbnRUeXBlIjoiJGl0ZW0zX3RpdGxlIiwibGluZUNvdW50IjoiMSIsIndvcmRDb3VudCI6IjE2In0sInRhZyI6IiRpdGVtM190aXRsZSJ9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5725621" y="5047341"/>
            <a:ext cx="5732727" cy="1171249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无资质人员未佩戴安全帽、安全绳进行3米高作业坠落，反映企业培训缺失、隐患排查流于形式等系统性漏洞。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eyJfdGVtcGxhdGVEYXRhIjp7ImNvbnRlbnRUeXBlIjoiJGl0ZW0zX2MiLCJsaW5lQ291bnQiOiIzIiwid29yZENvdW50IjoiMjcifSwidGFnIjoiJGl0ZW0zX2MifQ==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FuOWei+mrmOWkhOWdoOiQveS6i+aVheWJluaekFxuIyMjIOa3seWcs+WcsOmTgTE15Y+357q/6LW36YeN5Lyk5a6z5LqL5pWFXG7lt6Xkurrov53nq6Dov5vlhaXotbfph43mnLrlm57ovazljLrvvIzooqvmjKTljovouqvkuqHvvIzmmrTpnLLlh7rnjrDlnLrlronlhajnrqHnkIbnvLrlpLHjgIHlt6XkurrlronlhajmhI/or4bmt6HoloTnrYnpl67popjvvIznm7TmjqXnu4/mtY7mjZ/lpLExODDkuIflhYPjgIJcbiMjIyDopb/lronnqbrosIPlronoo4XlnaDokL3kuovmlYVcbuS9nOS4muS6uuWRmOacquacieaViOWbuuWumuWuieWFqOe7s++8jOWvvOiHtOS7jjEy5qW85Z2g6JC977yM5LqJ6K6u54Sm54K55Zyo5LqO5Yqz5Yqh5YWz57O755WM5a6a77yI5peg5YG/5biu5b+Z5oiW5om/5YyF77yJ77yM5Ye45pi+6auY56m65L2c5Lia6Ziy5oqk5o6q5pa95omn6KGM5LiN5Yqb44CCXG4jIyMg5rmY5r2t6Zeo56qX5YWs5Y+46auY5aSE5Z2g6JC95LqL5pWFXG7ml6DotYTotKjkurrlkZjmnKrkvanmiLTlronlhajluL3jgIHlronlhajnu7Pov5vooYwz57Gz6auY5L2c5Lia5Z2g6JC977yM5Y+N5pig5LyB5Lia5Z+56K6t57y65aSx44CB6ZqQ5oKj5o6S5p+l5rWB5LqO5b2i5byP562J57O757uf5oCn5ryP5rSe44CCIiwidHBsaWQiOiIxMDIzMjIiLCJ0cGxOYW1lIjoibGlzdDNfSW1nMzMiLCJlZGl0ZWQiOiJmYWxzZSJ9</bd:templateData>
    </p:ext>
  </p:extLst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95363" y="4019832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6255856" y="1734787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6255856" y="4021932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1530231" y="2058117"/>
            <a:ext cx="4238625" cy="1553143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违章作业（如未系安全绳、无证操作）、设备防护缺陷（如洞口未封闭）、监护失效（如安全绳未拉牢）是多数事故的直接诱因。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eyJfdGVtcGxhdGVEYXRhIjp7ImNvbnRlbnRUeXBlIjoiJGl0ZW0xX2MiLCJsaW5lQ291bnQiOiI0Iiwid29yZENvdW50IjoiMjAifSwidGFnIjoiJGl0ZW0xX2MifQ==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1530231" y="1480894"/>
            <a:ext cx="4219575" cy="738707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直接原因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1530231" y="4404944"/>
            <a:ext cx="4238625" cy="1534863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涉事企业面临行政处罚（如宝安区应急管理局对水电十四局罚款），责任人被“一案双罚”（如湘潭事故移送司法机关），总包单位承担连带责任（如深圳住建局介入处理）。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eyJfdGVtcGxhdGVEYXRhIjp7ImNvbnRlbnRUeXBlIjoiJGl0ZW0zX2MiLCJsaW5lQ291bnQiOiI0Iiwid29yZENvdW50IjoiMjAifSwidGFnIjoiJGl0ZW0zX2MifQ==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1530231" y="3808422"/>
            <a:ext cx="4219575" cy="736876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追责措施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7107882" y="2054101"/>
            <a:ext cx="4238625" cy="1557159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企业未落实安全培训（如湘潭门窗公司未查验特种作业资质）、未建立隐患排查机制（如未发现临边防护缺失）、违规分包（如水电十四局对分包监管不力）。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eyJfdGVtcGxhdGVEYXRhIjp7ImNvbnRlbnRUeXBlIjoiJGl0ZW0yX2MiLCJsaW5lQ291bnQiOiI0Iiwid29yZENvdW50IjoiMjAifSwidGFnIjoiJGl0ZW0yX2MifQ==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7107882" y="1476878"/>
            <a:ext cx="4219575" cy="749453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管理原因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589863" y="1786503"/>
            <a:ext cx="849630" cy="4819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589863" y="4087762"/>
            <a:ext cx="849630" cy="5200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6150355" y="1794068"/>
            <a:ext cx="849630" cy="5200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AutoShape 14" id="14"/>
          <p:cNvSpPr/>
          <p:nvPr/>
        </p:nvSpPr>
        <p:spPr>
          <a:xfrm rot="0">
            <a:off x="695363" y="1708171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事故原因与责任追究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7107882" y="4404944"/>
            <a:ext cx="4238625" cy="1505411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部分事故涉及责任界定纠纷（如西安事故中“免费帮忙”与“承包关系”争议），需通过法律途径明确赔偿主体与比例。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eyJfdGVtcGxhdGVEYXRhIjp7ImNvbnRlbnRUeXBlIjoiJGl0ZW00X2MiLCJsaW5lQ291bnQiOiI0Iiwid29yZENvdW50IjoiMjAifSwidGFnIjoiJGl0ZW00X2MifQ==</bd:templateData>
          </p:ext>
        </p:extLst>
      </p:sp>
      <p:sp>
        <p:nvSpPr>
          <p:cNvPr name="TextBox 17" id="17"/>
          <p:cNvSpPr txBox="true"/>
          <p:nvPr/>
        </p:nvSpPr>
        <p:spPr>
          <a:xfrm rot="0">
            <a:off x="7107882" y="3764024"/>
            <a:ext cx="4219575" cy="749453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赔偿争议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eyJfdGVtcGxhdGVEYXRhIjp7ImNvbnRlbnRUeXBlIjoiJGl0ZW00X3RpdGxlIiwibGluZUNvdW50IjoiMSIsIndvcmRDb3VudCI6IjEyIn0sInRhZyI6IiRpdGVtNF90aXRsZSJ9</bd:templateData>
          </p:ext>
        </p:extLst>
      </p:sp>
      <p:sp>
        <p:nvSpPr>
          <p:cNvPr name="TextBox 18" id="18"/>
          <p:cNvSpPr txBox="true"/>
          <p:nvPr/>
        </p:nvSpPr>
        <p:spPr>
          <a:xfrm rot="0">
            <a:off x="6150355" y="4081214"/>
            <a:ext cx="849630" cy="52006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6i+aVheWOn+WboOS4jui0o+S7u+i/veeptlxuIyMjIOebtOaOpeWOn+WboFxu6L+d56ug5L2c5Lia77yI5aaC5pyq57O75a6J5YWo57uz44CB5peg6K+B5pON5L2c77yJ44CB6K6+5aSH6Ziy5oqk57y66Zm377yI5aaC5rSe5Y+j5pyq5bCB6Zet77yJ44CB55uR5oqk5aSx5pWI77yI5aaC5a6J5YWo57uz5pyq5ouJ54mi77yJ5piv5aSa5pWw5LqL5pWF55qE55u05o6l6K+x5Zug44CCXG4jIyMg566h55CG5Y6f5ZugXG7kvIHkuJrmnKrokL3lrp7lronlhajln7norq3vvIjlpoLmuZjmva3pl6jnqpflhazlj7jmnKrmn6Xpqoznibnnp43kvZzkuJrotYTotKjvvInjgIHmnKrlu7rnq4vpmpDmgqPmjpLmn6XmnLrliLbvvIjlpoLmnKrlj5HnjrDkuLTovrnpmLLmiqTnvLrlpLHvvInjgIHov53op4TliIbljIXvvIjlpoLmsLTnlLXljYHlm5vlsYDlr7nliIbljIXnm5HnrqHkuI3lipvvvInjgIJcbiMjIyDov73otKPmjqrmlr1cbua2ieS6i+S8geS4mumdouS4tOihjOaUv+WkhOe9mu+8iOWmguWuneWuieWMuuW6lOaApeeuoeeQhuWxgOWvueawtOeUteWNgeWbm+WxgOe9muasvu+8ie+8jOi0o+S7u+S6uuiiq+KAnOS4gOahiOWPjOe9muKAne+8iOWmgua5mOa9reS6i+aVheenu+mAgeWPuOazleacuuWFs++8ie+8jOaAu+WMheWNleS9jeaJv+aLhei/nuW4pui0o+S7u++8iOWmgua3seWcs+S9j+W7uuWxgOS7i+WFpeWkhOeQhu+8ieOAglxuIyMjIOi1lOWBv+S6ieiurlxu6YOo5YiG5LqL5pWF5raJ5Y+K6LSj5Lu755WM5a6a57qg57q377yI5aaC6KW/5a6J5LqL5pWF5Lit4oCc5YWN6LS55biu5b+Z4oCd5LiO4oCc5om/5YyF5YWz57O74oCd5LqJ6K6u77yJ77yM6ZyA6YCa6L+H5rOV5b6L6YCU5b6E5piO56Gu6LWU5YG/5Li75L2T5LiO5q+U5L6L44CCIiwidHBsaWQiOiIxMDIzMjIiLCJ0cGxOYW1lIjoibGlzdDRfc2FtZVN0eWxlMHBpYzYiLCJlZGl0ZWQiOiJmYWxzZSJ9</bd:templateData>
    </p:ext>
  </p:extLst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4552145" y="1505857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8129196" y="3967915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1065923" y="3967915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企业、管理者及员工的安全职责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Freeform 6" id="6"/>
          <p:cNvSpPr/>
          <p:nvPr/>
        </p:nvSpPr>
        <p:spPr>
          <a:xfrm rot="0">
            <a:off x="751830" y="3591361"/>
            <a:ext cx="3577051" cy="561048"/>
          </a:xfrm>
          <a:custGeom>
            <a:avLst/>
            <a:gdLst/>
            <a:ahLst/>
            <a:cxnLst/>
            <a:rect r="r" b="b" t="t" l="l"/>
            <a:pathLst>
              <a:path h="507819" w="4229101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7" id="7"/>
          <p:cNvSpPr/>
          <p:nvPr/>
        </p:nvSpPr>
        <p:spPr>
          <a:xfrm rot="0">
            <a:off x="4307248" y="3591655"/>
            <a:ext cx="3577051" cy="561048"/>
          </a:xfrm>
          <a:custGeom>
            <a:avLst/>
            <a:gdLst/>
            <a:ahLst/>
            <a:cxnLst/>
            <a:rect r="r" b="b" t="t" l="l"/>
            <a:pathLst>
              <a:path h="507819" w="4229101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8" id="8"/>
          <p:cNvSpPr/>
          <p:nvPr/>
        </p:nvSpPr>
        <p:spPr>
          <a:xfrm rot="0">
            <a:off x="7884299" y="3591655"/>
            <a:ext cx="3577051" cy="561048"/>
          </a:xfrm>
          <a:custGeom>
            <a:avLst/>
            <a:gdLst/>
            <a:ahLst/>
            <a:cxnLst/>
            <a:rect r="r" b="b" t="t" l="l"/>
            <a:pathLst>
              <a:path h="507819" w="4229101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6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alphaModFix amt="100000"/>
          </a:blip>
          <a:srcRect t="3279" b="3279"/>
          <a:stretch>
            <a:fillRect/>
          </a:stretch>
        </p:blipFill>
        <p:spPr>
          <a:xfrm rot="0" flipH="false">
            <a:off x="1050546" y="1505857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alphaModFix amt="100000"/>
          </a:blip>
          <a:srcRect t="3415" b="3415"/>
          <a:stretch>
            <a:fillRect/>
          </a:stretch>
        </p:blipFill>
        <p:spPr>
          <a:xfrm rot="0" flipH="false">
            <a:off x="4592794" y="4395606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alphaModFix amt="100000"/>
          </a:blip>
          <a:srcRect t="3210" b="3210"/>
          <a:stretch>
            <a:fillRect/>
          </a:stretch>
        </p:blipFill>
        <p:spPr>
          <a:xfrm rot="0" flipH="false">
            <a:off x="8169846" y="1505857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name="TextBox 12" id="12"/>
          <p:cNvSpPr txBox="true"/>
          <p:nvPr/>
        </p:nvSpPr>
        <p:spPr>
          <a:xfrm rot="0">
            <a:off x="1074382" y="4420514"/>
            <a:ext cx="2914491" cy="560761"/>
          </a:xfrm>
          <a:prstGeom prst="rect">
            <a:avLst/>
          </a:prstGeom>
          <a:ln/>
        </p:spPr>
        <p:txBody>
          <a:bodyPr anchor="t" rtlCol="false" lIns="76200" rIns="57150" tIns="0" bIns="0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企业主体责任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924823" y="4971031"/>
            <a:ext cx="3213608" cy="1242957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需健全安全制度（如制定高处作业审批流程）、配足防护装备（如安全绳、防坠器）、定期开展应急演练（如模拟坠落救援）。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4612719" y="1571876"/>
            <a:ext cx="2954298" cy="560761"/>
          </a:xfrm>
          <a:prstGeom prst="rect">
            <a:avLst/>
          </a:prstGeom>
          <a:ln/>
        </p:spPr>
        <p:txBody>
          <a:bodyPr anchor="t" rtlCol="false" lIns="76200" rIns="57150" tIns="0" bIns="0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true" sz="2400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管理者监督责任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eyJfdGVtcGxhdGVEYXRhIjp7ImNvbnRlbnRUeXBlIjoiJGl0ZW0yX3RpdGxlIiwibGluZUNvdW50IjoiNCIsIndvcmRDb3VudCI6IjE1In0sInRhZyI6IiRpdGVtMl90aXRsZSJ9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4467838" y="2070075"/>
            <a:ext cx="3244061" cy="1242957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应落实现场巡查（如检查安全绳佩戴情况）、强化分包管理（如审核劳务单位资质）、及时整改隐患（如修复防护栏破损）。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8146416" y="4420514"/>
            <a:ext cx="2954412" cy="560761"/>
          </a:xfrm>
          <a:prstGeom prst="rect">
            <a:avLst/>
          </a:prstGeom>
          <a:ln/>
        </p:spPr>
        <p:txBody>
          <a:bodyPr anchor="t" rtlCol="false" lIns="76200" rIns="57150" tIns="0" bIns="0" anchorCtr="false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true" sz="2400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员工执行责任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name="TextBox 17" id="17"/>
          <p:cNvSpPr txBox="true"/>
          <p:nvPr/>
        </p:nvSpPr>
        <p:spPr>
          <a:xfrm rot="0">
            <a:off x="8021552" y="4971031"/>
            <a:ext cx="3204140" cy="1242957"/>
          </a:xfrm>
          <a:prstGeom prst="rect">
            <a:avLst/>
          </a:prstGeom>
          <a:ln/>
        </p:spPr>
        <p:txBody>
          <a:bodyPr anchor="t" rtlCol="false" lIns="76200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必须持证上岗（如高处作业操作证）、遵守操作规程（如禁止进入起重机回转区）、主动报告风险（如发现防护设施缺失）。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name="Freeform 18" id="18"/>
          <p:cNvSpPr/>
          <p:nvPr/>
        </p:nvSpPr>
        <p:spPr>
          <a:xfrm rot="0">
            <a:off x="2334095" y="3665624"/>
            <a:ext cx="412521" cy="412521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9" id="19"/>
          <p:cNvSpPr/>
          <p:nvPr/>
        </p:nvSpPr>
        <p:spPr>
          <a:xfrm rot="0">
            <a:off x="5927547" y="3703953"/>
            <a:ext cx="336452" cy="336452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h="304800" w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h="304800" w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20" id="20"/>
          <p:cNvSpPr/>
          <p:nvPr/>
        </p:nvSpPr>
        <p:spPr>
          <a:xfrm rot="0">
            <a:off x="9494081" y="3693435"/>
            <a:ext cx="357486" cy="357486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8geS4muOAgeeuoeeQhuiAheWPiuWRmOW3peeahOWuieWFqOiBjOi0o1xuIyMjIOS8geS4muS4u+S9k+i0o+S7u1xu6ZyA5YGl5YWo5a6J5YWo5Yi25bqm77yI5aaC5Yi25a6a6auY5aSE5L2c5Lia5a6h5om55rWB56iL77yJ44CB6YWN6Laz6Ziy5oqk6KOF5aSH77yI5aaC5a6J5YWo57uz44CB6Ziy5Z2g5Zmo77yJ44CB5a6a5pyf5byA5bGV5bqU5oCl5ryU57uD77yI5aaC5qih5ouf5Z2g6JC95pWR5o+077yJ44CCXG4jIyMg566h55CG6ICF55uR552j6LSj5Lu7XG7lupTokL3lrp7njrDlnLrlt6Hmn6XvvIjlpoLmo4Dmn6Xlronlhajnu7PkvanmiLTmg4XlhrXvvInjgIHlvLrljJbliIbljIXnrqHnkIbvvIjlpoLlrqHmoLjlirPliqHljZXkvY3otYTotKjvvInjgIHlj4rml7bmlbTmlLnpmpDmgqPvvIjlpoLkv67lpI3pmLLmiqTmoI/noLTmjZ/vvInjgIJcbiMjIyDlkZjlt6XmiafooYzotKPku7tcbuW/hemhu+aMgeivgeS4iuWyl++8iOWmgumrmOWkhOS9nOS4muaTjeS9nOivge+8ieOAgemBteWuiOaTjeS9nOinhOeoi++8iOWmguemgeatoui/m+WFpei1t+mHjeacuuWbnui9rOWMuu+8ieOAgeS4u+WKqOaKpeWRiumjjumZqe+8iOWmguWPkeeOsOmYsuaKpOiuvuaWvee8uuWkse+8ieOAgiIsInRwbGlkIjoiMTAyMzIyIiwidHBsTmFtZSI6Imxpc3QzXzIwMjUwNzAxMDkiLCJlZGl0ZWQiOiJmYWxzZSJ9</bd:templateData>
    </p:ext>
  </p:extLst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5564771"/>
            <a:ext cx="12190690" cy="1317407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安全文化建设的建议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1836554" y="6038850"/>
            <a:ext cx="8425779" cy="19050"/>
          </a:xfrm>
          <a:prstGeom prst="rect">
            <a:avLst/>
          </a:prstGeom>
          <a:noFill/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320475" y="5991225"/>
            <a:ext cx="11550596" cy="146379"/>
          </a:xfrm>
          <a:prstGeom prst="roundRect">
            <a:avLst>
              <a:gd fmla="val 29782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grpSp>
        <p:nvGrpSpPr>
          <p:cNvPr name="Group 6" id="6"/>
          <p:cNvGrpSpPr/>
          <p:nvPr/>
        </p:nvGrpSpPr>
        <p:grpSpPr>
          <a:xfrm rot="0">
            <a:off x="756982" y="2038350"/>
            <a:ext cx="2438400" cy="4019550"/>
            <a:chOff x="756982" y="2038350"/>
            <a:chExt cx="2438400" cy="4019550"/>
          </a:xfrm>
        </p:grpSpPr>
        <p:sp>
          <p:nvSpPr>
            <p:cNvPr name="AutoShape 7" id="7"/>
            <p:cNvSpPr/>
            <p:nvPr/>
          </p:nvSpPr>
          <p:spPr>
            <a:xfrm rot="0">
              <a:off x="756982" y="3267075"/>
              <a:ext cx="2438400" cy="2790825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anchor="ctr" rtlCol="false" anchorCtr="false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>
              <a:off x="756982" y="2038350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name="Group 9" id="9"/>
          <p:cNvGrpSpPr/>
          <p:nvPr/>
        </p:nvGrpSpPr>
        <p:grpSpPr>
          <a:xfrm rot="0">
            <a:off x="776032" y="2057470"/>
            <a:ext cx="2400300" cy="3933686"/>
            <a:chOff x="776032" y="2057470"/>
            <a:chExt cx="2400300" cy="3933686"/>
          </a:xfrm>
        </p:grpSpPr>
        <p:sp>
          <p:nvSpPr>
            <p:cNvPr name="AutoShape 10" id="10"/>
            <p:cNvSpPr/>
            <p:nvPr/>
          </p:nvSpPr>
          <p:spPr>
            <a:xfrm rot="0">
              <a:off x="776032" y="3257620"/>
              <a:ext cx="2400300" cy="2733536"/>
            </a:xfrm>
            <a:prstGeom prst="rect">
              <a:avLst/>
            </a:prstGeom>
            <a:solidFill>
              <a:schemeClr val="lt1">
                <a:alpha val="100000"/>
              </a:schemeClr>
            </a:solidFill>
            <a:ln/>
          </p:spPr>
          <p:txBody>
            <a:bodyPr anchor="ctr" rtlCol="false" anchorCtr="false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>
              <a:off x="776032" y="2057470"/>
              <a:ext cx="2400300" cy="2400300"/>
            </a:xfrm>
            <a:prstGeom prst="ellipse">
              <a:avLst/>
            </a:prstGeom>
            <a:solidFill>
              <a:schemeClr val="lt1">
                <a:alpha val="100000"/>
              </a:schemeClr>
            </a:solidFill>
            <a:ln/>
          </p:spPr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 flipH="false">
            <a:off x="1166557" y="2296017"/>
            <a:ext cx="1619250" cy="16192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13" id="13"/>
          <p:cNvSpPr/>
          <p:nvPr/>
        </p:nvSpPr>
        <p:spPr>
          <a:xfrm rot="0">
            <a:off x="785557" y="4021401"/>
            <a:ext cx="2381250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6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强化教育培训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766507" y="4515081"/>
            <a:ext cx="2352814" cy="1347864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针对高处作业开展专项培训（如模拟坠落体验），确保员工掌握应急技能（如安全绳正确系挂方法）。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eyJfdGVtcGxhdGVEYXRhIjp7ImNvbnRlbnRUeXBlIjoiJGl0ZW0xX2MiLCJsaW5lQ291bnQiOiI1Iiwid29yZENvdW50IjoiMTMifSwidGFnIjoiJGl0ZW0xX2MifQ==</bd:templateData>
          </p:ext>
        </p:extLst>
      </p:sp>
      <p:grpSp>
        <p:nvGrpSpPr>
          <p:cNvPr name="Group 15" id="15"/>
          <p:cNvGrpSpPr/>
          <p:nvPr/>
        </p:nvGrpSpPr>
        <p:grpSpPr>
          <a:xfrm rot="0">
            <a:off x="3511699" y="1519581"/>
            <a:ext cx="2438400" cy="4538319"/>
            <a:chOff x="3511699" y="1519581"/>
            <a:chExt cx="2438400" cy="4538319"/>
          </a:xfrm>
        </p:grpSpPr>
        <p:sp>
          <p:nvSpPr>
            <p:cNvPr name="AutoShape 16" id="16"/>
            <p:cNvSpPr/>
            <p:nvPr/>
          </p:nvSpPr>
          <p:spPr>
            <a:xfrm rot="0">
              <a:off x="3511699" y="2748306"/>
              <a:ext cx="2438400" cy="3309594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anchor="ctr" rtlCol="false" anchorCtr="false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>
              <a:off x="3511699" y="1519581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name="Group 18" id="18"/>
          <p:cNvGrpSpPr/>
          <p:nvPr/>
        </p:nvGrpSpPr>
        <p:grpSpPr>
          <a:xfrm rot="0">
            <a:off x="3530749" y="1538700"/>
            <a:ext cx="2400300" cy="4519200"/>
            <a:chOff x="3530749" y="1538700"/>
            <a:chExt cx="2400300" cy="4519200"/>
          </a:xfrm>
        </p:grpSpPr>
        <p:sp>
          <p:nvSpPr>
            <p:cNvPr name="AutoShape 19" id="19"/>
            <p:cNvSpPr/>
            <p:nvPr/>
          </p:nvSpPr>
          <p:spPr>
            <a:xfrm rot="0">
              <a:off x="3530749" y="2738850"/>
              <a:ext cx="2400300" cy="3319050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anchor="ctr" rtlCol="false" anchorCtr="false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>
              <a:off x="3530749" y="1538700"/>
              <a:ext cx="2400300" cy="24003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 rot="0" flipH="false">
            <a:off x="3921274" y="1872498"/>
            <a:ext cx="1619250" cy="1619250"/>
          </a:xfrm>
          <a:prstGeom prst="ellipse">
            <a:avLst/>
          </a:prstGeom>
          <a:ln w="57150">
            <a:solidFill>
              <a:srgbClr val="FFFFFF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AutoShape 22" id="22"/>
          <p:cNvSpPr/>
          <p:nvPr/>
        </p:nvSpPr>
        <p:spPr>
          <a:xfrm rot="0">
            <a:off x="3530749" y="3664557"/>
            <a:ext cx="2381250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65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完善激励机制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TextBox 23" id="23"/>
          <p:cNvSpPr txBox="true"/>
          <p:nvPr/>
        </p:nvSpPr>
        <p:spPr>
          <a:xfrm rot="0">
            <a:off x="3516391" y="4158236"/>
            <a:ext cx="2352814" cy="1347864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设立安全行为奖励（如举报隐患给予奖金），将安全绩效纳入考核（如与晋升、薪资挂钩）。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eyJfdGVtcGxhdGVEYXRhIjp7ImNvbnRlbnRUeXBlIjoiJGl0ZW0yX2MiLCJsaW5lQ291bnQiOiI1Iiwid29yZENvdW50IjoiMTMifSwidGFnIjoiJGl0ZW0yX2MifQ==</bd:templateData>
          </p:ext>
        </p:extLst>
      </p:sp>
      <p:grpSp>
        <p:nvGrpSpPr>
          <p:cNvPr name="Group 24" id="24"/>
          <p:cNvGrpSpPr/>
          <p:nvPr/>
        </p:nvGrpSpPr>
        <p:grpSpPr>
          <a:xfrm rot="0">
            <a:off x="6276080" y="1519581"/>
            <a:ext cx="2438400" cy="4538319"/>
            <a:chOff x="6276080" y="1519581"/>
            <a:chExt cx="2438400" cy="4538319"/>
          </a:xfrm>
        </p:grpSpPr>
        <p:sp>
          <p:nvSpPr>
            <p:cNvPr name="AutoShape 25" id="25"/>
            <p:cNvSpPr/>
            <p:nvPr/>
          </p:nvSpPr>
          <p:spPr>
            <a:xfrm rot="0">
              <a:off x="6276080" y="2748306"/>
              <a:ext cx="2438400" cy="3309594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anchor="ctr" rtlCol="false" anchorCtr="false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>
              <a:off x="6276080" y="1519581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name="Group 27" id="27"/>
          <p:cNvGrpSpPr/>
          <p:nvPr/>
        </p:nvGrpSpPr>
        <p:grpSpPr>
          <a:xfrm rot="0">
            <a:off x="6295130" y="1538700"/>
            <a:ext cx="2400300" cy="4519200"/>
            <a:chOff x="6295130" y="1538700"/>
            <a:chExt cx="2400300" cy="4519200"/>
          </a:xfrm>
        </p:grpSpPr>
        <p:sp>
          <p:nvSpPr>
            <p:cNvPr name="AutoShape 28" id="28"/>
            <p:cNvSpPr/>
            <p:nvPr/>
          </p:nvSpPr>
          <p:spPr>
            <a:xfrm rot="0">
              <a:off x="6295130" y="2738850"/>
              <a:ext cx="2400300" cy="3319050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anchor="ctr" rtlCol="false" anchorCtr="false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>
              <a:off x="6295130" y="1538700"/>
              <a:ext cx="2400300" cy="24003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5">
            <a:alphaModFix amt="100000"/>
          </a:blip>
          <a:srcRect l="16675" r="16675"/>
          <a:stretch>
            <a:fillRect/>
          </a:stretch>
        </p:blipFill>
        <p:spPr>
          <a:xfrm rot="0" flipH="false">
            <a:off x="6685655" y="1872498"/>
            <a:ext cx="1619250" cy="1619250"/>
          </a:xfrm>
          <a:prstGeom prst="ellipse">
            <a:avLst/>
          </a:prstGeom>
          <a:ln w="57150">
            <a:solidFill>
              <a:srgbClr val="FFFFFF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name="AutoShape 31" id="31"/>
          <p:cNvSpPr/>
          <p:nvPr/>
        </p:nvSpPr>
        <p:spPr>
          <a:xfrm rot="0">
            <a:off x="6295130" y="3664557"/>
            <a:ext cx="2381250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65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推动技术防控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name="TextBox 32" id="32"/>
          <p:cNvSpPr txBox="true"/>
          <p:nvPr/>
        </p:nvSpPr>
        <p:spPr>
          <a:xfrm rot="0">
            <a:off x="6280772" y="4158236"/>
            <a:ext cx="2352814" cy="1347864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推广智能监控设备（如AI识别未戴安全帽行为），使用防坠科技产品（如自动收紧式安全带）。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eyJfdGVtcGxhdGVEYXRhIjp7ImNvbnRlbnRUeXBlIjoiJGl0ZW0zX2MiLCJsaW5lQ291bnQiOiI1Iiwid29yZENvdW50IjoiMTMifSwidGFnIjoiJGl0ZW0zX2MifQ==</bd:templateData>
          </p:ext>
        </p:extLst>
      </p:sp>
      <p:grpSp>
        <p:nvGrpSpPr>
          <p:cNvPr name="Group 33" id="33"/>
          <p:cNvGrpSpPr/>
          <p:nvPr/>
        </p:nvGrpSpPr>
        <p:grpSpPr>
          <a:xfrm rot="0">
            <a:off x="9022814" y="2038350"/>
            <a:ext cx="2438400" cy="4019550"/>
            <a:chOff x="9022814" y="2038350"/>
            <a:chExt cx="2438400" cy="4019550"/>
          </a:xfrm>
        </p:grpSpPr>
        <p:sp>
          <p:nvSpPr>
            <p:cNvPr name="AutoShape 34" id="34"/>
            <p:cNvSpPr/>
            <p:nvPr/>
          </p:nvSpPr>
          <p:spPr>
            <a:xfrm rot="0">
              <a:off x="9022814" y="3267075"/>
              <a:ext cx="2438400" cy="2790825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anchor="ctr" rtlCol="false" anchorCtr="false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>
              <a:off x="9022814" y="2038350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name="Group 36" id="36"/>
          <p:cNvGrpSpPr/>
          <p:nvPr/>
        </p:nvGrpSpPr>
        <p:grpSpPr>
          <a:xfrm rot="0">
            <a:off x="9041864" y="2057470"/>
            <a:ext cx="2400300" cy="3933686"/>
            <a:chOff x="9041864" y="2057470"/>
            <a:chExt cx="2400300" cy="3933686"/>
          </a:xfrm>
        </p:grpSpPr>
        <p:sp>
          <p:nvSpPr>
            <p:cNvPr name="AutoShape 37" id="37"/>
            <p:cNvSpPr/>
            <p:nvPr/>
          </p:nvSpPr>
          <p:spPr>
            <a:xfrm rot="0">
              <a:off x="9041864" y="3257620"/>
              <a:ext cx="2400300" cy="2733536"/>
            </a:xfrm>
            <a:prstGeom prst="rect">
              <a:avLst/>
            </a:prstGeom>
            <a:solidFill>
              <a:schemeClr val="lt1">
                <a:alpha val="100000"/>
              </a:schemeClr>
            </a:solidFill>
            <a:ln/>
          </p:spPr>
          <p:txBody>
            <a:bodyPr anchor="ctr" rtlCol="false" anchorCtr="false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>
              <a:off x="9041864" y="2057470"/>
              <a:ext cx="2400300" cy="2400300"/>
            </a:xfrm>
            <a:prstGeom prst="ellipse">
              <a:avLst/>
            </a:prstGeom>
            <a:solidFill>
              <a:schemeClr val="lt1">
                <a:alpha val="100000"/>
              </a:schemeClr>
            </a:solidFill>
            <a:ln/>
          </p:spPr>
        </p:sp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6">
            <a:alphaModFix amt="100000"/>
          </a:blip>
          <a:srcRect/>
          <a:stretch>
            <a:fillRect/>
          </a:stretch>
        </p:blipFill>
        <p:spPr>
          <a:xfrm rot="0" flipH="false">
            <a:off x="9432389" y="2296017"/>
            <a:ext cx="1619250" cy="16192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eyJfdGVtcGxhdGVEYXRhIjp7ImNvbnRlbnRUeXBlIjoiJGltZzMifSwidGFnIjoiJGltZzMifQ==</bd:templateData>
          </p:ext>
        </p:extLst>
      </p:pic>
      <p:sp>
        <p:nvSpPr>
          <p:cNvPr name="AutoShape 40" id="40"/>
          <p:cNvSpPr/>
          <p:nvPr/>
        </p:nvSpPr>
        <p:spPr>
          <a:xfrm rot="0">
            <a:off x="9051389" y="4021401"/>
            <a:ext cx="2381250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6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建立举报渠道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eyJfdGVtcGxhdGVEYXRhIjp7ImNvbnRlbnRUeXBlIjoiJGl0ZW00X3RpdGxlIiwibGluZUNvdW50IjoiMSIsIndvcmRDb3VudCI6IjkifSwidGFnIjoiJGl0ZW00X3RpdGxlIn0=</bd:templateData>
          </p:ext>
        </p:extLst>
      </p:sp>
      <p:sp>
        <p:nvSpPr>
          <p:cNvPr name="TextBox 41" id="41"/>
          <p:cNvSpPr txBox="true"/>
          <p:nvPr/>
        </p:nvSpPr>
        <p:spPr>
          <a:xfrm rot="0">
            <a:off x="9032339" y="4515081"/>
            <a:ext cx="2352814" cy="1347864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开通匿名隐患上报平台（如企业微信小程序），鼓励员工参与安全监督（如曝光违规操作照片）。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eyJfdGVtcGxhdGVEYXRhIjp7ImNvbnRlbnRUeXBlIjoiJGl0ZW00X2MiLCJsaW5lQ291bnQiOiI1Iiwid29yZENvdW50IjoiMTMifSwidGFnIjoiJGl0ZW00X2MifQ==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ieWFqOaWh+WMluW7uuiuvueahOW7uuiurlxuIyMjIOW8uuWMluaVmeiCsuWfueiurVxu6ZKI5a+56auY5aSE5L2c5Lia5byA5bGV5LiT6aG55Z+56K6t77yI5aaC5qih5ouf5Z2g6JC95L2T6aqM77yJ77yM56Gu5L+d5ZGY5bel5o6M5o+h5bqU5oCl5oqA6IO977yI5aaC5a6J5YWo57uz5q2j56Gu57O75oyC5pa55rOV77yJ44CCXG4jIyMg5a6M5ZaE5r+A5Yqx5py65Yi2XG7orr7nq4vlronlhajooYzkuLrlpZblirHvvIjlpoLkuL7miqXpmpDmgqPnu5nkuojlpZbph5HvvInvvIzlsIblronlhajnu6nmlYjnurPlhaXogIPmoLjvvIjlpoLkuI7mmYvljYfjgIHolqrotYTmjILpkqnvvInjgIJcbiMjIyDmjqjliqjmioDmnK/pmLLmjqdcbuaOqOW5v+aZuuiDveebkeaOp+iuvuWkh++8iOWmgkFJ6K+G5Yir5pyq5oi05a6J5YWo5bi96KGM5Li677yJ77yM5L2/55So6Ziy5Z2g56eR5oqA5Lqn5ZOB77yI5aaC6Ieq5Yqo5pS257Sn5byP5a6J5YWo5bim77yJ44CCXG4jIyMg5bu656uL5Li+5oql5rig6YGTXG7lvIDpgJrljL/lkI3pmpDmgqPkuIrmiqXlubPlj7DvvIjlpoLkvIHkuJrlvq7kv6HlsI/nqIvluo/vvInvvIzpvJPlirHlkZjlt6Xlj4LkuI7lronlhajnm5HnnaPvvIjlpoLmm53lhYnov53op4Tmk43kvZznhafniYfvvInjgIIiLCJ0cGxpZCI6IjEwMjMyMiIsInRwbE5hbWUiOiJsaXN0NF8yMDI1MDcwMzEwIiwiZWRpdGVkIjoiZmFsc2UifQ==</bd:templateData>
    </p:ext>
  </p:extLst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06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总结与行动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eyJtZCI6IiMjIOaAu+e7k+S4juihjOWKqCIsInRwbGlkIjoiMTAyMzIyIiwidHBsTmFtZSI6ImgydGl0bGVfMTAyMzIyIiwiZWRpdGVkIjoiZmFsc2UifQ==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589139" y="4907596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965148" y="3145225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2493889" y="1358958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3283333" y="1796843"/>
            <a:ext cx="7497178" cy="972854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高处作业必须全程佩戴五点式双钩安全带，遵循“高挂低用”原则，挂点需能承受15kN以上拉力，严禁系挂在临时或不牢固结构上。安全帽、防滑鞋等个体防护装备需经检测合格后方可使用。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eyJfdGVtcGxhdGVEYXRhIjp7ImNvbnRlbnRUeXBlIjoiJGl0ZW0xX2MiLCJsaW5lQ291bnQiOiIzIiwid29yZENvdW50IjoiMzcifSwidGFnIjoiJGl0ZW0xX2MifQ==</bd:templateData>
          </p:ext>
        </p:extLst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1113196" y="1262384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8239" r="8239"/>
          <a:stretch>
            <a:fillRect/>
          </a:stretch>
        </p:blipFill>
        <p:spPr>
          <a:xfrm rot="0">
            <a:off x="9176894" y="3043110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rcRect l="11845" r="11845" t="0" b="0"/>
          <a:stretch>
            <a:fillRect/>
          </a:stretch>
        </p:blipFill>
        <p:spPr>
          <a:xfrm rot="0">
            <a:off x="1113196" y="4824531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name="TextBox 9" id="9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核心要点回顾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3273808" y="1404023"/>
            <a:ext cx="6148089" cy="449970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安全防护装备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eyJfdGVtcGxhdGVEYXRhIjp7ImNvbnRlbnRUeXBlIjoiJGl0ZW0xX3RpdGxlIiwibGluZUNvdW50IjoiMSIsIndvcmRDb3VudCI6IjIyIn0sInRhZyI6IiRpdGVtMV90aXRsZSJ9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530470" y="3566057"/>
            <a:ext cx="7497178" cy="972854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临边洞口必须设置硬质防护（如Φ8mm钢筋网），脚手架需同步安装生命线（钢丝绳≥Φ8mm），悬空作业下方3m内增设安全平网。恶劣天气（5级以上风、雷雨等）严禁高处作业。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eyJfdGVtcGxhdGVEYXRhIjp7ImNvbnRlbnRUeXBlIjoiJGl0ZW0yX2MiLCJsaW5lQ291bnQiOiIzIiwid29yZENvdW50IjoiMzcifSwidGFnIjoiJGl0ZW0yX2MifQ==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1520945" y="3173238"/>
            <a:ext cx="6148089" cy="449970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作业环境管控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eyJfdGVtcGxhdGVEYXRhIjp7ImNvbnRlbnRUeXBlIjoiJGl0ZW0yX3RpdGxlIiwibGluZUNvdW50IjoiMSIsIndvcmRDb3VudCI6IjIyIn0sInRhZyI6IiRpdGVtMl90aXRsZSJ9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3325984" y="5352046"/>
            <a:ext cx="7497178" cy="972854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特种作业人员必须持证上岗，严禁超龄、酒后或患有心脑血管疾病人员从事高处作业。作业前需进行健康筛查和安全技术交底，明确应急措施。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eyJfdGVtcGxhdGVEYXRhIjp7ImNvbnRlbnRUeXBlIjoiJGl0ZW0zX2MiLCJsaW5lQ291bnQiOiIzIiwid29yZENvdW50IjoiMzcifSwidGFnIjoiJGl0ZW0zX2MifQ==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3316459" y="4959226"/>
            <a:ext cx="6148089" cy="449970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人员资质与健康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eyJfdGVtcGxhdGVEYXRhIjp7ImNvbnRlbnRUeXBlIjoiJGl0ZW0zX3RpdGxlIiwibGluZUNvdW50IjoiMSIsIndvcmRDb3VudCI6IjIyIn0sInRhZyI6IiRpdGVtM190aXRsZSJ9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guOW/g+imgeeCueWbnumhvlxuIyMjIOWuieWFqOmYsuaKpOijheWkh1xu6auY5aSE5L2c5Lia5b+F6aG75YWo56iL5L2p5oi05LqU54K55byP5Y+M6ZKp5a6J5YWo5bim77yM6YG15b6q4oCc6auY5oyC5L2O55So4oCd5Y6f5YiZ77yM5oyC54K56ZyA6IO95om/5Y+XMTVrTuS7peS4iuaLieWKm++8jOS4peemgeezu+aMguWcqOS4tOaXtuaIluS4jeeJouWbuue7k+aehOS4iuOAguWuieWFqOW4veOAgemYsua7kemei+etieS4quS9k+mYsuaKpOijheWkh+mcgOe7j+ajgOa1i+WQiOagvOWQjuaWueWPr+S9v+eUqOOAglxuIyMjIOS9nOS4mueOr+Wig+euoeaOp1xu5Li06L655rSe5Y+j5b+F6aG76K6+572u56Gs6LSo6Ziy5oqk77yI5aaCzqY4bW3pkqLnrYvnvZHvvInvvIzohJrmiYvmnrbpnIDlkIzmraXlronoo4XnlJ/lkb3nur/vvIjpkqLkuJ3nu7PiiaXOpjhtbe+8ie+8jOaCrOepuuS9nOS4muS4i+aWuTNt5YaF5aKe6K6+5a6J5YWo5bmz572R44CC5oG25Yqj5aSp5rCU77yINee6p+S7peS4iumjjuOAgembt+mbqOetie+8ieS4peemgemrmOWkhOS9nOS4muOAglxuIyMjIOS6uuWRmOi1hOi0qOS4juWBpeW6t1xu54m556eN5L2c5Lia5Lq65ZGY5b+F6aG75oyB6K+B5LiK5bKX77yM5Lil56aB6LaF6b6E44CB6YWS5ZCO5oiW5oKj5pyJ5b+D6ISR6KGA566h55a+55eF5Lq65ZGY5LuO5LqL6auY5aSE5L2c5Lia44CC5L2c5Lia5YmN6ZyA6L+b6KGM5YGl5bq3562b5p+l5ZKM5a6J5YWo5oqA5pyv5Lqk5bqV77yM5piO56Gu5bqU5oCl5o6q5pa944CCIiwidHBsaWQiOiIxMDIzMjIiLCJ0cGxOYW1lIjoibGlzdDNfaW1nNSIsImVkaXRlZCI6ImZhbHNlIn0=</bd:templateData>
    </p:ext>
  </p:extLst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高风险环节重点提醒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Freeform 3" id="3"/>
          <p:cNvSpPr/>
          <p:nvPr/>
        </p:nvSpPr>
        <p:spPr>
          <a:xfrm rot="0">
            <a:off x="618313" y="3277022"/>
            <a:ext cx="10954472" cy="806672"/>
          </a:xfrm>
          <a:custGeom>
            <a:avLst/>
            <a:gdLst/>
            <a:ahLst/>
            <a:cxnLst/>
            <a:rect r="r" b="b" t="t" l="l"/>
            <a:pathLst>
              <a:path h="806677" w="10302080">
                <a:moveTo>
                  <a:pt x="0" y="232726"/>
                </a:moveTo>
                <a:lnTo>
                  <a:pt x="9651270" y="232726"/>
                </a:lnTo>
                <a:lnTo>
                  <a:pt x="9651270" y="0"/>
                </a:lnTo>
                <a:lnTo>
                  <a:pt x="10302081" y="403339"/>
                </a:lnTo>
                <a:lnTo>
                  <a:pt x="9651270" y="806677"/>
                </a:lnTo>
                <a:lnTo>
                  <a:pt x="9651270" y="573951"/>
                </a:lnTo>
                <a:lnTo>
                  <a:pt x="0" y="573951"/>
                </a:lnTo>
              </a:path>
            </a:pathLst>
          </a:custGeom>
          <a:solidFill>
            <a:schemeClr val="accent2">
              <a:alpha val="1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9324347" y="3232827"/>
            <a:ext cx="901256" cy="901256"/>
          </a:xfrm>
          <a:prstGeom prst="ellipse">
            <a:avLst/>
          </a:prstGeom>
          <a:solidFill>
            <a:schemeClr val="accent6">
              <a:alpha val="100000"/>
            </a:schemeClr>
          </a:solidFill>
          <a:ln/>
        </p:spPr>
        <p:txBody>
          <a:bodyPr anchor="ctr" rtlCol="false" tIns="45720" lIns="91440" bIns="45720" rIns="91440" anchorCtr="false" vert="horz" wrap="none">
            <a:normAutofit/>
          </a:bodyPr>
          <a:lstStyle/>
          <a:p>
            <a:pPr algn="ctr">
              <a:defRPr/>
            </a:pPr>
            <a:r>
              <a:rPr lang="en-US" b="true" sz="2100">
                <a:solidFill>
                  <a:schemeClr val="l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8373113" y="1487010"/>
            <a:ext cx="2777109" cy="447961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b="true" sz="1800">
                <a:solidFill>
                  <a:schemeClr val="accent6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个体防护细节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893147" y="3232827"/>
            <a:ext cx="901256" cy="901256"/>
          </a:xfrm>
          <a:prstGeom prst="ellipse">
            <a:avLst/>
          </a:prstGeom>
          <a:solidFill>
            <a:schemeClr val="accent5">
              <a:alpha val="100000"/>
            </a:schemeClr>
          </a:solidFill>
          <a:ln/>
        </p:spPr>
        <p:txBody>
          <a:bodyPr anchor="ctr" rtlCol="false" tIns="45720" lIns="91440" bIns="45720" rIns="91440" anchorCtr="false" vert="horz" wrap="none">
            <a:normAutofit/>
          </a:bodyPr>
          <a:lstStyle/>
          <a:p>
            <a:pPr algn="ctr">
              <a:defRPr/>
            </a:pPr>
            <a:r>
              <a:rPr lang="en-US" b="true" sz="2100">
                <a:solidFill>
                  <a:schemeClr val="l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5955220" y="4271960"/>
            <a:ext cx="2777109" cy="447961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b="true" sz="1800">
                <a:solidFill>
                  <a:schemeClr val="accent5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特殊时段管理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4433372" y="3232827"/>
            <a:ext cx="901256" cy="901256"/>
          </a:xfrm>
          <a:prstGeom prst="ellipse">
            <a:avLst/>
          </a:prstGeom>
          <a:solidFill>
            <a:schemeClr val="accent4">
              <a:alpha val="100000"/>
            </a:schemeClr>
          </a:solidFill>
          <a:ln/>
        </p:spPr>
        <p:txBody>
          <a:bodyPr anchor="ctr" rtlCol="false" tIns="45720" lIns="91440" bIns="45720" rIns="91440" anchorCtr="false" vert="horz" wrap="none">
            <a:normAutofit/>
          </a:bodyPr>
          <a:lstStyle/>
          <a:p>
            <a:pPr algn="ctr">
              <a:defRPr/>
            </a:pPr>
            <a:r>
              <a:rPr lang="en-US" b="true" sz="2100">
                <a:solidFill>
                  <a:schemeClr val="l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3482138" y="1487010"/>
            <a:ext cx="2777109" cy="447961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b="true" sz="1800">
                <a:solidFill>
                  <a:schemeClr val="accent4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交叉作业防护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1953634" y="3232827"/>
            <a:ext cx="901256" cy="9012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/>
        </p:spPr>
        <p:txBody>
          <a:bodyPr anchor="ctr" rtlCol="false" tIns="45720" lIns="91440" bIns="45720" rIns="91440" anchorCtr="false" vert="horz" wrap="none">
            <a:normAutofit/>
          </a:bodyPr>
          <a:lstStyle/>
          <a:p>
            <a:pPr algn="ctr">
              <a:defRPr/>
            </a:pPr>
            <a:r>
              <a:rPr lang="en-US" b="true" sz="2100">
                <a:solidFill>
                  <a:schemeClr val="l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eyJfdGVtcGxhdGVEYXRhIjp7ImxpbmVDb3VudCI6IjIiLCJ3b3JkQ291bnQiOiIyIn0sInRhZyI6Im5vRWRpdCJ9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015707" y="4271960"/>
            <a:ext cx="2777109" cy="447961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b="true" sz="1800">
                <a:solidFill>
                  <a:schemeClr val="accent3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脚手架与吊篮使用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8296000" y="1934971"/>
            <a:ext cx="2931336" cy="105489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安全带钩扣需每次使用前检查锁闭状态，移动时不得解开挂钩；30m以上作业需配备通讯工具。安全绳应垂直悬挂，避免缠绕或与尖锐物接触。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eyJfdGVtcGxhdGVEYXRhIjp7ImNvbnRlbnRUeXBlIjoiJGl0ZW00X2MiLCJsaW5lQ291bnQiOiI0Iiwid29yZENvdW50IjoiMTcifSwidGFnIjoiJGl0ZW00X2MifQ==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3405025" y="1934971"/>
            <a:ext cx="2931336" cy="1054894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上下交叉作业需设置双层防护层（坠落高度＞24m时），工具材料需用防坠绳固定，严禁抛掷。禁止在未固定构件或轻型屋顶（如彩钢板）上无防护作业。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eyJfdGVtcGxhdGVEYXRhIjp7ImNvbnRlbnRUeXBlIjoiJGl0ZW0yX2MiLCJsaW5lQ291bnQiOiI0Iiwid29yZENvdW50IjoiMTcifSwidGFnIjoiJGl0ZW0yX2MifQ==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5878107" y="4719921"/>
            <a:ext cx="2931336" cy="1162713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夜间、节假日施工时管理人员必须旁站监督，“危大工程”关键环节实施全程监护。每日巡查需闭环处理“三违”行为，对恶意违章零容忍。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eyJfdGVtcGxhdGVEYXRhIjp7ImNvbnRlbnRUeXBlIjoiJGl0ZW0zX2MiLCJsaW5lQ291bnQiOiI0Iiwid29yZENvdW50IjoiMTcifSwidGFnIjoiJGl0ZW0zX2MifQ==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938594" y="4719921"/>
            <a:ext cx="2931336" cy="1069563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脚手架搭设必须验收合格，作业层满铺脚手板；吊篮需配备防坠锁、限位装置，严禁超员或空中翻越。拆除临边防护需经安全负责人审批并立即恢复。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eyJfdGVtcGxhdGVEYXRhIjp7ImNvbnRlbnRUeXBlIjoiJGl0ZW0xX2MiLCJsaW5lQ291bnQiOiI0Iiwid29yZENvdW50IjoiMTcifSwidGFnIjoiJGl0ZW0xX2MifQ==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rmOmjjumZqeeOr+iKgumHjeeCueaPkOmGklxuIyMjIOiEmuaJi+aetuS4juWQiuevruS9v+eUqFxu6ISa5omL5p625pCt6K6+5b+F6aG76aqM5pS25ZCI5qC877yM5L2c5Lia5bGC5ruh6ZO66ISa5omL5p2/77yb5ZCK56+u6ZyA6YWN5aSH6Ziy5Z2g6ZSB44CB6ZmQ5L2N6KOF572u77yM5Lil56aB6LaF5ZGY5oiW56m65Lit57+76LaK44CC5ouG6Zmk5Li06L656Ziy5oqk6ZyA57uP5a6J5YWo6LSf6LSj5Lq65a6h5om55bm256uL5Y2z5oGi5aSN44CCXG4jIyMg5Lqk5Y+J5L2c5Lia6Ziy5oqkXG7kuIrkuIvkuqTlj4nkvZzkuJrpnIDorr7nva7lj4zlsYLpmLLmiqTlsYLvvIjlnaDokL3pq5jluqbvvJ4yNG3ml7bvvInvvIzlt6XlhbfmnZDmlpnpnIDnlKjpmLLlnaDnu7Plm7rlrprvvIzkuKXnpoHmipvmjrfjgILnpoHmraLlnKjmnKrlm7rlrprmnoTku7bmiJbovbvlnovlsYvpobbvvIjlpoLlvanpkqLmnb/vvInkuIrml6DpmLLmiqTkvZzkuJrjgIJcbiMjIyDnibnmrorml7bmrrXnrqHnkIZcbuWknOmXtOOAgeiKguWBh+aXpeaWveW3peaXtueuoeeQhuS6uuWRmOW/hemhu+aXgeermeebkeedo++8jOKAnOWNseWkp+W3peeoi+KAneWFs+mUrueOr+iKguWunuaWveWFqOeoi+ebkeaKpOOAguavj+aXpeW3oeafpemcgOmXreeOr+WkhOeQhuKAnOS4iei/neKAneihjOS4uu+8jOWvueaBtuaEj+i/neeroOmbtuWuueW/jeOAglxuIyMjIOS4quS9k+mYsuaKpOe7huiKglxu5a6J5YWo5bim6ZKp5omj6ZyA5q+P5qyh5L2/55So5YmN5qOA5p+l6ZSB6Zet54q25oCB77yM56e75Yqo5pe25LiN5b6X6Kej5byA5oyC6ZKp77ybMzBt5Lul5LiK5L2c5Lia6ZyA6YWN5aSH6YCa6K6v5bel5YW344CC5a6J5YWo57uz5bqU5Z6C55u05oKs5oyC77yM6YG/5YWN57yg57uV5oiW5LiO5bCW6ZSQ54mp5o6l6Kem44CCIiwidHBsaWQiOiIxMDIzMjIiLCJ0cGxOYW1lIjoibGlzdDRfMjAyNTA2MjYxMiIsImVkaXRlZCI6ImZhbHNlIn0=</bd:templateData>
    </p:ext>
  </p:extLst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日常作业安全承诺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27721" r="27721"/>
          <a:stretch>
            <a:fillRect/>
          </a:stretch>
        </p:blipFill>
        <p:spPr>
          <a:xfrm rot="0" flipH="false">
            <a:off x="752047" y="1412707"/>
            <a:ext cx="3005958" cy="4496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 rot="0" flipH="false">
            <a:off x="7833544" y="3730249"/>
            <a:ext cx="3737850" cy="212768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AutoShape 5" id="5"/>
          <p:cNvSpPr/>
          <p:nvPr/>
        </p:nvSpPr>
        <p:spPr>
          <a:xfrm rot="0"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4099978" y="1672358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责任落实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099978" y="2110737"/>
            <a:ext cx="3431205" cy="1270638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全员签订安全生产契约，明确权利义务。班前会必须检查防护用品，作业前进行针对性交底。监理单位每日开展防高坠专项巡查并记录整改。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eyJfdGVtcGxhdGVEYXRhIjp7ImNvbnRlbnRUeXBlIjoiJGl0ZW0xX2MiLCJsaW5lQ291bnQiOiI0Iiwid29yZENvdW50IjoiMTgifSwidGFnIjoiJGl0ZW0xX2MifQ==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4099978" y="4036516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应急准备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099978" y="4470242"/>
            <a:ext cx="3431205" cy="1276624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作业区域需设置应急逃生通道，配备缓降器、安全绳等救援设备。暴风雨后需重新检查安全设施，确保防护有效性。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eyJfdGVtcGxhdGVEYXRhIjp7ImNvbnRlbnRUeXBlIjoiJGl0ZW0zX2MiLCJsaW5lQ291bnQiOiI0Iiwid29yZENvdW50IjoiMTgifSwidGFnIjoiJGl0ZW0zX2MifQ==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7996869" y="1672358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行为规范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7996869" y="2110737"/>
            <a:ext cx="3431205" cy="1270638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杜绝无证上岗、擅自拆除防护等违规行为。发现隐患立即停止作业，执行“谁验收谁负责”制度。对保持良好安全行为的个人/班组给予奖励。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eyJfdGVtcGxhdGVEYXRhIjp7ImNvbnRlbnRUeXBlIjoiJGl0ZW0yX2MiLCJsaW5lQ291bnQiOiI0Iiwid29yZENvdW50IjoiMTgifSwidGFnIjoiJGl0ZW0yX2MifQ==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XpeW4uOS9nOS4muWuieWFqOaJv+ivulxuIyMjIOi0o+S7u+iQveWunlxu5YWo5ZGY562+6K6i5a6J5YWo55Sf5Lqn5aWR57qm77yM5piO56Gu5p2D5Yip5LmJ5Yqh44CC54+t5YmN5Lya5b+F6aG75qOA5p+l6Ziy5oqk55So5ZOB77yM5L2c5Lia5YmN6L+b6KGM6ZKI5a+55oCn5Lqk5bqV44CC55uR55CG5Y2V5L2N5q+P5pel5byA5bGV6Ziy6auY5Z2g5LiT6aG55beh5p+l5bm26K6w5b2V5pW05pS544CCXG4jIyMg6KGM5Li66KeE6IyDXG7mnZznu53ml6Dor4HkuIrlspfjgIHmk4Xoh6rmi4bpmaTpmLLmiqTnrYnov53op4TooYzkuLrjgILlj5HnjrDpmpDmgqPnq4vljbPlgZzmraLkvZzkuJrvvIzmiafooYzigJzosIHpqozmlLbosIHotJ/otKPigJ3liLbluqbjgILlr7nkv53mjIHoia/lpb3lronlhajooYzkuLrnmoTkuKrkurov54+t57uE57uZ5LqI5aWW5Yqx44CCXG4jIyMg5bqU5oCl5YeG5aSHXG7kvZzkuJrljLrln5/pnIDorr7nva7lupTmgKXpgIPnlJ/pgJrpgZPvvIzphY3lpIfnvJPpmY3lmajjgIHlronlhajnu7PnrYnmlZHmj7Torr7lpIfjgILmmrTpo47pm6jlkI7pnIDph43mlrDmo4Dmn6Xlronlhajorr7mlr3vvIznoa7kv53pmLLmiqTmnInmlYjmgKfjgIIiLCJ0cGxpZCI6IjEwMjMyMiIsInRwbE5hbWUiOiJsaXN0M18yMDI1MDcwMTAyIiwiZWRpdGVkIjoiZmFsc2UifQ==</bd:templateData>
    </p:ext>
  </p:extLst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持续改进与安全意识提升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>
            <a:off x="1466885" y="2187982"/>
            <a:ext cx="2739046" cy="2739046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Freeform 4" id="4"/>
          <p:cNvSpPr/>
          <p:nvPr/>
        </p:nvSpPr>
        <p:spPr>
          <a:xfrm rot="0">
            <a:off x="4509171" y="1790522"/>
            <a:ext cx="583851" cy="3533966"/>
          </a:xfrm>
          <a:custGeom>
            <a:avLst/>
            <a:gdLst/>
            <a:ahLst/>
            <a:cxnLst/>
            <a:rect r="r" b="b" t="t" l="l"/>
            <a:pathLst>
              <a:path h="3533966" w="583851">
                <a:moveTo>
                  <a:pt x="583851" y="0"/>
                </a:moveTo>
                <a:quadBezTo>
                  <a:pt x="291925" y="0"/>
                  <a:pt x="291925" y="353397"/>
                </a:quadBezTo>
                <a:lnTo>
                  <a:pt x="291925" y="1413586"/>
                </a:lnTo>
                <a:quadBezTo>
                  <a:pt x="291925" y="1766983"/>
                  <a:pt x="0" y="1766983"/>
                </a:quadBezTo>
                <a:quadBezTo>
                  <a:pt x="291925" y="1766983"/>
                  <a:pt x="291925" y="2120379"/>
                </a:quadBezTo>
                <a:lnTo>
                  <a:pt x="291925" y="3180569"/>
                </a:lnTo>
                <a:quadBezTo>
                  <a:pt x="291925" y="3533966"/>
                  <a:pt x="583851" y="3533966"/>
                </a:quadBezTo>
              </a:path>
            </a:pathLst>
          </a:cu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5347614" y="5067201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3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414867" y="5045544"/>
            <a:ext cx="3165062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引入新技术与装备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5452715" y="5573201"/>
            <a:ext cx="5194466" cy="964797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推广使用防坠落系统、智能安全监测设备等，通过技术手段降低高处作业风险。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eyJfdGVtcGxhdGVEYXRhIjp7ImNvbnRlbnRUeXBlIjoiJGl0ZW0zX2MiLCJsaW5lQ291bnQiOiIzIiwid29yZENvdW50IjoiMjgifSwidGFnIjoiJGl0ZW0zX2MifQ==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5347614" y="3298365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2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6414867" y="3276708"/>
            <a:ext cx="3165062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建立安全反馈机制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5452715" y="3804364"/>
            <a:ext cx="5194466" cy="1061273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鼓励员工报告安全隐患，设立匿名反馈渠道，及时整改并优化作业流程。  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eyJfdGVtcGxhdGVEYXRhIjp7ImNvbnRlbnRUeXBlIjoiJGl0ZW0yX2MiLCJsaW5lQ291bnQiOiI0Iiwid29yZENvdW50IjoiMjgifSwidGFnIjoiJGl0ZW0yX2MifQ==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5347614" y="1556561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2" id="12"/>
          <p:cNvSpPr/>
          <p:nvPr/>
        </p:nvSpPr>
        <p:spPr>
          <a:xfrm rot="0">
            <a:off x="6414867" y="1534903"/>
            <a:ext cx="3165062" cy="454737"/>
          </a:xfrm>
          <a:prstGeom prst="rect">
            <a:avLst/>
          </a:prstGeom>
          <a:noFill/>
          <a:ln/>
        </p:spPr>
        <p:txBody>
          <a:bodyPr anchor="b" rtlCol="false" tIns="45720" lIns="91440" bIns="45720" rIns="91440" anchorCtr="true" vert="horz" wrap="square">
            <a:normAutofit/>
          </a:bodyPr>
          <a:lstStyle/>
          <a:p>
            <a:pPr algn="ctr">
              <a:defRPr/>
            </a:pPr>
            <a:r>
              <a:rPr lang="en-US" b="true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定期安全培训与演练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5452715" y="2062560"/>
            <a:ext cx="5194466" cy="1057947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组织员工参与高处作业专项安全培训，模拟突发情况应急处理，强化风险识别与应对能力。  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eyJfdGVtcGxhdGVEYXRhIjp7ImNvbnRlbnRUeXBlIjoiJGl0ZW0xX2MiLCJsaW5lQ291bnQiOiI0Iiwid29yZENvdW50IjoiMjgifSwidGFnIjoiJGl0ZW0xX2MifQ==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Mgee7reaUuei/m+S4juWuieWFqOaEj+ivhuaPkOWNh1xuIyMjIOWumuacn+WuieWFqOWfueiureS4jua8lOe7g1xu57uE57uH5ZGY5bel5Y+C5LiO6auY5aSE5L2c5Lia5LiT6aG55a6J5YWo5Z+56K6t77yM5qih5ouf56qB5Y+R5oOF5Ya15bqU5oCl5aSE55CG77yM5by65YyW6aOO6Zmp6K+G5Yir5LiO5bqU5a+56IO95Yqb44CCICBcbiMjIyDlu7rnq4vlronlhajlj43ppojmnLrliLZcbum8k+WKseWRmOW3peaKpeWRiuWuieWFqOmakOaCo++8jOiuvueri+WMv+WQjeWPjemmiOa4oOmBk++8jOWPiuaXtuaVtOaUueW5tuS8mOWMluS9nOS4mua1geeoi+OAgiAgXG4jIyMg5byV5YWl5paw5oqA5pyv5LiO6KOF5aSHXG7mjqjlub/kvb/nlKjpmLLlnaDokL3ns7vnu5/jgIHmmbrog73lronlhajnm5HmtYvorr7lpIfnrYnvvIzpgJrov4fmioDmnK/miYvmrrXpmY3kvY7pq5jlpITkvZzkuJrpo47pmanjgIIiLCJ0cGxpZCI6IjEwMjMyMiIsInRwbE5hbWUiOiJsaXN0M18yMDI1MDYyNjA5IiwiZWRpdGVkIjoiZmFsc2UifQ==</bd:templateData>
    </p:ext>
  </p:extLst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3100008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3100009"/>
          <p:cNvSpPr txBox="true"/>
          <p:nvPr/>
        </p:nvSpPr>
        <p:spPr>
          <a:xfrm rot="0">
            <a:off x="2204431" y="2546482"/>
            <a:ext cx="7783830" cy="1224915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汇报完毕，谢谢大家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349911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3781835" y="4517204"/>
            <a:ext cx="1837111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汇报人：XXX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eyJfdGVtcGxhdGVEYXRhIjp7ImNvbnRlbnRUeXBlIjoiIn0sInRhZyI6Im5vRWRpdCJ9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37577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673171" y="4517204"/>
            <a:ext cx="1807758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2026-08-17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eyJfdGVtcGxhdGVEYXRhIjp7ImNvbnRlbnRUeXBlIjoiJERhdGUiLCJsaW5lQ291bnQiOiIxIiwid29yZENvdW50IjoiNiJ9LCJ0YWciOiJub0VkaXQifQ==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eyJtZCI6IiIsInRwbGlkIjoiMTAyMzIyIiwidHBsTmFtZSI6ImVuZF8xMDIzMjIiLCJlZGl0ZWQiOiJmYWxzZSJ9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2" id="11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31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31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15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16" tmFilter="0, 0; .2, .5; .8, .5; 1, 0"/>
                                        <p:tgtEl>
                                          <p:spTgt spid="31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17"/>
                                        <p:tgtEl>
                                          <p:spTgt spid="31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7525B"/>
      </a:dk2>
      <a:lt2>
        <a:srgbClr val="E6EEF4"/>
      </a:lt2>
      <a:accent1>
        <a:srgbClr val="78A8C9"/>
      </a:accent1>
      <a:accent2>
        <a:srgbClr val="5E90B2"/>
      </a:accent2>
      <a:accent3>
        <a:srgbClr val="5D8FB2"/>
      </a:accent3>
      <a:accent4>
        <a:srgbClr val="437497"/>
      </a:accent4>
      <a:accent5>
        <a:srgbClr val="3D7195"/>
      </a:accent5>
      <a:accent6>
        <a:srgbClr val="234B6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2025-10-20T11:38:53Z</dcterms:created>
  <dc:creator>zhangqishou</dc:creator>
  <cp:lastModifiedBy>zhangqishou</cp:lastModifiedBy>
  <dcterms:modified xsi:type="dcterms:W3CDTF">2025-10-20T12:04:35Z</dcterms:modified>
  <cp:revision>2</cp:revision>
  <dc:title>PowerPoint 演示文稿</dc:title>
</cp:coreProperties>
</file>