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 type="screen16x9"/>
  <p:notesSz cx="6858000" cy="9144000"/>
  <p:embeddedFontLst>
    <p:embeddedFont>
      <p:font charset="-122" panose="020B0200000000000000" pitchFamily="34" typeface="Noto Sans SC"/>
      <p:regular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D1C8FA-4E74-3C2B-B2E1-90179EE0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6F5C-20E8-D5B3-4B51-E00FBADC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A3150-268E-E144-EB8E-C83266A4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75F-A225-D342-874D-7AF26BF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F4FD-E8D7-1C42-14C4-121EA09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3D1D-7811-D79C-3E26-008C6266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FEE4B-101F-62CC-E69D-F081B97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9279D-06F0-EFDE-9CD6-193A29D3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CCE7-DC65-DA1D-3E8E-70130CD6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4EE2-CD7D-A99C-E5D2-1366E53C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2B1E2-E5C3-92D1-FF78-B950DDC1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2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7D338-6AC5-3B05-1915-B1578DB8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E3BF0-2279-8BF3-1C0E-03C9E7BF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8EC9A-56DC-2B36-BF93-CCB1A8E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D304B-FAC1-533F-1456-38E73C2A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F4D4A-E839-BFE4-78EA-559F4A5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78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501C3-38EB-2364-C39C-33279253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EC63D-4589-C043-285B-B8127689F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810A47-0A22-AB30-2FCE-43F3C972A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8C72C7-7B09-FD2C-30C5-4350039B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57867-163A-9E7A-AE92-DDB0D8E1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928ED-F638-2A81-FAF0-17D14FCA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5BCCDA-B30D-A94D-59C6-47F63025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013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FF8EF7-C3FC-15DF-EB99-F3AFA6C5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A37BA3-FB71-5172-B46A-25DF8DB9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FED2D-6DE6-4528-CEC4-A1B11500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8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BDD16-6439-B908-EDD7-E328E0D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04F1C-1C5E-FF25-BFF4-A2FD0C4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5C0E4-D1F8-57FC-808D-20A6FC4D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03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4B274-03F4-DFA5-61F7-9E8E0AC9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C8FF-DC28-5C76-6936-568A1EF2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2A2AA-F26F-56C5-60C1-F265434C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9CC6C-B836-7CF1-8B26-F26AD14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34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A8308-143D-B013-FA6D-13A508B2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9730FC-073C-5B6F-22E8-FA4523B5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07D1-71A0-CD5F-5290-4EB94B79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71ABE-DCFA-3F63-9336-9EBAF490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86D08-7017-BD7F-109B-79A0EF20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32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CB66B5-34D0-BDE9-5932-0E416504F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9B6BF-E627-7250-3EDA-1287E111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CADA8-4560-F141-7ED6-BD570DF7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0A53-D30B-FB19-DA4E-56FFB4B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0F4DD-F736-F394-947B-5741BD745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099BE-C301-7614-65DF-46D9E84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36390-1E46-C21F-75CD-E31A783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A1DA6-C2F0-C179-3F42-8D6667B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19AC8-8FAF-9013-7FB4-18456D33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29954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A3692-2AD9-CE6F-D53F-7845B9B3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1CEA3-90BC-60A3-2BF0-EFFB67E7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96AE0-833D-16AA-C61D-4401D75F8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BC43C-0D70-FA29-5981-9056C9645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48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2091017" y="1160398"/>
            <a:ext cx="7783830" cy="2841729"/>
          </a:xfrm>
          <a:prstGeom prst="rect">
            <a:avLst/>
          </a:prstGeom>
          <a:noFill/>
          <a:ln/>
        </p:spPr>
        <p:txBody>
          <a:bodyPr anchor="b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true" sz="66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施工现场高处作业安全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eyJfdGVtcGxhdGVEYXRhIjp7ImNvbnRlbnRUeXBlIjoiJHRpdGxlIiwibGluZUNvdW50IjoiMiIsIndvcmRDb3VudCI6IjgifSwidGFnIjoiJHRpdGxlIn0=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9911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781835" y="4517204"/>
            <a:ext cx="1837111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汇报人：XXX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eyJfdGVtcGxhdGVEYXRhIjp7ImNvbnRlbnRUeXBlIjoiIn0sInRhZyI6Im5vRWRpdCJ9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37577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450648" y="4517204"/>
            <a:ext cx="2235156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2026-08-15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eyJfdGVtcGxhdGVEYXRhIjp7ImNvbnRlbnRUeXBlIjoiJERhdGUiLCJsaW5lQ291bnQiOiIxIiwid29yZENvdW50IjoiNyJ9LCJ0YWciOiJub0VkaXQifQ==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eyJtZCI6IuaWveW3peeOsOWcuumrmOWkhOS9nOS4muWuieWFqCIsInRwbGlkIjoiMTAyMzIyIiwidHBsTmFtZSI6InRpdGxlXzEwMjMyMiIsImVkaXRlZCI6ImZhbHNlIn0=</bd:templateData>
    </p:ext>
  </p:extLs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00008"/>
          <p:cNvPicPr>
            <a:picLocks noChangeAspect="true"/>
          </p:cNvPicPr>
          <p:nvPr/>
        </p:nvPicPr>
        <p:blipFill>
          <a:blip r:embed="rId3"/>
          <a:srcRect l="10154" r="58103" t="3081" b="1871"/>
          <a:stretch>
            <a:fillRect/>
          </a:stretch>
        </p:blipFill>
        <p:spPr>
          <a:xfrm rot="5400000" flipV="true">
            <a:off x="2667001" y="-2667000"/>
            <a:ext cx="6857999" cy="1219199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cxnSp>
        <p:nvCxnSpPr>
          <p:cNvPr name="Connector 3" id="3"/>
          <p:cNvCxnSpPr/>
          <p:nvPr/>
        </p:nvCxnSpPr>
        <p:spPr>
          <a:xfrm>
            <a:off x="4643995" y="2688258"/>
            <a:ext cx="0" cy="316865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  <a:prstDash val="dash"/>
            <a:headEnd type="none"/>
            <a:tailEnd type="none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4" id="4"/>
          <p:cNvCxnSpPr/>
          <p:nvPr/>
        </p:nvCxnSpPr>
        <p:spPr>
          <a:xfrm>
            <a:off x="7338167" y="2688258"/>
            <a:ext cx="0" cy="316865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  <a:prstDash val="dash"/>
            <a:headEnd type="none"/>
            <a:tailEnd type="none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grpSp>
        <p:nvGrpSpPr>
          <p:cNvPr name="Group 5" id="5"/>
          <p:cNvGrpSpPr/>
          <p:nvPr/>
        </p:nvGrpSpPr>
        <p:grpSpPr>
          <a:xfrm rot="0">
            <a:off x="2582783" y="2711912"/>
            <a:ext cx="1605629" cy="1997202"/>
            <a:chOff x="2582783" y="2711912"/>
            <a:chExt cx="1605629" cy="1997202"/>
          </a:xfrm>
        </p:grpSpPr>
        <p:sp>
          <p:nvSpPr>
            <p:cNvPr name="Freeform 6" id="6"/>
            <p:cNvSpPr/>
            <p:nvPr/>
          </p:nvSpPr>
          <p:spPr>
            <a:xfrm rot="0">
              <a:off x="3144377" y="4432603"/>
              <a:ext cx="493109" cy="276511"/>
            </a:xfrm>
            <a:custGeom>
              <a:avLst/>
              <a:gdLst/>
              <a:ahLst/>
              <a:cxnLst/>
              <a:rect r="r" b="b" t="t" l="l"/>
              <a:pathLst>
                <a:path h="359401" w="922183">
                  <a:moveTo>
                    <a:pt x="0" y="0"/>
                  </a:moveTo>
                  <a:lnTo>
                    <a:pt x="922183" y="0"/>
                  </a:lnTo>
                  <a:lnTo>
                    <a:pt x="464666" y="359401"/>
                  </a:lnTo>
                  <a:lnTo>
                    <a:pt x="0" y="0"/>
                  </a:lnTo>
                </a:path>
              </a:pathLst>
            </a:custGeom>
            <a:solidFill>
              <a:srgbClr val="B3CEE1">
                <a:alpha val="100000"/>
              </a:srgbClr>
            </a:solidFill>
            <a:ln/>
          </p:spPr>
          <p:extLst>
            <p:ext uri="http://schemas.baidu.com/office/drawing/2023/templateData">
              <bd:templateData xmlns:bd="http://schemas.baidu.com/office/drawing/2023/templateData">eyJ0YWciOiJub0VkaXQifQ==</bd:templateData>
            </p:ext>
          </p:extLst>
        </p:sp>
        <p:sp>
          <p:nvSpPr>
            <p:cNvPr name="AutoShape 7" id="7"/>
            <p:cNvSpPr/>
            <p:nvPr/>
          </p:nvSpPr>
          <p:spPr>
            <a:xfrm rot="0">
              <a:off x="2582783" y="2711912"/>
              <a:ext cx="1605629" cy="1605629"/>
            </a:xfrm>
            <a:prstGeom prst="ellipse">
              <a:avLst/>
            </a:prstGeom>
            <a:solidFill>
              <a:srgbClr val="B3CEE1">
                <a:alpha val="100000"/>
              </a:srgbClr>
            </a:solidFill>
            <a:ln/>
          </p:spPr>
          <p:extLst>
            <p:ext uri="http://schemas.baidu.com/office/drawing/2023/templateData">
              <bd:templateData xmlns:bd="http://schemas.baidu.com/office/drawing/2023/templateData">eyJ0YWciOiJub0VkaXQifQ==</bd:templateData>
            </p:ext>
          </p:extLst>
        </p:sp>
      </p:grpSp>
      <p:sp>
        <p:nvSpPr>
          <p:cNvPr name="AutoShape 8" id="8"/>
          <p:cNvSpPr/>
          <p:nvPr/>
        </p:nvSpPr>
        <p:spPr>
          <a:xfrm rot="0">
            <a:off x="2569087" y="4938529"/>
            <a:ext cx="1632903" cy="1367240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b="true" sz="2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安全风险概述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eyJfdGVtcGxhdGVEYXRhIjp7ImNvbnRlbnRUeXBlIjoiJGNhdGEwIiwibGluZUNvdW50IjoiMyIsIndvcmRDb3VudCI6IjMifSwidGFnIjoiJGNhdGEwIn0=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5199147" y="4938529"/>
            <a:ext cx="1632903" cy="1367240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b="true" sz="2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安全防护措施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eyJfdGVtcGxhdGVEYXRhIjp7ImNvbnRlbnRUeXBlIjoiJGNhdGExIiwibGluZUNvdW50IjoiMyIsIndvcmRDb3VudCI6IjMifSwidGFnIjoiJGNhdGExIn0=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7791107" y="4938529"/>
            <a:ext cx="1632903" cy="1367240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b="true" sz="2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管理要求与建议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eyJfdGVtcGxhdGVEYXRhIjp7ImNvbnRlbnRUeXBlIjoiJGNhdGEyIiwibGluZUNvdW50IjoiMyIsIndvcmRDb3VudCI6IjMifSwidGFnIjoiJGNhdGEyIn0=</bd:templateData>
          </p:ext>
        </p:extLst>
      </p:sp>
      <p:sp>
        <p:nvSpPr>
          <p:cNvPr name="Freeform 11" id="11"/>
          <p:cNvSpPr/>
          <p:nvPr/>
        </p:nvSpPr>
        <p:spPr>
          <a:xfrm rot="0">
            <a:off x="5768705" y="4432603"/>
            <a:ext cx="493109" cy="276511"/>
          </a:xfrm>
          <a:custGeom>
            <a:avLst/>
            <a:gdLst/>
            <a:ahLst/>
            <a:cxnLst/>
            <a:rect r="r" b="b" t="t" l="l"/>
            <a:pathLst>
              <a:path h="359401" w="922183">
                <a:moveTo>
                  <a:pt x="0" y="0"/>
                </a:moveTo>
                <a:lnTo>
                  <a:pt x="922183" y="0"/>
                </a:lnTo>
                <a:lnTo>
                  <a:pt x="464666" y="359401"/>
                </a:lnTo>
                <a:lnTo>
                  <a:pt x="0" y="0"/>
                </a:lnTo>
              </a:path>
            </a:pathLst>
          </a:custGeom>
          <a:solidFill>
            <a:srgbClr val="FAE4D8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2" id="12"/>
          <p:cNvSpPr/>
          <p:nvPr/>
        </p:nvSpPr>
        <p:spPr>
          <a:xfrm rot="0">
            <a:off x="5209683" y="2711912"/>
            <a:ext cx="1605629" cy="1605629"/>
          </a:xfrm>
          <a:prstGeom prst="ellipse">
            <a:avLst/>
          </a:prstGeom>
          <a:solidFill>
            <a:srgbClr val="FAE4D8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Freeform 13" id="13"/>
          <p:cNvSpPr/>
          <p:nvPr/>
        </p:nvSpPr>
        <p:spPr>
          <a:xfrm rot="0">
            <a:off x="8355505" y="4432603"/>
            <a:ext cx="493109" cy="276511"/>
          </a:xfrm>
          <a:custGeom>
            <a:avLst/>
            <a:gdLst/>
            <a:ahLst/>
            <a:cxnLst/>
            <a:rect r="r" b="b" t="t" l="l"/>
            <a:pathLst>
              <a:path h="359401" w="922183">
                <a:moveTo>
                  <a:pt x="0" y="0"/>
                </a:moveTo>
                <a:lnTo>
                  <a:pt x="922183" y="0"/>
                </a:lnTo>
                <a:lnTo>
                  <a:pt x="464666" y="359401"/>
                </a:lnTo>
                <a:lnTo>
                  <a:pt x="0" y="0"/>
                </a:lnTo>
              </a:path>
            </a:pathLst>
          </a:custGeom>
          <a:solidFill>
            <a:srgbClr val="B3CEE1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7799054" y="2711912"/>
            <a:ext cx="1605629" cy="1605629"/>
          </a:xfrm>
          <a:prstGeom prst="ellipse">
            <a:avLst/>
          </a:prstGeom>
          <a:solidFill>
            <a:srgbClr val="B3CEE1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2828385" y="3014664"/>
            <a:ext cx="1095375" cy="1000125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6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eyJfdGVtcGxhdGVEYXRhIjp7ImNvbnRlbnRUeXBlIjoiJGlkeDAiLCJsaW5lQ291bnQiOiIxIiwid29yZENvdW50IjoiMSJ9LCJ0YWciOiJub0VkaXQifQ==</bd:templateData>
          </p:ext>
        </p:extLst>
      </p:sp>
      <p:sp>
        <p:nvSpPr>
          <p:cNvPr name="TextBox 16" id="16"/>
          <p:cNvSpPr txBox="true"/>
          <p:nvPr/>
        </p:nvSpPr>
        <p:spPr>
          <a:xfrm rot="0">
            <a:off x="5467911" y="3014664"/>
            <a:ext cx="1095375" cy="1000125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6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eyJfdGVtcGxhdGVEYXRhIjp7ImNvbnRlbnRUeXBlIjoiJGlkeDEiLCJsaW5lQ291bnQiOiIxIiwid29yZENvdW50IjoiMSJ9LCJ0YWciOiJub0VkaXQifQ==</bd:templateData>
          </p:ext>
        </p:extLst>
      </p:sp>
      <p:sp>
        <p:nvSpPr>
          <p:cNvPr name="TextBox 17" id="17"/>
          <p:cNvSpPr txBox="true"/>
          <p:nvPr/>
        </p:nvSpPr>
        <p:spPr>
          <a:xfrm rot="0">
            <a:off x="8059871" y="3014664"/>
            <a:ext cx="1095375" cy="1000125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66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eyJfdGVtcGxhdGVEYXRhIjp7ImNvbnRlbnRUeXBlIjoiJGlkeDIiLCJsaW5lQ291bnQiOiIxIiwid29yZENvdW50IjoiMSJ9LCJ0YWciOiJub0VkaXQifQ==</bd:templateData>
          </p:ext>
        </p:extLst>
      </p:sp>
      <p:sp>
        <p:nvSpPr>
          <p:cNvPr name="TextBox 18" id="18"/>
          <p:cNvSpPr txBox="true"/>
          <p:nvPr/>
        </p:nvSpPr>
        <p:spPr>
          <a:xfrm rot="0">
            <a:off x="4908470" y="711969"/>
            <a:ext cx="2375062" cy="10725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b="true" sz="547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目录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name="TextBox 19" id="19"/>
          <p:cNvSpPr txBox="true"/>
          <p:nvPr/>
        </p:nvSpPr>
        <p:spPr>
          <a:xfrm rot="0">
            <a:off x="4908470" y="1370893"/>
            <a:ext cx="2375062" cy="10725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15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/ Content /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eyJtZCI6IuebruW9lVxu5a6J5YWo6aOO6Zmp5qaC6L+wXG7lronlhajpmLLmiqTmjqrmlr1cbueuoeeQhuimgeaxguS4juW7uuiuriIsInRwbGlkIjoiMTAyMzIyIiwidHBsTmFtZSI6ImNhdGFMaXN0XzEwMjMyMmMzIiwiZWRpdGVkIjoiZmFsc2UifQ==</bd:templateData>
    </p:ext>
  </p:extLs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安全风险概述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eyJtZCI6IiMjIOWuieWFqOmjjumZqeamgui/sCIsInRwbGlkIjoiMTAyMzIyIiwidHBsTmFtZSI6ImgydGl0bGVfMTAyMzIyIiwiZWRpdGVkIjoiZmFsc2UifQ==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主要危险源辨识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10048" r="10048"/>
          <a:stretch>
            <a:fillRect/>
          </a:stretch>
        </p:blipFill>
        <p:spPr>
          <a:xfrm rot="0" flipH="false"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 rot="0" flipH="false"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8" id="8"/>
          <p:cNvSpPr/>
          <p:nvPr/>
        </p:nvSpPr>
        <p:spPr>
          <a:xfrm rot="0"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0"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防坠落措施缺陷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4099978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包括安全带未正确佩戴或固定、安全绳强度不足、临边防护栏杆缺失或松动等，导致作业人员直接暴露于坠落风险中。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eyJfdGVtcGxhdGVEYXRhIjp7ImNvbnRlbnRUeXBlIjoiJGl0ZW0xX2MiLCJsaW5lQ291bnQiOiI0Iiwid29yZENvdW50IjoiMTgifSwidGFnIjoiJGl0ZW0xX2MifQ==</bd:templateData>
          </p:ext>
        </p:extLst>
      </p:sp>
      <p:sp>
        <p:nvSpPr>
          <p:cNvPr name="AutoShape 11" id="11"/>
          <p:cNvSpPr/>
          <p:nvPr/>
        </p:nvSpPr>
        <p:spPr>
          <a:xfrm rot="0"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环境因素干扰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099978" y="4470242"/>
            <a:ext cx="3431205" cy="1276624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强风（6级以上）易导致高空物体移位或人员失衡，雨雪天气造成作业面湿滑，雷电可能击毁电气设备或引发二次事故。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eyJfdGVtcGxhdGVEYXRhIjp7ImNvbnRlbnRUeXBlIjoiJGl0ZW0zX2MiLCJsaW5lQ291bnQiOiI0Iiwid29yZENvdW50IjoiMTgifSwidGFnIjoiJGl0ZW0zX2MifQ==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anchor="t" rtlCol="false" tIns="45720" lIns="95250" bIns="45720" rIns="91440" anchorCtr="true" vert="horz" wrap="square">
            <a:noAutofit/>
          </a:bodyPr>
          <a:lstStyle/>
          <a:p>
            <a:pPr algn="l">
              <a:defRPr/>
            </a:pPr>
            <a:r>
              <a:rPr lang="en-US" b="true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设备设施隐患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7996869" y="2110737"/>
            <a:ext cx="3431205" cy="1270638"/>
          </a:xfrm>
          <a:prstGeom prst="rect">
            <a:avLst/>
          </a:prstGeom>
          <a:ln/>
        </p:spPr>
        <p:txBody>
          <a:bodyPr anchor="t" rtlCol="false" lIns="95250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如吊篮上限位挡板缺失、安全锁失效、脚手架扣件松动或支撑体系承载力不足，可能引发设备倾覆或结构坍塌。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u+imgeWNsemZqea6kOi+qOivhlxuIyMjIOmYsuWdoOiQveaOquaWvee8uumZt1xu5YyF5ous5a6J5YWo5bim5pyq5q2j56Gu5L2p5oi05oiW5Zu65a6a44CB5a6J5YWo57uz5by65bqm5LiN6Laz44CB5Li06L656Ziy5oqk5qCP5p2G57y65aSx5oiW5p2+5Yqo562J77yM5a+86Ie05L2c5Lia5Lq65ZGY55u05o6l5pq06Zyy5LqO5Z2g6JC96aOO6Zmp5Lit44CCXG4jIyMg6K6+5aSH6K6+5pa96ZqQ5oKjXG7lpoLlkIrnr67kuIrpmZDkvY3mjKHmnb/nvLrlpLHjgIHlronlhajplIHlpLHmlYjjgIHohJrmiYvmnrbmiaPku7bmnb7liqjmiJbmlK/mkpHkvZPns7vmib/ovb3lipvkuI3otrPvvIzlj6/og73lvJXlj5Horr7lpIflgL7opobmiJbnu5PmnoTlnY3loYzjgIJcbiMjIyDnjq/looPlm6DntKDlubLmibBcbuW8uumjju+8iDbnuqfku6XkuIrvvInmmJPlr7zoh7Tpq5jnqbrniankvZPnp7vkvY3miJbkurrlkZjlpLHooaHvvIzpm6jpm6rlpKnmsJTpgKDmiJDkvZzkuJrpnaLmub/mu5HvvIzpm7fnlLXlj6/og73lh7vmr4HnlLXmsJTorr7lpIfmiJblvJXlj5HkuozmrKHkuovmlYXjgIIiLCJ0cGxpZCI6IjEwMjMyMiIsInRwbE5hbWUiOiJsaXN0M18yMDI1MDcwMTAyIiwiZWRpdGVkIjoiZmFsc2UifQ==</bd:templateData>
    </p:ext>
  </p:extLst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5133975" y="3111977"/>
            <a:ext cx="1394901" cy="634046"/>
          </a:xfrm>
          <a:prstGeom prst="triangl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0" y="0"/>
            <a:ext cx="551840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事故后果分析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6320801" y="2912195"/>
            <a:ext cx="5048887" cy="674827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未固定工具或材料坠落时，1kg物体从30米坠落冲击力超300kg，可能砸伤下方人员或损坏设备。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eyJfdGVtcGxhdGVEYXRhIjp7ImNvbnRlbnRUeXBlIjoiJGl0ZW0yX2MiLCJsaW5lQ291bnQiOiIyIiwid29yZENvdW50IjoiMjYifSwidGFnIjoiJGl0ZW0yX2MifQ==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6320801" y="1552233"/>
            <a:ext cx="5048887" cy="632410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从10米高度坠落冲击力可达人体重量10倍以上，造成骨折、内脏损伤甚至死亡，幸存者多伴随终身残疾。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eyJfdGVtcGxhdGVEYXRhIjp7ImNvbnRlbnRUeXBlIjoiJGl0ZW0xX2MiLCJsaW5lQ291bnQiOiIyIiwid29yZENvdW50IjoiMjYifSwidGFnIjoiJGl0ZW0xX2MifQ==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320801" y="4240817"/>
            <a:ext cx="5048887" cy="660590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接触高压线或设备漏电可能引发触电，同时伴随坠落、电弧烧伤等复合伤害。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eyJfdGVtcGxhdGVEYXRhIjp7ImNvbnRlbnRUeXBlIjoiJGl0ZW0zX2MiLCJsaW5lQ291bnQiOiIyIiwid29yZENvdW50IjoiMjYifSwidGFnIjoiJGl0ZW0zX2MifQ==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6320801" y="5594674"/>
            <a:ext cx="5048887" cy="660590"/>
          </a:xfrm>
          <a:prstGeom prst="rect">
            <a:avLst/>
          </a:prstGeom>
          <a:ln/>
        </p:spPr>
        <p:txBody>
          <a:bodyPr anchor="t" rtlCol="false" lIns="123825" rIns="5715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模板支撑体系或脚手架垮塌时，往往造成多人被埋压，救援难度大且死亡率极高。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eyJfdGVtcGxhdGVEYXRhIjp7ImNvbnRlbnRUeXBlIjoiJGl0ZW00X2MiLCJsaW5lQ291bnQiOiIyIiwid29yZENvdW50IjoiMjYifSwidGFnIjoiJGl0ZW00X2MifQ==</bd:templateData>
          </p:ext>
        </p:extLst>
      </p:sp>
      <p:cxnSp>
        <p:nvCxnSpPr>
          <p:cNvPr name="Connector 9" id="9"/>
          <p:cNvCxnSpPr/>
          <p:nvPr/>
        </p:nvCxnSpPr>
        <p:spPr>
          <a:xfrm>
            <a:off x="6440470" y="2438060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10" id="10"/>
          <p:cNvCxnSpPr/>
          <p:nvPr/>
        </p:nvCxnSpPr>
        <p:spPr>
          <a:xfrm>
            <a:off x="6449960" y="3753923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11" id="11"/>
          <p:cNvCxnSpPr/>
          <p:nvPr/>
        </p:nvCxnSpPr>
        <p:spPr>
          <a:xfrm>
            <a:off x="6449960" y="5081946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16675" r="16675"/>
          <a:stretch>
            <a:fillRect/>
          </a:stretch>
        </p:blipFill>
        <p:spPr>
          <a:xfrm rot="0" flipH="false">
            <a:off x="1317535" y="1990725"/>
            <a:ext cx="2876550" cy="28765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AutoShape 13" id="13"/>
          <p:cNvSpPr/>
          <p:nvPr/>
        </p:nvSpPr>
        <p:spPr>
          <a:xfrm rot="0">
            <a:off x="6450879" y="1179728"/>
            <a:ext cx="4282862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高处坠落伤亡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eyJfdGVtcGxhdGVEYXRhIjp7ImNvbnRlbnRUeXBlIjoiJGl0ZW0xX3RpdGxlIiwibGluZUNvdW50IjoiMSIsIndvcmRDb3VudCI6IjE2In0sInRhZyI6IiRpdGVtMV90aXRsZSJ9</bd:templateData>
          </p:ext>
        </p:extLst>
      </p:sp>
      <p:sp>
        <p:nvSpPr>
          <p:cNvPr name="AutoShape 14" id="14"/>
          <p:cNvSpPr/>
          <p:nvPr/>
        </p:nvSpPr>
        <p:spPr>
          <a:xfrm rot="0">
            <a:off x="6450879" y="2575756"/>
            <a:ext cx="4282862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物体打击连锁伤害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eyJfdGVtcGxhdGVEYXRhIjp7ImNvbnRlbnRUeXBlIjoiJGl0ZW0yX3RpdGxlIiwibGluZUNvdW50IjoiMSIsIndvcmRDb3VudCI6IjE2In0sInRhZyI6IiRpdGVtMl90aXRsZSJ9</bd:templateData>
          </p:ext>
        </p:extLst>
      </p:sp>
      <p:sp>
        <p:nvSpPr>
          <p:cNvPr name="AutoShape 15" id="15"/>
          <p:cNvSpPr/>
          <p:nvPr/>
        </p:nvSpPr>
        <p:spPr>
          <a:xfrm rot="0">
            <a:off x="6450879" y="3899082"/>
            <a:ext cx="4282862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电气事故衍生风险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eyJfdGVtcGxhdGVEYXRhIjp7ImNvbnRlbnRUeXBlIjoiJGl0ZW0zX3RpdGxlIiwibGluZUNvdW50IjoiMSIsIndvcmRDb3VudCI6IjE2In0sInRhZyI6IiRpdGVtM190aXRsZSJ9</bd:templateData>
          </p:ext>
        </p:extLst>
      </p:sp>
      <p:sp>
        <p:nvSpPr>
          <p:cNvPr name="AutoShape 16" id="16"/>
          <p:cNvSpPr/>
          <p:nvPr/>
        </p:nvSpPr>
        <p:spPr>
          <a:xfrm rot="0">
            <a:off x="6450879" y="5195893"/>
            <a:ext cx="4282862" cy="454737"/>
          </a:xfrm>
          <a:prstGeom prst="rect">
            <a:avLst/>
          </a:prstGeom>
          <a:noFill/>
          <a:ln/>
        </p:spPr>
        <p:txBody>
          <a:bodyPr anchor="ctr" rtlCol="false" tIns="0" lIns="0" bIns="0" rIns="0" anchorCtr="false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坍塌事故群体性伤害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eyJfdGVtcGxhdGVEYXRhIjp7ImNvbnRlbnRUeXBlIjoiJGl0ZW00X3RpdGxlIiwibGluZUNvdW50IjoiMSIsIndvcmRDb3VudCI6IjE2In0sInRhZyI6IiRpdGVtNF90aXRsZSJ9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i+aVheWQjuaenOWIhuaekFxuIyMjIOmrmOWkhOWdoOiQveS8pOS6oVxu5LuOMTDnsbPpq5jluqblnaDokL3lhrLlh7vlipvlj6/ovr7kurrkvZPph43ph48xMOWAjeS7peS4iu+8jOmAoOaIkOmqqOaKmOOAgeWGheiEj+aNn+S8pOeUmuiHs+atu+S6oe+8jOW5uOWtmOiAheWkmuS8tOmaj+e7iOi6q+aui+eWvuOAglxuIyMjIOeJqeS9k+aJk+WHu+i/numUgeS8pOWus1xu5pyq5Zu65a6a5bel5YW35oiW5p2Q5paZ5Z2g6JC95pe277yMMWtn54mp5L2T5LuOMzDnsbPlnaDokL3lhrLlh7vlipvotoUzMDBrZ++8jOWPr+iDveeguOS8pOS4i+aWueS6uuWRmOaIluaNn+Wdj+iuvuWkh+OAglxuIyMjIOeUteawlOS6i+aVheihjeeUn+mjjumZqVxu5o6l6Kem6auY5Y6L57q/5oiW6K6+5aSH5ryP55S15Y+v6IO95byV5Y+R6Kem55S177yM5ZCM5pe25Ly06ZqP5Z2g6JC944CB55S15byn54On5Lyk562J5aSN5ZCI5Lyk5a6z44CCXG4jIyMg5Z2N5aGM5LqL5pWF576k5L2T5oCn5Lyk5a6zXG7mqKHmnb/mlK/mkpHkvZPns7vmiJbohJrmiYvmnrblnq7loYzml7bvvIzlvoDlvoDpgKDmiJDlpJrkurrooqvln4vljovvvIzmlZHmj7Tpmr7luqblpKfkuJTmrbvkuqHnjofmnoHpq5jjgIIiLCJ0cGxpZCI6IjEwMjMyMiIsInRwbE5hbWUiOiJsaXN0NF8yMDI1MDYyNjA4IiwiZWRpdGVkIjoiZmFsc2UifQ==</bd:templateData>
    </p:ext>
  </p:extLst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安全防护措施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eyJtZCI6IiMjIOWuieWFqOmYsuaKpOaOquaWvSIsInRwbGlkIjoiMTAyMzIyIiwidHBsTmFtZSI6ImgydGl0bGVfMTAyMzIyIiwiZWRpdGVkIjoiZmFsc2UifQ==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89139" y="4907596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965148" y="3145225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2493889" y="1358958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283333" y="1796843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必须符合GB 2811-2019《头部防护 安全帽》标准，具备抗冲击、耐穿刺、绝缘等硬性技术指标，帽壳内侧需清晰标注标准编号，电力作业需匹配G级（2200V）或E级（20000V）绝缘等级。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eyJfdGVtcGxhdGVEYXRhIjp7ImNvbnRlbnRUeXBlIjoiJGl0ZW0xX2MiLCJsaW5lQ291bnQiOiIzIiwid29yZENvdW50IjoiMzcifSwidGFnIjoiJGl0ZW0xX2MifQ==</bd:templateData>
          </p:ext>
        </p:extLst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11836" r="11836"/>
          <a:stretch>
            <a:fillRect/>
          </a:stretch>
        </p:blipFill>
        <p:spPr>
          <a:xfrm rot="0">
            <a:off x="1113196" y="1262384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0">
            <a:off x="9176895" y="3043110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11836" r="11836"/>
          <a:stretch>
            <a:fillRect/>
          </a:stretch>
        </p:blipFill>
        <p:spPr>
          <a:xfrm rot="0">
            <a:off x="1113196" y="4824531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name="TextBox 9" id="9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个人防护装备要求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3273808" y="1404023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安全帽标准升级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eyJfdGVtcGxhdGVEYXRhIjp7ImNvbnRlbnRUeXBlIjoiJGl0ZW0xX3RpdGxlIiwibGluZUNvdW50IjoiMSIsIndvcmRDb3VudCI6IjIyIn0sInRhZyI6IiRpdGVtMV90aXRsZSJ9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530470" y="3566057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推荐使用金能电力JN-FHMZ等带防护面罩的安全帽，面罩需能阻挡飞溅物和粉尘，材质可选ABS（耐腐蚀）或玻璃钢（耐高温），支持可拆卸设计实现一帽多用。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eyJfdGVtcGxhdGVEYXRhIjp7ImNvbnRlbnRUeXBlIjoiJGl0ZW0yX2MiLCJsaW5lQ291bnQiOiIzIiwid29yZENvdW50IjoiMzcifSwidGFnIjoiJGl0ZW0yX2MifQ==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520945" y="3173238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防护面罩一体化设计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eyJfdGVtcGxhdGVEYXRhIjp7ImNvbnRlbnRUeXBlIjoiJGl0ZW0yX3RpdGxlIiwibGluZUNvdW50IjoiMSIsIndvcmRDb3VudCI6IjIyIn0sInRhZyI6IiRpdGVtMl90aXRsZSJ9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3325984" y="5352046"/>
            <a:ext cx="7497178" cy="972854"/>
          </a:xfrm>
          <a:prstGeom prst="rect">
            <a:avLst/>
          </a:prstGeom>
          <a:ln/>
        </p:spPr>
        <p:txBody>
          <a:bodyPr anchor="t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高处作业必须配备全身式安全带（含缓冲器）、安全绳及锚固装置，安全带需符合GB 6095-2021标准，确保高挂低用并定期检查磨损情况。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eyJfdGVtcGxhdGVEYXRhIjp7ImNvbnRlbnRUeXBlIjoiJGl0ZW0zX2MiLCJsaW5lQ291bnQiOiIzIiwid29yZENvdW50IjoiMzcifSwidGFnIjoiJGl0ZW0zX2MifQ==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3316459" y="4959226"/>
            <a:ext cx="6148089" cy="449970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防坠落护具配置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eyJfdGVtcGxhdGVEYXRhIjp7ImNvbnRlbnRUeXBlIjoiJGl0ZW0zX3RpdGxlIiwibGluZUNvdW50IjoiMSIsIndvcmRDb3VudCI6IjIyIn0sInRhZyI6IiRpdGVtM190aXRsZSJ9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4quS6uumYsuaKpOijheWkh+imgeaxglxuIyMjIOWuieWFqOW4veagh+WHhuWNh+e6p1xu5b+F6aG756ym5ZCIR0IgMjgxMS0yMDE544CK5aS06YOo6Ziy5oqkIOWuieWFqOW4veOAi+agh+WHhu+8jOWFt+Wkh+aKl+WGsuWHu+OAgeiAkOepv+WIuuOAgee7nee8mOetieehrOaAp+aKgOacr+aMh+agh++8jOW4veWjs+WGheS+p+mcgOa4heaZsOagh+azqOagh+WHhue8luWPt++8jOeUteWKm+S9nOS4mumcgOWMuemFjUfnuqfvvIgyMjAwVu+8ieaIlkXnuqfvvIgyMDAwMFbvvInnu53nvJjnrYnnuqfjgIJcbiMjIyDpmLLmiqTpnaLnvankuIDkvZPljJborr7orqFcbuaOqOiNkOS9v+eUqOmHkeiDveeUteWKm0pOLUZITVrnrYnluKbpmLLmiqTpnaLnvannmoTlronlhajluL3vvIzpnaLnvanpnIDog73pmLvmjKHpo57muoXnianlkoznsonlsJjvvIzmnZDotKjlj6/pgIlBQlPvvIjogJDohZDomoDvvInmiJbnjrvnkoPpkqLvvIjogJDpq5jmuKnvvInvvIzmlK/mjIHlj6/mi4bljbjorr7orqHlrp7njrDkuIDluL3lpJrnlKjjgIJcbiMjIyDpmLLlnaDokL3miqTlhbfphY3nva5cbumrmOWkhOS9nOS4muW/hemhu+mFjeWkh+WFqOi6q+W8j+WuieWFqOW4pu+8iOWQq+e8k+WGsuWZqO+8ieOAgeWuieWFqOe7s+WPiumUmuWbuuijhee9ru+8jOWuieWFqOW4pumcgOespuWQiEdCIDYwOTUtMjAyMeagh+WHhu+8jOehruS/nemrmOaMguS9jueUqOW5tuWumuacn+ajgOafpeejqOaNn+aDheWGteOAgiIsInRwbGlkIjoiMTAyMzIyIiwidHBsTmFtZSI6Imxpc3QzX2ltZzUiLCJlZGl0ZWQiOiJmYWxzZSJ9</bd:templateData>
    </p:ext>
  </p:extLst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>
            <a:alphaModFix amt="100000"/>
          </a:blip>
          <a:srcRect l="12500" r="12500"/>
          <a:stretch>
            <a:fillRect/>
          </a:stretch>
        </p:blipFill>
        <p:spPr>
          <a:xfrm rot="0">
            <a:off x="425795" y="2384018"/>
            <a:ext cx="3415971" cy="34159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现场作业安全规范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4113475" y="1643082"/>
            <a:ext cx="3657600" cy="221985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4312581" y="1836534"/>
            <a:ext cx="3251104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作业环境评估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eyJfdGVtcGxhdGVEYXRhIjp7ImNvbnRlbnRUeXBlIjoiJGl0ZW0xX3RpdGxlIiwibGluZUNvdW50IjoiMSIsIndvcmRDb3VudCI6IjExIn0sInRhZyI6IiRpdGVtMV90aXRsZSJ9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4312581" y="2273337"/>
            <a:ext cx="3251104" cy="130869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作业前需检查平台、脚手架等承载结构的稳定性，清除周边坠落风险隐患，临边洞口需设置1.2米高防护栏杆并挂设安全网。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name="AutoShape 7" id="7"/>
          <p:cNvSpPr/>
          <p:nvPr/>
        </p:nvSpPr>
        <p:spPr>
          <a:xfrm rot="0">
            <a:off x="8070842" y="1650556"/>
            <a:ext cx="3657600" cy="221985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8269948" y="1844009"/>
            <a:ext cx="3251104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交叉作业管控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eyJfdGVtcGxhdGVEYXRhIjp7ImNvbnRlbnRUeXBlIjoiJGl0ZW0yX3RpdGxlIiwibGluZUNvdW50IjoiMSIsIndvcmRDb3VudCI6IjExIn0sInRhZyI6IiRpdGVtMl90aXRsZSJ9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8269948" y="2280812"/>
            <a:ext cx="3251104" cy="1301218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同一垂直空间多层作业时，应设置硬质隔离层或错时施工，工具材料需通过吊索传递，严禁抛掷，下方设警戒区并安排专人监护。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name="AutoShape 10" id="10"/>
          <p:cNvSpPr/>
          <p:nvPr/>
        </p:nvSpPr>
        <p:spPr>
          <a:xfrm rot="0">
            <a:off x="4120950" y="4294709"/>
            <a:ext cx="3657600" cy="221985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4320056" y="4488162"/>
            <a:ext cx="3251104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极端气候应对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eyJfdGVtcGxhdGVEYXRhIjp7ImNvbnRlbnRUeXBlIjoiJGl0ZW0zX3RpdGxlIiwibGluZUNvdW50IjoiMSIsIndvcmRDb3VudCI6IjExIn0sInRhZyI6IiRpdGVtM190aXRsZSJ9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4320056" y="4924965"/>
            <a:ext cx="3251104" cy="1316168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高温环境需选用耐150℃的安全帽材质，低温（-30℃）条件下需防帽壳脆裂，6级以上大风或雷雨天气应立即停止作业。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name="AutoShape 13" id="13"/>
          <p:cNvSpPr/>
          <p:nvPr/>
        </p:nvSpPr>
        <p:spPr>
          <a:xfrm rot="0">
            <a:off x="8078316" y="4302184"/>
            <a:ext cx="3657600" cy="221985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8277423" y="4495637"/>
            <a:ext cx="3251104" cy="490334"/>
          </a:xfrm>
          <a:prstGeom prst="rect">
            <a:avLst/>
          </a:prstGeom>
          <a:ln/>
        </p:spPr>
        <p:txBody>
          <a:bodyPr anchor="ctr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台账与检查制度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eyJfdGVtcGxhdGVEYXRhIjp7ImNvbnRlbnRUeXBlIjoiJGl0ZW00X3RpdGxlIiwibGluZUNvdW50IjoiMSIsIndvcmRDb3VudCI6IjExIn0sInRhZyI6IiRpdGVtNF90aXRsZSJ9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8277423" y="4932440"/>
            <a:ext cx="3251104" cy="1308693"/>
          </a:xfrm>
          <a:prstGeom prst="rect">
            <a:avLst/>
          </a:prstGeom>
          <a:ln/>
        </p:spPr>
        <p:txBody>
          <a:bodyPr anchor="t" rtlCol="false" lIns="66008" rIns="66008" tIns="33052" bIns="33052" anchorCtr="false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企业需建立防护装备领用、检查、报废台账，安全帽每日检查帽壳裂纹、帽衬变形，安全带每月进行静载荷测试，记录保存至少2年。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OsOWcuuS9nOS4muWuieWFqOinhOiMg1xuIyMjIOS9nOS4mueOr+Wig+ivhOS8sFxu5L2c5Lia5YmN6ZyA5qOA5p+l5bmz5Y+w44CB6ISa5omL5p62562J5om/6L2957uT5p6E55qE56iz5a6a5oCn77yM5riF6Zmk5ZGo6L655Z2g6JC96aOO6Zmp6ZqQ5oKj77yM5Li06L655rSe5Y+j6ZyA6K6+572uMS4y57Gz6auY6Ziy5oqk5qCP5p2G5bm25oyC6K6+5a6J5YWo572R44CCXG4jIyMg5Lqk5Y+J5L2c5Lia566h5o6nXG7lkIzkuIDlnoLnm7Tnqbrpl7TlpJrlsYLkvZzkuJrml7bvvIzlupTorr7nva7noazotKjpmpTnprvlsYLmiJbplJnml7bmlr3lt6XvvIzlt6XlhbfmnZDmlpnpnIDpgJrov4flkIrntKLkvKDpgJLvvIzkuKXnpoHmipvmjrfvvIzkuIvmlrnorr7orabmiJLljLrlubblronmjpLkuJPkurrnm5HmiqTjgIJcbiMjIyDmnoHnq6/msJTlgJnlupTlr7lcbumrmOa4qeeOr+Wig+mcgOmAieeUqOiAkDE1MOKEg+eahOWuieWFqOW4veadkOi0qO+8jOS9jua4qe+8iC0zMOKEg++8ieadoeS7tuS4i+mcgOmYsuW4veWjs+iEhuijgu+8jDbnuqfku6XkuIrlpKfpo47miJbpm7fpm6jlpKnmsJTlupTnq4vljbPlgZzmraLkvZzkuJrjgIJcbiMjIyDlj7DotKbkuI7mo4Dmn6XliLbluqZcbuS8geS4mumcgOW7uueri+mYsuaKpOijheWkh+mihueUqOOAgeajgOafpeOAgeaKpeW6n+WPsOi0pu+8jOWuieWFqOW4veavj+aXpeajgOafpeW4veWjs+ijgue6ueOAgeW4veihrOWPmOW9ou+8jOWuieWFqOW4puavj+aciOi/m+ihjOmdmei9veiNt+a1i+ivle+8jOiusOW9leS/neWtmOiHs+WwkTLlubTjgIIiLCJ0cGxpZCI6IjEwMjMyMiIsInRwbE5hbWUiOiJsaXN0NF9JbWdDMiIsImVkaXRlZCI6ImZhbHNlIn0=</bd:templateData>
    </p:ext>
  </p:extLst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 rot="0" flipH="false">
            <a:off x="9383840" y="1179728"/>
            <a:ext cx="2367565" cy="298933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name="TextBox 3" id="3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应急处理流程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00000"/>
          </a:blip>
          <a:srcRect l="24691" r="24691"/>
          <a:stretch>
            <a:fillRect/>
          </a:stretch>
        </p:blipFill>
        <p:spPr>
          <a:xfrm rot="0" flipH="false">
            <a:off x="7357469" y="3126819"/>
            <a:ext cx="2376634" cy="3129344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name="AutoShape 5" id="5"/>
          <p:cNvSpPr/>
          <p:nvPr/>
        </p:nvSpPr>
        <p:spPr>
          <a:xfrm rot="0">
            <a:off x="10139702" y="4805703"/>
            <a:ext cx="2052297" cy="2052297"/>
          </a:xfrm>
          <a:prstGeom prst="rect">
            <a:avLst/>
          </a:prstGeom>
          <a:solidFill>
            <a:schemeClr val="dk1">
              <a:alpha val="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9131919" y="2565721"/>
            <a:ext cx="849827" cy="2052297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833792" y="1313239"/>
            <a:ext cx="1438275" cy="409575"/>
          </a:xfrm>
          <a:prstGeom prst="rect">
            <a:avLst/>
          </a:prstGeom>
          <a:ln/>
        </p:spPr>
        <p:txBody>
          <a:bodyPr anchor="ctr" rtlCol="false" lIns="0" rIns="0" tIns="0" bIns="0" anchorCtr="false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eyJfdGVtcGxhdGVEYXRhIjp7ImxpbmVDb3VudCI6IjEiLCJ3b3JkQ291bnQiOiIzIn0sInRhZyI6Im5vRWRpdCJ9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833792" y="1837576"/>
            <a:ext cx="2354768" cy="269506"/>
          </a:xfrm>
          <a:prstGeom prst="rect">
            <a:avLst/>
          </a:prstGeom>
          <a:noFill/>
          <a:ln/>
        </p:spPr>
        <p:txBody>
          <a:bodyPr anchor="ctr" rtlCol="false" lIns="0" rIns="0" tIns="0" bIns="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坠落事故响应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833792" y="2182756"/>
            <a:ext cx="5813326" cy="644739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立即启动应急预案，封锁现场并报告，伤员搬运需固定脊柱，避免二次伤害，同时检查锚固点是否失效并追溯装备合规性。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eyJfdGVtcGxhdGVEYXRhIjp7ImNvbnRlbnRUeXBlIjoiJGl0ZW0xX2MiLCJsaW5lQ291bnQiOiIyIiwid29yZENvdW50IjoiMzAifSwidGFnIjoiJGl0ZW0xX2MifQ==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833792" y="3005973"/>
            <a:ext cx="1438275" cy="409575"/>
          </a:xfrm>
          <a:prstGeom prst="rect">
            <a:avLst/>
          </a:prstGeom>
          <a:ln/>
        </p:spPr>
        <p:txBody>
          <a:bodyPr anchor="ctr" rtlCol="false" lIns="0" rIns="0" tIns="0" bIns="0" anchorCtr="false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eyJfdGVtcGxhdGVEYXRhIjp7ImxpbmVDb3VudCI6IjEiLCJ3b3JkQ291bnQiOiIzIn0sInRhZyI6Im5vRWRpdCJ9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833792" y="3530311"/>
            <a:ext cx="2354768" cy="269506"/>
          </a:xfrm>
          <a:prstGeom prst="rect">
            <a:avLst/>
          </a:prstGeom>
          <a:noFill/>
          <a:ln/>
        </p:spPr>
        <p:txBody>
          <a:bodyPr anchor="ctr" rtlCol="false" lIns="0" rIns="0" tIns="0" bIns="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物体打击处理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833792" y="3875490"/>
            <a:ext cx="5813326" cy="644739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迅速移除伤员头部安全帽检查伤情，若面罩受损需评估眼部伤害，保留事故帽作为调查证据，同步排查同类批次产品隐患。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eyJfdGVtcGxhdGVEYXRhIjp7ImNvbnRlbnRUeXBlIjoiJGl0ZW0yX2MiLCJsaW5lQ291bnQiOiIyIiwid29yZENvdW50IjoiMzAifSwidGFnIjoiJGl0ZW0yX2MifQ==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833792" y="4741906"/>
            <a:ext cx="1438275" cy="409575"/>
          </a:xfrm>
          <a:prstGeom prst="rect">
            <a:avLst/>
          </a:prstGeom>
          <a:ln/>
        </p:spPr>
        <p:txBody>
          <a:bodyPr anchor="ctr" rtlCol="false" lIns="0" rIns="0" tIns="0" bIns="0" anchorCtr="false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b="true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eyJfdGVtcGxhdGVEYXRhIjp7ImxpbmVDb3VudCI6IjEiLCJ3b3JkQ291bnQiOiIzIn0sInRhZyI6Im5vRWRpdCJ9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833792" y="5266244"/>
            <a:ext cx="2354768" cy="269506"/>
          </a:xfrm>
          <a:prstGeom prst="rect">
            <a:avLst/>
          </a:prstGeom>
          <a:noFill/>
          <a:ln/>
        </p:spPr>
        <p:txBody>
          <a:bodyPr anchor="ctr" rtlCol="false" lIns="0" rIns="0" tIns="0" bIns="0" anchorCtr="false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b="true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触电救援措施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833792" y="5611423"/>
            <a:ext cx="5813326" cy="644739"/>
          </a:xfrm>
          <a:prstGeom prst="rect">
            <a:avLst/>
          </a:prstGeom>
          <a:ln/>
        </p:spPr>
        <p:txBody>
          <a:bodyPr anchor="t" rtlCol="false" lIns="0" rIns="0" tIns="0" bIns="0" anchorCtr="false" vert="horz" wrap="square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使用绝缘杆切断电源，救援人员穿戴E级绝缘手套和靴子，伤员脱离后检查安全帽绝缘层是否击穿，优先进行心肺复苏并送医。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eyJfdGVtcGxhdGVEYXRhIjp7ImNvbnRlbnRUeXBlIjoiJGl0ZW0zX2MiLCJsaW5lQ291bnQiOiIyIiwid29yZENvdW50IjoiMzAifSwidGFnIjoiJGl0ZW0zX2MifQ==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6lOaApeWkhOeQhua1geeoi1xuIyMjIOWdoOiQveS6i+aVheWTjeW6lFxu56uL5Y2z5ZCv5Yqo5bqU5oCl6aKE5qGI77yM5bCB6ZSB546w5Zy65bm25oql5ZGK77yM5Lyk5ZGY5pCs6L+Q6ZyA5Zu65a6a6ISK5p+x77yM6YG/5YWN5LqM5qyh5Lyk5a6z77yM5ZCM5pe25qOA5p+l6ZSa5Zu654K55piv5ZCm5aSx5pWI5bm26L+95rqv6KOF5aSH5ZCI6KeE5oCn44CCXG4jIyMg54mp5L2T5omT5Ye75aSE55CGXG7ov4XpgJ/np7vpmaTkvKTlkZjlpLTpg6jlronlhajluL3mo4Dmn6XkvKTmg4XvvIzoi6XpnaLnvanlj5fmjZ/pnIDor4TkvLDnnLzpg6jkvKTlrrPvvIzkv53nlZnkuovmlYXluL3kvZzkuLrosIPmn6Xor4Hmja7vvIzlkIzmraXmjpLmn6XlkIznsbvmibnmrKHkuqflk4HpmpDmgqPjgIJcbiMjIyDop6bnlLXmlZHmj7Tmjqrmlr1cbuS9v+eUqOe7nee8mOadhuWIh+aWreeUtea6kO+8jOaVkeaPtOS6uuWRmOepv+aItEXnuqfnu53nvJjmiYvlpZflkozpnbTlrZDvvIzkvKTlkZjohLHnprvlkI7mo4Dmn6XlronlhajluL3nu53nvJjlsYLmmK/lkKblh7vnqb/vvIzkvJjlhYjov5vooYzlv4PogrrlpI3oi4/lubbpgIHljLvjgIIiLCJ0cGxpZCI6IjEwMjMyMiIsInRwbE5hbWUiOiJsaXN0M18yMDI1MDcwMzI0IiwiZWRpdGVkIjoiZmFsc2UifQ==</bd:templateData>
    </p:ext>
  </p:extLst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1000007"/>
          <p:cNvPicPr>
            <a:picLocks noChangeAspect="true"/>
          </p:cNvPicPr>
          <p:nvPr/>
        </p:nvPicPr>
        <p:blipFill>
          <a:blip r:embed="rId3"/>
          <a:srcRect l="58572"/>
          <a:stretch>
            <a:fillRect/>
          </a:stretch>
        </p:blipFill>
        <p:spPr>
          <a:xfrm rot="16200000" flipH="true">
            <a:off x="2664546" y="-2664548"/>
            <a:ext cx="6862906" cy="12192002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1000008"/>
          <p:cNvSpPr txBox="true"/>
          <p:nvPr/>
        </p:nvSpPr>
        <p:spPr>
          <a:xfrm rot="0">
            <a:off x="4434917" y="1215462"/>
            <a:ext cx="3326130" cy="2225040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true" sz="13800">
                <a:ln w="9525">
                  <a:solidFill>
                    <a:srgbClr val="55819A">
                      <a:alpha val="100000"/>
                    </a:srgbClr>
                  </a:solidFill>
                  <a:prstDash val="solid"/>
                </a:ln>
                <a:solidFill>
                  <a:srgbClr val="DBF1FF">
                    <a:alpha val="100000"/>
                  </a:srgbClr>
                </a:solidFill>
                <a:effectLst>
                  <a:outerShdw dir="2700000" blurRad="0" dist="38100">
                    <a:srgbClr val="B3CEE1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eyJfdGVtcGxhdGVEYXRhIjp7ImNvbnRlbnRUeXBlIjoiJG51bWJlciIsImxpbmVDb3VudCI6IjEiLCJ3b3JkQ291bnQiOiIxIn0sInRhZyI6IiRudW1iZXIifQ==</bd:templateData>
          </p:ext>
        </p:extLst>
      </p:sp>
      <p:sp>
        <p:nvSpPr>
          <p:cNvPr name="TextBox 4" id="1000009"/>
          <p:cNvSpPr txBox="true"/>
          <p:nvPr/>
        </p:nvSpPr>
        <p:spPr>
          <a:xfrm rot="0">
            <a:off x="2402697" y="3053220"/>
            <a:ext cx="7386604" cy="1323439"/>
          </a:xfrm>
          <a:prstGeom prst="rect">
            <a:avLst/>
          </a:prstGeom>
          <a:noFill/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0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管理要求与建议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eyJfdGVtcGxhdGVEYXRhIjp7ImNvbnRlbnRUeXBlIjoiJHRpdGxlIiwibGluZUNvdW50IjoiMSIsIndvcmRDb3VudCI6IjEwIn0sInRhZyI6IiR0aXRsZSJ9</bd:templateData>
          </p:ext>
        </p:extLst>
      </p:sp>
      <p:sp>
        <p:nvSpPr>
          <p:cNvPr name="AutoShape 5" id="1000010"/>
          <p:cNvSpPr/>
          <p:nvPr/>
        </p:nvSpPr>
        <p:spPr>
          <a:xfrm rot="0">
            <a:off x="3638682" y="4237117"/>
            <a:ext cx="4162095" cy="461673"/>
          </a:xfrm>
          <a:prstGeom prst="rect">
            <a:avLst/>
          </a:prstGeom>
          <a:noFill/>
          <a:ln/>
        </p:spPr>
        <p:txBody>
          <a:bodyPr anchor="t" rtlCol="false" tIns="45720" lIns="91440" bIns="45720" rIns="91440" anchorCtr="false" vert="horz" wrap="square">
            <a:noAutofit/>
          </a:bodyPr>
          <a:lstStyle/>
          <a:p>
            <a:pPr algn="ctr">
              <a:defRPr/>
            </a:pP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endParaRPr lang="en-US" sz="1100"/>
          </a:p>
          <a:p>
            <a:pPr algn="ctr"/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  <a:r>
              <a:rPr lang="en-US" sz="800">
                <a:solidFill>
                  <a:schemeClr val="lt1">
                    <a:alpha val="100000"/>
                    <a:lumMod val="65000"/>
                  </a:schemeClr>
                </a:solidFill>
                <a:latin typeface="思源黑体"/>
                <a:ea typeface="思源黑体"/>
                <a:cs typeface="思源黑体"/>
              </a:rPr>
              <a:t/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name="Picture 6" id="1000003"/>
          <p:cNvPicPr>
            <a:picLocks noChangeAspect="true"/>
          </p:cNvPicPr>
          <p:nvPr/>
        </p:nvPicPr>
        <p:blipFill>
          <a:blip r:embed="rId4"/>
          <a:srcRect l="49954" r="31494" t="56644"/>
          <a:stretch>
            <a:fillRect/>
          </a:stretch>
        </p:blipFill>
        <p:spPr>
          <a:xfrm rot="0">
            <a:off x="5092971" y="765054"/>
            <a:ext cx="1072055" cy="187908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eyJtZCI6IiMjIOeuoeeQhuimgeaxguS4juW7uuiuriIsInRwbGlkIjoiMTAyMzIyIiwidHBsTmFtZSI6ImgydGl0bGVfMTAyMzIyIiwiZWRpdGVkIjoiZmFsc2UifQ==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16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0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>
                                        <p:cTn dur="500" id="9"/>
                                        <p:tgtEl>
                                          <p:spTgt spid="10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 id="13"/>
                                        <p:tgtEl>
                                          <p:spTgt spid="1000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100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2" id="17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21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22" tmFilter="0, 0; .2, .5; .8, .5; 1, 0"/>
                                        <p:tgtEl>
                                          <p:spTgt spid="10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23"/>
                                        <p:tgtEl>
                                          <p:spTgt spid="10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150"/>
                            </p:stCondLst>
                            <p:childTnLst>
                              <p:par>
                                <p:cTn fill="hold" grpId="0" id="25" nodeType="after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>
                                        <p:cTn dur="500" id="27"/>
                                        <p:tgtEl>
                                          <p:spTgt spid="10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023" y="265328"/>
            <a:ext cx="11239500" cy="942975"/>
          </a:xfrm>
          <a:prstGeom prst="rect">
            <a:avLst/>
          </a:prstGeom>
          <a:ln/>
        </p:spPr>
        <p:txBody>
          <a:bodyPr anchor="t" rtlCol="false" lIns="123825" rIns="57150" tIns="123825" bIns="123825" anchorCtr="false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安全培训与交底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AutoShape 3" id="3"/>
          <p:cNvSpPr/>
          <p:nvPr/>
        </p:nvSpPr>
        <p:spPr>
          <a:xfrm rot="0">
            <a:off x="579575" y="1869630"/>
            <a:ext cx="4527876" cy="822410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579575" y="4988879"/>
            <a:ext cx="4527876" cy="822410"/>
          </a:xfrm>
          <a:prstGeom prst="roundRect">
            <a:avLst>
              <a:gd fmla="val 50000" name="adj"/>
            </a:avLst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5" id="5"/>
          <p:cNvSpPr/>
          <p:nvPr/>
        </p:nvSpPr>
        <p:spPr>
          <a:xfrm rot="0">
            <a:off x="579575" y="3406407"/>
            <a:ext cx="4527876" cy="822410"/>
          </a:xfrm>
          <a:prstGeom prst="roundRect">
            <a:avLst>
              <a:gd fmla="val 50000" name="adj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name="Connector 6" id="6"/>
          <p:cNvCxnSpPr/>
          <p:nvPr/>
        </p:nvCxnSpPr>
        <p:spPr>
          <a:xfrm>
            <a:off x="5541189" y="1423763"/>
            <a:ext cx="0" cy="5036107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AutoShape 7" id="7"/>
          <p:cNvSpPr/>
          <p:nvPr/>
        </p:nvSpPr>
        <p:spPr>
          <a:xfrm rot="8100000">
            <a:off x="5445939" y="2137960"/>
            <a:ext cx="190500" cy="19050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8" id="8"/>
          <p:cNvSpPr/>
          <p:nvPr/>
        </p:nvSpPr>
        <p:spPr>
          <a:xfrm rot="8100000">
            <a:off x="5445939" y="3674738"/>
            <a:ext cx="190500" cy="190500"/>
          </a:xfrm>
          <a:prstGeom prst="rect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9" id="9"/>
          <p:cNvSpPr/>
          <p:nvPr/>
        </p:nvSpPr>
        <p:spPr>
          <a:xfrm rot="8100000">
            <a:off x="5445939" y="5257209"/>
            <a:ext cx="190500" cy="190500"/>
          </a:xfrm>
          <a:prstGeom prst="rect">
            <a:avLst/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5980842" y="1652016"/>
            <a:ext cx="5544181" cy="1257637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所有涉及高处作业的人员（包括作业人员、班组长、安全监督员）必须接受系统化培训，内容涵盖风险辨识、防护措施、应急处置等核心模块，确保从理论到实操的全面掌握。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eyJfdGVtcGxhdGVEYXRhIjp7ImNvbnRlbnRUeXBlIjoiJGl0ZW0xX2MiLCJsaW5lQ291bnQiOiI0Iiwid29yZENvdW50IjoiMzAifSwidGFnIjoiJGl0ZW0xX2MifQ==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5980842" y="3188794"/>
            <a:ext cx="5544181" cy="1257637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培训后需通过理论+实操双重考核，不合格者禁止上岗；特种作业人员必须持有效操作证（如高处安装维护拆除作业证），证书信息需在国家应急管理部平台可查。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eyJfdGVtcGxhdGVEYXRhIjp7ImNvbnRlbnRUeXBlIjoiJGl0ZW0yX2MiLCJsaW5lQ291bnQiOiI0Iiwid29yZENvdW50IjoiMzAifSwidGFnIjoiJGl0ZW0yX2MifQ==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5980842" y="4771266"/>
            <a:ext cx="5544181" cy="1257637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作业前需进行针对性安全技术交底，采用“书面+现场演示”形式，交底记录需双方签字确认，重点强调作业环境变化（如新增临边洞口）时的补充交底要求。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eyJfdGVtcGxhdGVEYXRhIjp7ImNvbnRlbnRUeXBlIjoiJGl0ZW0zX2MiLCJsaW5lQ291bnQiOiI0Iiwid29yZENvdW50IjoiMzAifSwidGFnIjoiJGl0ZW0zX2MifQ==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963136" y="1974611"/>
            <a:ext cx="3760753" cy="612447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全员覆盖的强制性培训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963136" y="3511389"/>
            <a:ext cx="3760753" cy="612447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考核与资质挂钩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963136" y="5093861"/>
            <a:ext cx="3760753" cy="612447"/>
          </a:xfrm>
          <a:prstGeom prst="rect">
            <a:avLst/>
          </a:prstGeom>
          <a:ln/>
        </p:spPr>
        <p:txBody>
          <a:bodyPr anchor="ctr" rtlCol="false" lIns="114300" rIns="114300" tIns="57150" bIns="57150" anchorCtr="false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b="true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动态化交底流程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ieWFqOWfueiureS4juS6pOW6lVxuIyMjIOWFqOWRmOimhueblueahOW8uuWItuaAp+WfueiurVxu5omA5pyJ5raJ5Y+K6auY5aSE5L2c5Lia55qE5Lq65ZGY77yI5YyF5ous5L2c5Lia5Lq65ZGY44CB54+t57uE6ZW/44CB5a6J5YWo55uR552j5ZGY77yJ5b+F6aG75o6l5Y+X57O757uf5YyW5Z+56K6t77yM5YaF5a655ra155uW6aOO6Zmp6L6o6K+G44CB6Ziy5oqk5o6q5pa944CB5bqU5oCl5aSE572u562J5qC45b+D5qih5Z2X77yM56Gu5L+d5LuO55CG6K665Yiw5a6e5pON55qE5YWo6Z2i5o6M5o+h44CCXG4jIyMg6ICD5qC45LiO6LWE6LSo5oyC6ZKpXG7ln7norq3lkI7pnIDpgJrov4fnkIborror5a6e5pON5Y+M6YeN6ICD5qC477yM5LiN5ZCI5qC86ICF56aB5q2i5LiK5bKX77yb54m556eN5L2c5Lia5Lq65ZGY5b+F6aG75oyB5pyJ5pWI5pON5L2c6K+B77yI5aaC6auY5aSE5a6J6KOF57u05oqk5ouG6Zmk5L2c5Lia6K+B77yJ77yM6K+B5Lmm5L+h5oGv6ZyA5Zyo5Zu95a625bqU5oCl566h55CG6YOo5bmz5Y+w5Y+v5p+l44CCXG4jIyMg5Yqo5oCB5YyW5Lqk5bqV5rWB56iLXG7kvZzkuJrliY3pnIDov5vooYzpkojlr7nmgKflronlhajmioDmnK/kuqTlupXvvIzph4fnlKjigJzkuabpnaIr546w5Zy65ryU56S64oCd5b2i5byP77yM5Lqk5bqV6K6w5b2V6ZyA5Y+M5pa5562+5a2X56Gu6K6k77yM6YeN54K55by66LCD5L2c5Lia546v5aKD5Y+Y5YyW77yI5aaC5paw5aKe5Li06L655rSe5Y+j77yJ5pe255qE6KGl5YWF5Lqk5bqV6KaB5rGC44CCIiwidHBsaWQiOiIxMDIzMjIiLCJ0cGxOYW1lIjoibGlzdDNfMjUwMzI2MDIiLCJlZGl0ZWQiOiJmYWxzZSJ9</bd:templateData>
    </p:ext>
  </p:extLst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-47" r="-47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56119" y="4034060"/>
            <a:ext cx="729983" cy="690832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b="true" sz="36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3" id="3"/>
          <p:cNvSpPr txBox="true"/>
          <p:nvPr/>
        </p:nvSpPr>
        <p:spPr>
          <a:xfrm rot="0">
            <a:off x="6356119" y="2847061"/>
            <a:ext cx="729983" cy="690832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b="true" sz="36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4" id="4"/>
          <p:cNvSpPr txBox="true"/>
          <p:nvPr/>
        </p:nvSpPr>
        <p:spPr>
          <a:xfrm rot="0">
            <a:off x="6356119" y="1723135"/>
            <a:ext cx="729983" cy="690832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b="true" sz="36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701945" y="5229251"/>
            <a:ext cx="711502" cy="690832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b="true" sz="36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6" id="6"/>
          <p:cNvSpPr txBox="true"/>
          <p:nvPr/>
        </p:nvSpPr>
        <p:spPr>
          <a:xfrm rot="0">
            <a:off x="701945" y="4049714"/>
            <a:ext cx="766945" cy="690832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b="true" sz="36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701945" y="2862715"/>
            <a:ext cx="766945" cy="690832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b="true" sz="36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8" id="8"/>
          <p:cNvSpPr txBox="true"/>
          <p:nvPr/>
        </p:nvSpPr>
        <p:spPr>
          <a:xfrm rot="0">
            <a:off x="701945" y="1738789"/>
            <a:ext cx="766945" cy="690832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b="true" sz="36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9" id="9"/>
          <p:cNvSpPr txBox="true"/>
          <p:nvPr/>
        </p:nvSpPr>
        <p:spPr>
          <a:xfrm rot="0">
            <a:off x="1538729" y="2613945"/>
            <a:ext cx="4235503" cy="1207421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·### 分级巡查制度：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eyJfdGVtcGxhdGVEYXRhIjp7ImNvbnRlbnRUeXBlIjoiJGl0ZW0yX2MiLCJsaW5lQ291bnQiOiIzIiwid29yZENvdW50IjoiMjAifSwidGFnIjoiJGl0ZW0yX2MifQ==</bd:templateData>
          </p:ext>
        </p:extLst>
      </p:sp>
      <p:sp>
        <p:nvSpPr>
          <p:cNvPr name="TextBox 10" id="10"/>
          <p:cNvSpPr txBox="true"/>
          <p:nvPr/>
        </p:nvSpPr>
        <p:spPr>
          <a:xfrm rot="0">
            <a:off x="1538729" y="1480494"/>
            <a:ext cx="4235503" cy="1207421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建立多层级、高频次的立体化监管体系，通过技术手段与人工检查相结合的方式，确保高处作业全过程受控，及时消除隐患。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eyJfdGVtcGxhdGVEYXRhIjp7ImNvbnRlbnRUeXBlIjoiJGl0ZW0xX2MiLCJsaW5lQ291bnQiOiIzIiwid29yZENvdW50IjoiMjAifSwidGFnIjoiJGl0ZW0xX2MifQ==</bd:templateData>
          </p:ext>
        </p:extLst>
      </p:sp>
      <p:sp>
        <p:nvSpPr>
          <p:cNvPr name="TextBox 11" id="11"/>
          <p:cNvSpPr txBox="true"/>
          <p:nvPr/>
        </p:nvSpPr>
        <p:spPr>
          <a:xfrm rot="0">
            <a:off x="1538729" y="3791419"/>
            <a:ext cx="4235503" cy="1207421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班组级：班组长每日开工前检查安全带、防坠器等个人防护装备完好性，确认作业平台稳定性。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eyJfdGVtcGxhdGVEYXRhIjp7ImNvbnRlbnRUeXBlIjoiJGl0ZW0zX2MiLCJsaW5lQ291bnQiOiIzIiwid29yZENvdW50IjoiMjAifSwidGFnIjoiJGl0ZW0zX2MifQ==</bd:templateData>
          </p:ext>
        </p:extLst>
      </p:sp>
      <p:sp>
        <p:nvSpPr>
          <p:cNvPr name="TextBox 12" id="12"/>
          <p:cNvSpPr txBox="true"/>
          <p:nvPr/>
        </p:nvSpPr>
        <p:spPr>
          <a:xfrm rot="0">
            <a:off x="1538729" y="4970956"/>
            <a:ext cx="4181452" cy="1207421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项目级：安全员每日巡回检查，重点监控交叉作业隔离措施、临边防护栏高度（≥1.2米）等关键项。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eyJfdGVtcGxhdGVEYXRhIjp7ImNvbnRlbnRUeXBlIjoiJGl0ZW00X2MiLCJsaW5lQ291bnQiOiIzIiwid29yZENvdW50IjoiMTkifSwidGFnIjoiJGl0ZW00X2MifQ==</bd:templateData>
          </p:ext>
        </p:extLst>
      </p:sp>
      <p:sp>
        <p:nvSpPr>
          <p:cNvPr name="TextBox 13" id="13"/>
          <p:cNvSpPr txBox="true"/>
          <p:nvPr/>
        </p:nvSpPr>
        <p:spPr>
          <a:xfrm rot="0">
            <a:off x="7191481" y="2598292"/>
            <a:ext cx="4235503" cy="1207421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·### 数字化监控应用：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eyJfdGVtcGxhdGVEYXRhIjp7ImNvbnRlbnRUeXBlIjoiJGl0ZW02X2MiLCJsaW5lQ291bnQiOiIzIiwid29yZENvdW50IjoiMjAifSwidGFnIjoiJGl0ZW02X2MifQ==</bd:templateData>
          </p:ext>
        </p:extLst>
      </p:sp>
      <p:sp>
        <p:nvSpPr>
          <p:cNvPr name="TextBox 14" id="14"/>
          <p:cNvSpPr txBox="true"/>
          <p:nvPr/>
        </p:nvSpPr>
        <p:spPr>
          <a:xfrm rot="0">
            <a:off x="7191481" y="1464841"/>
            <a:ext cx="4235503" cy="1207421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企业级：每月专项督查，覆盖设备定期试验记录、应急预案演练效果等管理环节。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eyJfdGVtcGxhdGVEYXRhIjp7ImNvbnRlbnRUeXBlIjoiJGl0ZW01X2MiLCJsaW5lQ291bnQiOiIzIiwid29yZENvdW50IjoiMjAifSwidGFnIjoiJGl0ZW01X2MifQ==</bd:templateData>
          </p:ext>
        </p:extLst>
      </p:sp>
      <p:sp>
        <p:nvSpPr>
          <p:cNvPr name="TextBox 15" id="15"/>
          <p:cNvSpPr txBox="true"/>
          <p:nvPr/>
        </p:nvSpPr>
        <p:spPr>
          <a:xfrm rot="0">
            <a:off x="7191481" y="3775766"/>
            <a:ext cx="4235503" cy="1207421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在特级高处作业区域部署智能安全帽+视频监控系统，实时监测人员安全带系挂状态及作业行为规范。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eyJfdGVtcGxhdGVEYXRhIjp7ImNvbnRlbnRUeXBlIjoiJGl0ZW03X2MiLCJsaW5lQ291bnQiOiIzIiwid29yZENvdW50IjoiMjAifSwidGFnIjoiJGl0ZW03X2MifQ==</bd:templateData>
          </p:ext>
        </p:extLst>
      </p:sp>
      <p:cxnSp>
        <p:nvCxnSpPr>
          <p:cNvPr name="Connector 16" id="16"/>
          <p:cNvCxnSpPr/>
          <p:nvPr/>
        </p:nvCxnSpPr>
        <p:spPr>
          <a:xfrm>
            <a:off x="701945" y="2613945"/>
            <a:ext cx="5072287" cy="0"/>
          </a:xfrm>
          <a:prstGeom prst="line">
            <a:avLst/>
          </a:prstGeom>
          <a:ln w="9525">
            <a:solidFill>
              <a:schemeClr val="lt2"/>
            </a:solidFill>
            <a:prstDash val="solid"/>
            <a:headEnd type="none"/>
            <a:tailEnd type="none"/>
          </a:ln>
        </p:spPr>
        <p:style>
          <a:lnRef idx="0">
            <a:schemeClr val="lt2"/>
          </a:lnRef>
          <a:fillRef idx="1">
            <a:schemeClr val="lt2"/>
          </a:fillRef>
          <a:effectRef idx="0">
            <a:schemeClr val="lt2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17" id="17"/>
          <p:cNvCxnSpPr/>
          <p:nvPr/>
        </p:nvCxnSpPr>
        <p:spPr>
          <a:xfrm>
            <a:off x="701945" y="3821366"/>
            <a:ext cx="5072287" cy="0"/>
          </a:xfrm>
          <a:prstGeom prst="line">
            <a:avLst/>
          </a:prstGeom>
          <a:ln w="9525">
            <a:solidFill>
              <a:schemeClr val="lt2"/>
            </a:solidFill>
            <a:prstDash val="solid"/>
            <a:headEnd type="none"/>
            <a:tailEnd type="none"/>
          </a:ln>
        </p:spPr>
        <p:style>
          <a:lnRef idx="0">
            <a:schemeClr val="lt2"/>
          </a:lnRef>
          <a:fillRef idx="1">
            <a:schemeClr val="lt2"/>
          </a:fillRef>
          <a:effectRef idx="0">
            <a:schemeClr val="lt2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18" id="18"/>
          <p:cNvCxnSpPr/>
          <p:nvPr/>
        </p:nvCxnSpPr>
        <p:spPr>
          <a:xfrm>
            <a:off x="701945" y="4998840"/>
            <a:ext cx="5072287" cy="0"/>
          </a:xfrm>
          <a:prstGeom prst="line">
            <a:avLst/>
          </a:prstGeom>
          <a:ln w="9525">
            <a:solidFill>
              <a:schemeClr val="lt2"/>
            </a:solidFill>
            <a:prstDash val="solid"/>
            <a:headEnd type="none"/>
            <a:tailEnd type="none"/>
          </a:ln>
        </p:spPr>
        <p:style>
          <a:lnRef idx="0">
            <a:schemeClr val="lt2"/>
          </a:lnRef>
          <a:fillRef idx="1">
            <a:schemeClr val="lt2"/>
          </a:fillRef>
          <a:effectRef idx="0">
            <a:schemeClr val="lt2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19" id="19"/>
          <p:cNvCxnSpPr/>
          <p:nvPr/>
        </p:nvCxnSpPr>
        <p:spPr>
          <a:xfrm>
            <a:off x="6365988" y="2613945"/>
            <a:ext cx="5072287" cy="0"/>
          </a:xfrm>
          <a:prstGeom prst="line">
            <a:avLst/>
          </a:prstGeom>
          <a:ln w="9525">
            <a:solidFill>
              <a:schemeClr val="lt2"/>
            </a:solidFill>
            <a:prstDash val="solid"/>
            <a:headEnd type="none"/>
            <a:tailEnd type="none"/>
          </a:ln>
        </p:spPr>
        <p:style>
          <a:lnRef idx="0">
            <a:schemeClr val="lt2"/>
          </a:lnRef>
          <a:fillRef idx="1">
            <a:schemeClr val="lt2"/>
          </a:fillRef>
          <a:effectRef idx="0">
            <a:schemeClr val="lt2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name="Connector 20" id="20"/>
          <p:cNvCxnSpPr/>
          <p:nvPr/>
        </p:nvCxnSpPr>
        <p:spPr>
          <a:xfrm>
            <a:off x="6365988" y="3821366"/>
            <a:ext cx="5072287" cy="0"/>
          </a:xfrm>
          <a:prstGeom prst="line">
            <a:avLst/>
          </a:prstGeom>
          <a:ln w="9525">
            <a:solidFill>
              <a:schemeClr val="lt2"/>
            </a:solidFill>
            <a:prstDash val="solid"/>
            <a:headEnd type="none"/>
            <a:tailEnd type="none"/>
          </a:ln>
        </p:spPr>
        <p:style>
          <a:lnRef idx="0">
            <a:schemeClr val="lt2"/>
          </a:lnRef>
          <a:fillRef idx="1">
            <a:schemeClr val="lt2"/>
          </a:fillRef>
          <a:effectRef idx="0">
            <a:schemeClr val="lt2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name="TextBox 21" id="21"/>
          <p:cNvSpPr txBox="true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b="true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监督检查机制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name="TextBox 22" id="22"/>
          <p:cNvSpPr txBox="true"/>
          <p:nvPr/>
        </p:nvSpPr>
        <p:spPr>
          <a:xfrm rot="0">
            <a:off x="6356119" y="5201216"/>
            <a:ext cx="729983" cy="690832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b="true" sz="36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name="TextBox 23" id="23"/>
          <p:cNvSpPr txBox="true"/>
          <p:nvPr/>
        </p:nvSpPr>
        <p:spPr>
          <a:xfrm rot="0">
            <a:off x="7191481" y="4942922"/>
            <a:ext cx="4235503" cy="1207421"/>
          </a:xfrm>
          <a:prstGeom prst="rect">
            <a:avLst/>
          </a:prstGeom>
          <a:ln/>
        </p:spPr>
        <p:txBody>
          <a:bodyPr anchor="ctr" rtlCol="false" lIns="123825" rIns="57150" tIns="123825" bIns="123825" anchorCtr="false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利用物联网传感器监测风速（超6级自动报警）、平台载荷（超载时切断动力），数据同步至项目管理平台。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eyJfdGVtcGxhdGVEYXRhIjp7ImNvbnRlbnRUeXBlIjoiJGl0ZW04X2MiLCJsaW5lQ291bnQiOiIzIiwid29yZENvdW50IjoiMjAifSwidGFnIjoiJGl0ZW04X2MifQ==</bd:templateData>
          </p:ext>
        </p:extLst>
      </p:sp>
      <p:cxnSp>
        <p:nvCxnSpPr>
          <p:cNvPr name="Connector 24" id="24"/>
          <p:cNvCxnSpPr/>
          <p:nvPr/>
        </p:nvCxnSpPr>
        <p:spPr>
          <a:xfrm>
            <a:off x="6368832" y="4988522"/>
            <a:ext cx="5072287" cy="0"/>
          </a:xfrm>
          <a:prstGeom prst="line">
            <a:avLst/>
          </a:prstGeom>
          <a:ln w="9525">
            <a:solidFill>
              <a:schemeClr val="lt2"/>
            </a:solidFill>
            <a:prstDash val="solid"/>
            <a:headEnd type="none"/>
            <a:tailEnd type="none"/>
          </a:ln>
        </p:spPr>
        <p:style>
          <a:lnRef idx="0">
            <a:schemeClr val="lt2"/>
          </a:lnRef>
          <a:fillRef idx="1">
            <a:schemeClr val="lt2"/>
          </a:fillRef>
          <a:effectRef idx="0">
            <a:schemeClr val="lt2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bkeedo+ajgOafpeacuuWItlxuKyDlu7rnq4vlpJrlsYLnuqfjgIHpq5jpopHmrKHnmoTnq4vkvZPljJbnm5HnrqHkvZPns7vvvIzpgJrov4fmioDmnK/miYvmrrXkuI7kurrlt6Xmo4Dmn6Xnm7jnu5PlkIjnmoTmlrnlvI/vvIznoa7kv53pq5jlpITkvZzkuJrlhajov4fnqIvlj5fmjqfvvIzlj4rml7bmtojpmaTpmpDmgqPjgIJcbiMjIyMg5YiG57qn5beh5p+l5Yi25bqm77yaXG7nj63nu4TnuqfvvJrnj63nu4Tplb/mr4/ml6XlvIDlt6XliY3mo4Dmn6XlronlhajluKbjgIHpmLLlnaDlmajnrYnkuKrkurrpmLLmiqToo4XlpIflrozlpb3mgKfvvIznoa7orqTkvZzkuJrlubPlj7DnqLPlrprmgKfjgIJcbumhueebrue6p++8muWuieWFqOWRmOavj+aXpeW3oeWbnuajgOafpe+8jOmHjeeCueebkeaOp+S6pOWPieS9nOS4mumalOemu+aOquaWveOAgeS4tOi+uemYsuaKpOagj+mrmOW6pu+8iOKJpTEuMuexs++8ieetieWFs+mUrumhueOAglxu5LyB5Lia57qn77ya5q+P5pyI5LiT6aG5552j5p+l77yM6KaG55uW6K6+5aSH5a6a5pyf6K+V6aqM6K6w5b2V44CB5bqU5oCl6aKE5qGI5ryU57uD5pWI5p6c562J566h55CG546v6IqC44CCXG4jIyMjIOaVsOWtl+WMluebkeaOp+W6lOeUqO+8mlxu5Zyo54m557qn6auY5aSE5L2c5Lia5Yy65Z+f6YOo572y5pm66IO95a6J5YWo5bi9K+inhumikeebkeaOp+ezu+e7n++8jOWunuaXtuebkea1i+S6uuWRmOWuieWFqOW4puezu+aMgueKtuaAgeWPiuS9nOS4muihjOS4uuinhOiMg+OAglxu5Yip55So54mp6IGU572R5Lyg5oSf5Zmo55uR5rWL6aOO6YCf77yI6LaFNue6p+iHquWKqOaKpeitpu+8ieOAgeW5s+WPsOi9veiNt++8iOi2hei9veaXtuWIh+aWreWKqOWKm++8ie+8jOaVsOaNruWQjOatpeiHs+mhueebrueuoeeQhuW5s+WPsOOAgiIsInRwbGlkIjoiMTAyMzIyIiwidHBsTmFtZSI6Imxpc3ROb1N1YjhfeWFuZ2UxIiwiZWRpdGVkIjoiZmFsc2UifQ==</bd:templateData>
    </p:ext>
  </p:extLst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alphaModFix amt="100000"/>
          </a:blip>
          <a:srcRect/>
          <a:stretch>
            <a:fillRect b="0" t="0" l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3100008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name="TextBox 3" id="3100009"/>
          <p:cNvSpPr txBox="true"/>
          <p:nvPr/>
        </p:nvSpPr>
        <p:spPr>
          <a:xfrm rot="0">
            <a:off x="2204431" y="2546482"/>
            <a:ext cx="7783830" cy="1224915"/>
          </a:xfrm>
          <a:prstGeom prst="rect">
            <a:avLst/>
          </a:prstGeom>
          <a:noFill/>
          <a:ln/>
        </p:spPr>
        <p:txBody>
          <a:bodyPr anchor="t" rtlCol="false" lIns="91440" rIns="91440" tIns="45720" bIns="45720" anchorCtr="false" vert="horz"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>
                <a:solidFill>
                  <a:srgbClr val="86B2D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汇报完毕，谢谢大家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AutoShape 4" id="4"/>
          <p:cNvSpPr/>
          <p:nvPr/>
        </p:nvSpPr>
        <p:spPr>
          <a:xfrm rot="0">
            <a:off x="349911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5" id="5"/>
          <p:cNvSpPr txBox="true"/>
          <p:nvPr/>
        </p:nvSpPr>
        <p:spPr>
          <a:xfrm rot="0">
            <a:off x="3781835" y="4517204"/>
            <a:ext cx="1837111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汇报人：XXX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eyJfdGVtcGxhdGVEYXRhIjp7ImNvbnRlbnRUeXBlIjoiIn0sInRhZyI6Im5vRWRpdCJ9</bd:templateData>
          </p:ext>
        </p:extLst>
      </p:sp>
      <p:sp>
        <p:nvSpPr>
          <p:cNvPr name="AutoShape 6" id="6"/>
          <p:cNvSpPr/>
          <p:nvPr/>
        </p:nvSpPr>
        <p:spPr>
          <a:xfrm rot="0">
            <a:off x="6375777" y="4466256"/>
            <a:ext cx="2402547" cy="526712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name="TextBox 7" id="7"/>
          <p:cNvSpPr txBox="true"/>
          <p:nvPr/>
        </p:nvSpPr>
        <p:spPr>
          <a:xfrm rot="0">
            <a:off x="6673171" y="4517204"/>
            <a:ext cx="1807758" cy="424815"/>
          </a:xfrm>
          <a:prstGeom prst="rect">
            <a:avLst/>
          </a:prstGeom>
          <a:ln/>
        </p:spPr>
        <p:txBody>
          <a:bodyPr anchor="ctr" rtlCol="false" lIns="91440" rIns="91440" tIns="45720" bIns="45720" anchorCtr="false" vert="horz" wrap="square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2026-08-15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eyJfdGVtcGxhdGVEYXRhIjp7ImNvbnRlbnRUeXBlIjoiJERhdGUiLCJsaW5lQ291bnQiOiIxIiwid29yZENvdW50IjoiNiJ9LCJ0YWciOiJub0VkaXQifQ==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eyJtZCI6IiIsInRwbGlkIjoiMTAyMzIyIiwidHBsTmFtZSI6ImVuZF8xMDIzMjIiLCJlZGl0ZWQiOiJmYWxzZSJ9</bd:templateData>
    </p:ext>
  </p:ext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delay="0" evt="onBegin">
                          <p:tn val="2"/>
                        </p:cond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2" id="11" nodeType="afterEffect" presetClass="entr" presetID="2" presetSubtype="4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310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3" id="15" nodeType="withEffect" presetClass="emph" presetID="26" presetSubtype="0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filter="fade" transition="out">
                                      <p:cBhvr>
                                        <p:cTn dur="500" id="16" tmFilter="0, 0; .2, .5; .8, .5; 1, 0"/>
                                        <p:tgtEl>
                                          <p:spTgt spid="31000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17"/>
                                        <p:tgtEl>
                                          <p:spTgt spid="31000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7525B"/>
      </a:dk2>
      <a:lt2>
        <a:srgbClr val="E6EEF4"/>
      </a:lt2>
      <a:accent1>
        <a:srgbClr val="78A8C9"/>
      </a:accent1>
      <a:accent2>
        <a:srgbClr val="5E90B2"/>
      </a:accent2>
      <a:accent3>
        <a:srgbClr val="5D8FB2"/>
      </a:accent3>
      <a:accent4>
        <a:srgbClr val="437497"/>
      </a:accent4>
      <a:accent5>
        <a:srgbClr val="3D7195"/>
      </a:accent5>
      <a:accent6>
        <a:srgbClr val="234B6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2025-10-20T11:38:53Z</dcterms:created>
  <dc:creator>zhangqishou</dc:creator>
  <cp:lastModifiedBy>zhangqishou</cp:lastModifiedBy>
  <dcterms:modified xsi:type="dcterms:W3CDTF">2025-10-20T12:04:35Z</dcterms:modified>
  <cp:revision>2</cp:revision>
  <dc:title>PowerPoint 演示文稿</dc:title>
</cp:coreProperties>
</file>