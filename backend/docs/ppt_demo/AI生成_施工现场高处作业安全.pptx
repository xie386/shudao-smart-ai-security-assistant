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目录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77724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645920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F3864"/>
                </a:solidFill>
                <a:latin typeface="微软雅黑"/>
              </a:rPr>
              <a:t>目录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606040"/>
            <a:ext cx="777240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060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606040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F3864"/>
                </a:solidFill>
                <a:latin typeface="微软雅黑"/>
              </a:rPr>
              <a:t>第一章 高处作业概述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566160"/>
            <a:ext cx="77724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6616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566160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F3864"/>
                </a:solidFill>
                <a:latin typeface="微软雅黑"/>
              </a:rPr>
              <a:t>第二章 高处作业危险因素与事故类型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526280"/>
            <a:ext cx="777240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2628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526280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F3864"/>
                </a:solidFill>
                <a:latin typeface="微软雅黑"/>
              </a:rPr>
              <a:t>第三章 高处作业安全防护要求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486400"/>
            <a:ext cx="77724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48640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486400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F3864"/>
                </a:solidFill>
                <a:latin typeface="微软雅黑"/>
              </a:rPr>
              <a:t>第四章 高处作业管理与操作规程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6446520"/>
            <a:ext cx="777240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644652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6446520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F3864"/>
                </a:solidFill>
                <a:latin typeface="微软雅黑"/>
              </a:rPr>
              <a:t>第五章 应急处置与事故案例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7406640"/>
            <a:ext cx="77724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74066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7406640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F3864"/>
                </a:solidFill>
                <a:latin typeface="微软雅黑"/>
              </a:rPr>
              <a:t>结语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4023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241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F3864"/>
                </a:solidFill>
                <a:latin typeface="微软雅黑"/>
              </a:rPr>
              <a:t/>
            </a:r>
            <a:r>
              <a:rPr sz="2000">
                <a:solidFill>
                  <a:srgbClr val="1F3864"/>
                </a:solidFill>
                <a:latin typeface="微软雅黑"/>
              </a:rPr>
              <a:t>▸ 第一章 高处作业概述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第二章 高处作业危险因素与事故类型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1F3864"/>
                </a:solidFill>
                <a:latin typeface="微软雅黑"/>
              </a:rPr>
              <a:t>▸ 第三章 高处作业安全防护要求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第四章 高处作业管理与操作规程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1F3864"/>
                </a:solidFill>
                <a:latin typeface="微软雅黑"/>
              </a:rPr>
              <a:t>▸ 第五章 应急处置与事故案例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595959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第一章 高处作业概述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4023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241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F3864"/>
                </a:solidFill>
                <a:latin typeface="微软雅黑"/>
              </a:rPr>
              <a:t/>
            </a:r>
            <a:r>
              <a:rPr sz="2000">
                <a:solidFill>
                  <a:srgbClr val="1F3864"/>
                </a:solidFill>
                <a:latin typeface="微软雅黑"/>
              </a:rPr>
              <a:t>▸ 高处作业的定义与分级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施工现场常见高处作业场景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1F3864"/>
                </a:solidFill>
                <a:latin typeface="微软雅黑"/>
              </a:rPr>
              <a:t>▸ 相关法律法规与标准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高处作业人员基本要求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595959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第二章 高处作业危险因素与事故类型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4023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241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F3864"/>
                </a:solidFill>
                <a:latin typeface="微软雅黑"/>
              </a:rPr>
              <a:t/>
            </a:r>
            <a:r>
              <a:rPr sz="2000">
                <a:solidFill>
                  <a:srgbClr val="1F3864"/>
                </a:solidFill>
                <a:latin typeface="微软雅黑"/>
              </a:rPr>
              <a:t>▸ 高处坠落的主要诱因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物体打击、坍塌等危险因素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1F3864"/>
                </a:solidFill>
                <a:latin typeface="微软雅黑"/>
              </a:rPr>
              <a:t>▸ 不安全行为与不安全状态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典型事故案例分析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595959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第三章 高处作业安全防护要求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4023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241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F3864"/>
                </a:solidFill>
                <a:latin typeface="微软雅黑"/>
              </a:rPr>
              <a:t/>
            </a:r>
            <a:r>
              <a:rPr sz="2000">
                <a:solidFill>
                  <a:srgbClr val="1F3864"/>
                </a:solidFill>
                <a:latin typeface="微软雅黑"/>
              </a:rPr>
              <a:t>▸ 个人防护用品（安全帽、安全带、防滑鞋）的正确使用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临边、洞口、攀登、悬空作业防护措施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1F3864"/>
                </a:solidFill>
                <a:latin typeface="微软雅黑"/>
              </a:rPr>
              <a:t>▸ 安全网、防护栏、脚手架的搭设与验收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安全防护设施的管理与维护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595959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第四章 高处作业管理与操作规程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4023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241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F3864"/>
                </a:solidFill>
                <a:latin typeface="微软雅黑"/>
              </a:rPr>
              <a:t/>
            </a:r>
            <a:r>
              <a:rPr sz="2000">
                <a:solidFill>
                  <a:srgbClr val="1F3864"/>
                </a:solidFill>
                <a:latin typeface="微软雅黑"/>
              </a:rPr>
              <a:t>▸ 作业许可制度与审批流程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安全技术交底与班前会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1F3864"/>
                </a:solidFill>
                <a:latin typeface="微软雅黑"/>
              </a:rPr>
              <a:t>▸ 作业人员资质培训与持证上岗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作业现场监督检查与隐患整改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1F3864"/>
                </a:solidFill>
                <a:latin typeface="微软雅黑"/>
              </a:rPr>
              <a:t>▸ 恶劣天气等特殊环境作业管理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595959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第五章 应急处置与事故案例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4023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241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F3864"/>
                </a:solidFill>
                <a:latin typeface="微软雅黑"/>
              </a:rPr>
              <a:t/>
            </a:r>
            <a:r>
              <a:rPr sz="2000">
                <a:solidFill>
                  <a:srgbClr val="1F3864"/>
                </a:solidFill>
                <a:latin typeface="微软雅黑"/>
              </a:rPr>
              <a:t>▸ 高处坠落紧急救护措施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现场应急组织与报告流程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1F3864"/>
                </a:solidFill>
                <a:latin typeface="微软雅黑"/>
              </a:rPr>
              <a:t>▸ 典型案例剖析与教训总结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应急演练与持续改进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595959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结语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4023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241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F3864"/>
                </a:solidFill>
                <a:latin typeface="微软雅黑"/>
              </a:rPr>
              <a:t/>
            </a:r>
            <a:r>
              <a:rPr sz="2000">
                <a:solidFill>
                  <a:srgbClr val="1F3864"/>
                </a:solidFill>
                <a:latin typeface="微软雅黑"/>
              </a:rPr>
              <a:t>▸ 牢记安全操作规程，杜绝违章作业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落实责任，关爱生命，平安工地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595959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</a:rPr>
              <a:t>高高兴兴上班来，平平安安回家去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566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C9A227"/>
                </a:solidFill>
                <a:latin typeface="微软雅黑"/>
              </a:rPr>
              <a:t>《施工现场高处作业安全》· 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微软雅黑"/>
              </a:rPr>
              <a:t>蜀道集团安全管理部 ｜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